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CRICKETVERSE  /  BLOCKCHAIN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67512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800" b="1">
                <a:solidFill>
                  <a:srgbClr val="F4F8FC"/>
                </a:solidFill>
                <a:latin typeface="Aptos"/>
              </a:defRPr>
            </a:pPr>
            <a:r>
              <a:t>Own the moment.</a:t>
            </a:r>
          </a:p>
          <a:p>
            <a:pPr>
              <a:defRPr sz="3800" b="1">
                <a:solidFill>
                  <a:srgbClr val="F4F8FC"/>
                </a:solidFill>
                <a:latin typeface="Aptos"/>
              </a:defRPr>
            </a:pPr>
            <a:r>
              <a:t>Prove the play.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60350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800" b="0">
                <a:solidFill>
                  <a:srgbClr val="A9BDCE"/>
                </a:solidFill>
                <a:latin typeface="Aptos"/>
              </a:defRPr>
            </a:pPr>
            <a:r>
              <a:t>A hands-on guide to wallets, collectibles, trading, tournaments, fan polls and ticket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1234440" cy="292608"/>
          </a:xfrm>
          <a:prstGeom prst="roundRect">
            <a:avLst/>
          </a:prstGeom>
          <a:solidFill>
            <a:srgbClr val="33D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4201668"/>
            <a:ext cx="1124712" cy="192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900" b="1">
                <a:solidFill>
                  <a:srgbClr val="071A2D"/>
                </a:solidFill>
                <a:latin typeface="Aptos"/>
              </a:defRPr>
            </a:pPr>
            <a:r>
              <a:t>LOCAL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4160520"/>
            <a:ext cx="1554480" cy="292608"/>
          </a:xfrm>
          <a:prstGeom prst="roundRect">
            <a:avLst/>
          </a:prstGeom>
          <a:solidFill>
            <a:srgbClr val="F7C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2264" y="4201668"/>
            <a:ext cx="1444752" cy="192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900" b="1">
                <a:solidFill>
                  <a:srgbClr val="071A2D"/>
                </a:solidFill>
                <a:latin typeface="Aptos"/>
              </a:defRPr>
            </a:pPr>
            <a:r>
              <a:t>EVM · HARDHAT</a:t>
            </a:r>
          </a:p>
        </p:txBody>
      </p:sp>
      <p:pic>
        <p:nvPicPr>
          <p:cNvPr id="10" name="Picture 9" descr="deck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502920"/>
            <a:ext cx="388620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0" y="443484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F4F8FC"/>
                </a:solidFill>
                <a:latin typeface="Aptos"/>
              </a:defRPr>
            </a:pPr>
            <a:r>
              <a:t>Real CricketVerse UI · Auction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179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Classroom prototype  •  chain ID 31337  •  seeded demo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Get ready in three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0312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01  START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45973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Terminal 1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npm run chain:node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6031" y="240487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0351" y="196596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6656" y="210312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02  START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6656" y="245973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Terminal 2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npm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7743" y="240487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2063" y="196596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8367" y="210312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03  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8367" y="245973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Chrome + MetaMask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http://localhost:3000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57600"/>
            <a:ext cx="5349240" cy="201168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4892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F7C55A"/>
                </a:solidFill>
                <a:latin typeface="Aptos"/>
              </a:defRPr>
            </a:pPr>
            <a:r>
              <a:t>WALLET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47548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Open in Chrome with MetaMask. Select CricketVerse Local Hardhat, connect, then click Get 20 demo ETH for gas.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349240" cy="201168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FF7B78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15968"/>
            <a:ext cx="475488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Seeded player wallets start with 10,000 CRIC. Fresh wallets can claim 1,000 CRIC; native ETH pays gas.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One wallet. Contracts do the settling.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MetaMask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EIP-1193 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ethers.js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reads +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LOCAL EVM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Hardhat RPC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chain 31337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CONTRACTS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CRIC · NFTs ·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market · polls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94760"/>
            <a:ext cx="10789920" cy="150876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33D6B0"/>
                </a:solidFill>
                <a:latin typeface="Aptos"/>
              </a:defRPr>
            </a:pPr>
            <a:r>
              <a:t>WHAT “ON-CHAIN” MEANS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101955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Wallet signs a transaction → contract checks rules → EVM updates state → receipt and events can be inspected. The browser is a client; ownership and settlement live in deployed contracts.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1500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Local Hardhat is a classroom chain on this computer. Shared access requires a public testnet deployment and hosted 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Wallet + 1,000 CRIC faucet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6" name="Picture 5" descr="deck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548640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691640"/>
            <a:ext cx="5120640" cy="114300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6634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CLAIM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12848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Connect → check gas → claimFaucet() → 1,000 CRIC minted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063240"/>
            <a:ext cx="5120640" cy="114300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246120"/>
            <a:ext cx="46634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FF7B78"/>
                </a:solidFill>
                <a:latin typeface="Aptos"/>
              </a:defRPr>
            </a:pPr>
            <a:r>
              <a:t>WHY YOUR CLAIM 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84448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Connected wallet had 0 Hardhat ETH. The contract cannot pay gas on your behalf.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434840"/>
            <a:ext cx="5120640" cy="114300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617720"/>
            <a:ext cx="46634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F7C55A"/>
                </a:solidFill>
                <a:latin typeface="Aptos"/>
              </a:defRPr>
            </a:pPr>
            <a:r>
              <a:t>LOCAL DEMO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956048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Click Get 20 demo ETH, then claim 1,000 CRIC in this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45352"/>
            <a:ext cx="10058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0">
                <a:solidFill>
                  <a:srgbClr val="A9BDCE"/>
                </a:solidFill>
                <a:latin typeface="Aptos"/>
              </a:defRPr>
            </a:pPr>
            <a:r>
              <a:t>Screenshot: collectibles UI. The wallet address is intentionally cropped out in this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Collectible cards: mint, own,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6" name="Picture 5" descr="deck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480060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92024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5740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REGISTERED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41401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Catalog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6031" y="235915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0351" y="192024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6656" y="205740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MINT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656" y="241401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PlayerCardNFT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ERC-1155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7743" y="235915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2063" y="192024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8367" y="205740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8367" y="241401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Wallet balance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on-chain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3749039"/>
            <a:ext cx="5760720" cy="16459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3977639"/>
            <a:ext cx="530352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F7C55A"/>
                </a:solidFill>
                <a:latin typeface="Aptos"/>
              </a:defRPr>
            </a:pPr>
            <a:r>
              <a:t>DEMO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370832"/>
            <a:ext cx="52578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Claim CRIC → collect a card → confirm MetaMask → inspect the card balance in My 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Auction Room: fixed-price card + ticket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deck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737360"/>
            <a:ext cx="5074920" cy="10058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01952"/>
            <a:ext cx="4663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SEEDED LIVE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21992"/>
            <a:ext cx="45720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Card · 125 CRIC     Ticket · 90 CRIC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29184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64845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CRIC allowance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6031" y="359359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0351" y="315468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6656" y="329184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BUY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656" y="364845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Marketplace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checks + transfers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7743" y="359359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2063" y="3154680"/>
            <a:ext cx="3480816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7" y="3291840"/>
            <a:ext cx="3188208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RECEIPT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7" y="3648456"/>
            <a:ext cx="3188208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Ownership +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settlement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6636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0">
                <a:solidFill>
                  <a:srgbClr val="A9BDCE"/>
                </a:solidFill>
                <a:latin typeface="Aptos"/>
              </a:defRPr>
            </a:pPr>
            <a:r>
              <a:t>Buy from a wallet other than the seller. These are fixed-price listings, not timed bidding auctions.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Ticketing: collectible proof, controlled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MatchTicketNFT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ERC-721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Holder signs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entry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Gatekeeper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verifies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REDEEM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Contract marks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used 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40480"/>
            <a:ext cx="6400800" cy="14630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5943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CONTRACT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2"/>
            <a:ext cx="58521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Correct ticket owner · authorized gatekeeper · fixture time window · not previously redeemed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840480"/>
            <a:ext cx="4069080" cy="14630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4069080"/>
            <a:ext cx="3657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F7C55A"/>
                </a:solidFill>
                <a:latin typeface="Aptos"/>
              </a:defRPr>
            </a:pPr>
            <a:r>
              <a:t>DEMO 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62272"/>
            <a:ext cx="36576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0">
                <a:solidFill>
                  <a:srgbClr val="F4F8FC"/>
                </a:solidFill>
                <a:latin typeface="Aptos"/>
              </a:defRPr>
            </a:pPr>
            <a:r>
              <a:t>Use a wallet with GATEKEEPER_ROLE for scan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Tournament: entry escrow → organizer settlement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BUILD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Squad committed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as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50 CRIC entry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into 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Organizer closes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SETTLE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PrizePaid events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to winners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40480"/>
            <a:ext cx="6583680" cy="14630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6126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SEEDED PAST SETTLEMENT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2"/>
            <a:ext cx="594360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100 CRIC pooled → 5% fee → 66.5 + 28.5 CRIC prizes (two PrizePaid events)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840480"/>
            <a:ext cx="3886200" cy="14630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069080"/>
            <a:ext cx="3474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FF7B78"/>
                </a:solidFill>
                <a:latin typeface="Aptos"/>
              </a:defRPr>
            </a:pPr>
            <a:r>
              <a:t>TRUTH IN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462272"/>
            <a:ext cx="34747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300" b="0">
                <a:solidFill>
                  <a:srgbClr val="F4F8FC"/>
                </a:solidFill>
                <a:latin typeface="Aptos"/>
              </a:defRPr>
            </a:pPr>
            <a:r>
              <a:t>Organizer inputs winners; no live score oracle calculates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Fan polls: one wallet, one recorded vote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29200" cy="3474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33D6B0"/>
                </a:solidFill>
                <a:latin typeface="Aptos"/>
              </a:defRPr>
            </a:pPr>
            <a:r>
              <a:t>ON-CHAIN VOTE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48056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800" b="1">
                <a:solidFill>
                  <a:srgbClr val="F4F8FC"/>
                </a:solidFill>
                <a:latin typeface="Aptos"/>
              </a:defRPr>
            </a:pPr>
            <a:r>
              <a:t>Choose an option</a:t>
            </a:r>
          </a:p>
          <a:p>
            <a:pPr>
              <a:defRPr sz="1800" b="1">
                <a:solidFill>
                  <a:srgbClr val="F4F8FC"/>
                </a:solidFill>
                <a:latin typeface="Aptos"/>
              </a:defRPr>
            </a:pPr>
            <a:r>
              <a:t>↓</a:t>
            </a:r>
          </a:p>
          <a:p>
            <a:pPr>
              <a:defRPr sz="1800" b="1">
                <a:solidFill>
                  <a:srgbClr val="F4F8FC"/>
                </a:solidFill>
                <a:latin typeface="Aptos"/>
              </a:defRPr>
            </a:pPr>
            <a:r>
              <a:t>Sign vote transaction</a:t>
            </a:r>
          </a:p>
          <a:p>
            <a:pPr>
              <a:defRPr sz="1800" b="1">
                <a:solidFill>
                  <a:srgbClr val="F4F8FC"/>
                </a:solidFill>
                <a:latin typeface="Aptos"/>
              </a:defRPr>
            </a:pPr>
            <a:r>
              <a:t>↓</a:t>
            </a:r>
          </a:p>
          <a:p>
            <a:pPr>
              <a:defRPr sz="1800" b="1">
                <a:solidFill>
                  <a:srgbClr val="F4F8FC"/>
                </a:solidFill>
                <a:latin typeface="Aptos"/>
              </a:defRPr>
            </a:pPr>
            <a:r>
              <a:t>FanPolls records voter + option</a:t>
            </a:r>
          </a:p>
          <a:p>
            <a:pPr>
              <a:defRPr sz="1800" b="1">
                <a:solidFill>
                  <a:srgbClr val="F4F8FC"/>
                </a:solidFill>
                <a:latin typeface="Aptos"/>
              </a:defRPr>
            </a:pPr>
            <a:r>
              <a:t>↓</a:t>
            </a:r>
          </a:p>
          <a:p>
            <a:pPr>
              <a:defRPr sz="1800" b="1">
                <a:solidFill>
                  <a:srgbClr val="F4F8FC"/>
                </a:solidFill>
                <a:latin typeface="Aptos"/>
              </a:defRPr>
            </a:pPr>
            <a:r>
              <a:t>Vote count increments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83080"/>
            <a:ext cx="5303520" cy="14173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93392"/>
            <a:ext cx="4800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F7C55A"/>
                </a:solidFill>
                <a:latin typeface="Aptos"/>
              </a:defRPr>
            </a:pPr>
            <a:r>
              <a:t>SEEDED POLLS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59152"/>
            <a:ext cx="47548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Match winner · wicket range</a:t>
            </a:r>
          </a:p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Open; vote counts start at zero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520440"/>
            <a:ext cx="5303520" cy="173736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730752"/>
            <a:ext cx="48006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096512"/>
            <a:ext cx="47548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One address can vote once per poll. A vote is not a CRIC reward, and seeded poll questions are classroom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The experience: collectible shelf + trading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deck-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5257800" cy="4343400"/>
          </a:xfrm>
          <a:prstGeom prst="rect">
            <a:avLst/>
          </a:prstGeom>
        </p:spPr>
      </p:pic>
      <p:pic>
        <p:nvPicPr>
          <p:cNvPr id="7" name="Picture 6" descr="deck-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25780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44768"/>
            <a:ext cx="4937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0">
                <a:solidFill>
                  <a:srgbClr val="A9BDCE"/>
                </a:solidFill>
                <a:latin typeface="Aptos"/>
              </a:defRPr>
            </a:pPr>
            <a:r>
              <a:t>MY COLLECTION · screenshot captured with an empty personal wallet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6144768"/>
            <a:ext cx="4937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0">
                <a:solidFill>
                  <a:srgbClr val="A9BDCE"/>
                </a:solidFill>
                <a:latin typeface="Aptos"/>
              </a:defRPr>
            </a:pPr>
            <a:r>
              <a:t>AUCTION ROOM · seeded listings visible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How to prove a feature really used the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1 ·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Confirm account +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chain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8104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2 · TX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Open transaction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in local explorer /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3 ·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Find event emitted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by expected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1828800"/>
            <a:ext cx="2532888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965960"/>
            <a:ext cx="22402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4 ·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322576"/>
            <a:ext cx="22402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Read balance,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owner or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40480"/>
            <a:ext cx="10789920" cy="14173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59936"/>
            <a:ext cx="102412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GOOD DEMO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34840"/>
            <a:ext cx="101498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Show MetaMask confirmation, the mined receipt, emitted event, and resulting state. For ticket scan and polls, use a fresh test wallet so the one-time rule is visible.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What is live, seeded, or still a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0058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01368"/>
            <a:ext cx="32461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900" b="1">
                <a:solidFill>
                  <a:srgbClr val="33D6B0"/>
                </a:solidFill>
                <a:latin typeface="Aptos"/>
              </a:defRPr>
            </a:pPr>
            <a:r>
              <a:t>LIVE CONTRACT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84832"/>
            <a:ext cx="324612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Token · cards · tickets</a:t>
            </a:r>
          </a:p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market · pools · polls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10058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801368"/>
            <a:ext cx="32461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900" b="1">
                <a:solidFill>
                  <a:srgbClr val="F7C55A"/>
                </a:solidFill>
                <a:latin typeface="Aptos"/>
              </a:defRPr>
            </a:pPr>
            <a:r>
              <a:t>SEEDED CHAIN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084832"/>
            <a:ext cx="324612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Listings · fixtures · polls</a:t>
            </a:r>
          </a:p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three contest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520440" cy="10058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801368"/>
            <a:ext cx="32461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900" b="1">
                <a:solidFill>
                  <a:srgbClr val="FF7B78"/>
                </a:solidFill>
                <a:latin typeface="Aptos"/>
              </a:defRPr>
            </a:pPr>
            <a:r>
              <a:t>NOT LIVE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084832"/>
            <a:ext cx="324612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Player catalog · fantasy</a:t>
            </a:r>
          </a:p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points · cricket oracle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10789920" cy="182880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F7C55A"/>
                </a:solidFill>
                <a:latin typeface="Aptos"/>
              </a:defRPr>
            </a:pPr>
            <a:r>
              <a:t>CLASSROOM LIMITS TO SAY OUT 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100584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F4F8FC"/>
                </a:solidFill>
                <a:latin typeface="Aptos"/>
              </a:defRPr>
            </a:pPr>
            <a:r>
              <a:t>Local chain only · no public deployment · no live scores/oracle · organizer chooses winners · auction is fixed price · UI screenshots show seeded interface, not proof that every user action was executed during capture.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The code and tests verify contract behavior; the presentation should distinguish reproducible actions from seeded example 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000" b="1">
                <a:solidFill>
                  <a:srgbClr val="33D6B0"/>
                </a:solidFill>
                <a:latin typeface="Aptos"/>
              </a:defRPr>
            </a:pPr>
            <a:r>
              <a:t>CRICKETVERSE  /  DEMO FIELD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F4F8FC"/>
                </a:solidFill>
                <a:latin typeface="Aptos"/>
              </a:defRPr>
            </a:pPr>
            <a:r>
              <a:t>Suggested 6-minute live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07592"/>
            <a:ext cx="11155680" cy="16459"/>
          </a:xfrm>
          <a:prstGeom prst="rect">
            <a:avLst/>
          </a:prstGeom>
          <a:solidFill>
            <a:srgbClr val="15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943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1000" b="1">
                <a:solidFill>
                  <a:srgbClr val="A9BDC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584959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65960"/>
            <a:ext cx="129235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22576"/>
            <a:ext cx="1292351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Connect MetaMask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wallet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0175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4496" y="1828800"/>
            <a:ext cx="1584959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800" y="1965960"/>
            <a:ext cx="129235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0800" y="2322576"/>
            <a:ext cx="1292351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Get local ETH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for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6031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0351" y="1828800"/>
            <a:ext cx="1584959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6656" y="1965960"/>
            <a:ext cx="129235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1:00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656" y="2322576"/>
            <a:ext cx="1292351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Claim CRIC +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collect a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1828800"/>
            <a:ext cx="1584959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965960"/>
            <a:ext cx="129235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2:00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322576"/>
            <a:ext cx="1292351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Buy seeded card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from another 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7743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2063" y="1828800"/>
            <a:ext cx="1584959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8367" y="1965960"/>
            <a:ext cx="129235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3:30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8367" y="2322576"/>
            <a:ext cx="1292351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Join contest +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show settlement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3599" y="2267712"/>
            <a:ext cx="23774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2000" b="1">
                <a:solidFill>
                  <a:srgbClr val="F7C55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7919" y="1828800"/>
            <a:ext cx="1584959" cy="118872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4223" y="1965960"/>
            <a:ext cx="1292351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33D6B0"/>
                </a:solidFill>
                <a:latin typeface="Aptos"/>
              </a:defRPr>
            </a:pPr>
            <a:r>
              <a:t>5:00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4223" y="2322576"/>
            <a:ext cx="1292351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Vote + scan</a:t>
            </a:r>
          </a:p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with gatekeeper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886200"/>
            <a:ext cx="10789920" cy="1234440"/>
          </a:xfrm>
          <a:prstGeom prst="roundRect">
            <a:avLst/>
          </a:prstGeom>
          <a:solidFill>
            <a:srgbClr val="10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14800"/>
            <a:ext cx="102412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33D6B0"/>
                </a:solidFill>
                <a:latin typeface="Aptos"/>
              </a:defRPr>
            </a:pPr>
            <a:r>
              <a:t>BEFORE YOU PRESENT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9884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For each wallet: connect → Get 20 demo ETH → claim 1,000 CRIC. Seeded player wallets start at 10,000 CRIC.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2356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0">
                <a:solidFill>
                  <a:srgbClr val="A9BDCE"/>
                </a:solidFill>
                <a:latin typeface="Aptos"/>
              </a:defRPr>
            </a:pPr>
            <a:r>
              <a:t>Polls record votes but pay no CRIC. Card/ticket buys spend CRIC; tournament rewards require organizer settlement.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