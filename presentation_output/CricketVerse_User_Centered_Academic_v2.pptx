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9080dcb22a4280" /><Relationship Type="http://schemas.openxmlformats.org/officeDocument/2006/relationships/extended-properties" Target="/docProps/app.xml" Id="R9f8a0fa177894138" /><Relationship Type="http://schemas.openxmlformats.org/officeDocument/2006/relationships/officeDocument" Target="/ppt/presentation.xml" Id="R7f67bc402fd84283" /></Relationships>
</file>

<file path=ppt/presentation.xml><?xml version="1.0" encoding="utf-8"?>
<p:presentation xmlns:p="http://schemas.openxmlformats.org/presentationml/2006/main">
  <p:sldMasterIdLst>
    <p:sldMasterId xmlns:r="http://schemas.openxmlformats.org/officeDocument/2006/relationships" id="2147483648" r:id="R44b688611484493a"/>
  </p:sldMasterIdLst>
  <p:notesMasterIdLst>
    <p:notesMasterId xmlns:r="http://schemas.openxmlformats.org/officeDocument/2006/relationships" r:id="R724dc7217b2a4a39"/>
  </p:notesMasterIdLst>
  <p:sldIdLst>
    <p:sldId xmlns:r="http://schemas.openxmlformats.org/officeDocument/2006/relationships" id="256" r:id="R740757a1156d4b04"/>
    <p:sldId xmlns:r="http://schemas.openxmlformats.org/officeDocument/2006/relationships" id="257" r:id="Rd298e1c14de34702"/>
    <p:sldId xmlns:r="http://schemas.openxmlformats.org/officeDocument/2006/relationships" id="258" r:id="R9a0457716fcc45a1"/>
    <p:sldId xmlns:r="http://schemas.openxmlformats.org/officeDocument/2006/relationships" id="259" r:id="R5f47920fed1e4221"/>
    <p:sldId xmlns:r="http://schemas.openxmlformats.org/officeDocument/2006/relationships" id="260" r:id="R3a7d0640e6a1473c"/>
    <p:sldId xmlns:r="http://schemas.openxmlformats.org/officeDocument/2006/relationships" id="261" r:id="R30f4d6fde1b44e51"/>
    <p:sldId xmlns:r="http://schemas.openxmlformats.org/officeDocument/2006/relationships" id="262" r:id="Rcdc90d1fd33e4e40"/>
    <p:sldId xmlns:r="http://schemas.openxmlformats.org/officeDocument/2006/relationships" id="263" r:id="R316cb35db19344fa"/>
    <p:sldId xmlns:r="http://schemas.openxmlformats.org/officeDocument/2006/relationships" id="264" r:id="R6850a253736b4b3c"/>
    <p:sldId xmlns:r="http://schemas.openxmlformats.org/officeDocument/2006/relationships" id="265" r:id="R1f2f3dda144a4b28"/>
    <p:sldId xmlns:r="http://schemas.openxmlformats.org/officeDocument/2006/relationships" id="266" r:id="Rc37224c6d0ba4a09"/>
    <p:sldId xmlns:r="http://schemas.openxmlformats.org/officeDocument/2006/relationships" id="267" r:id="R6a6403106b0e4d53"/>
    <p:sldId xmlns:r="http://schemas.openxmlformats.org/officeDocument/2006/relationships" id="268" r:id="Rcceaaaff9cb04f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afd13dd72648e6" /><Relationship Type="http://schemas.openxmlformats.org/officeDocument/2006/relationships/slideMaster" Target="/ppt/slideMasters/slideMaster1.xml" Id="R44b688611484493a" /><Relationship Type="http://schemas.openxmlformats.org/officeDocument/2006/relationships/notesMaster" Target="/ppt/notesMasters/notesMaster1.xml" Id="R724dc7217b2a4a39" /><Relationship Type="http://schemas.openxmlformats.org/officeDocument/2006/relationships/presProps" Target="/ppt/presProps.xml" Id="R2a69a229d09640d4" /><Relationship Type="http://schemas.openxmlformats.org/officeDocument/2006/relationships/tableStyles" Target="/ppt/tableStyles.xml" Id="Re64cf23454da47c9" /><Relationship Type="http://schemas.openxmlformats.org/officeDocument/2006/relationships/slide" Target="/ppt/slides/slide1.xml" Id="R740757a1156d4b04" /><Relationship Type="http://schemas.openxmlformats.org/officeDocument/2006/relationships/slide" Target="/ppt/slides/slide2.xml" Id="Rd298e1c14de34702" /><Relationship Type="http://schemas.openxmlformats.org/officeDocument/2006/relationships/slide" Target="/ppt/slides/slide3.xml" Id="R9a0457716fcc45a1" /><Relationship Type="http://schemas.openxmlformats.org/officeDocument/2006/relationships/slide" Target="/ppt/slides/slide4.xml" Id="R5f47920fed1e4221" /><Relationship Type="http://schemas.openxmlformats.org/officeDocument/2006/relationships/slide" Target="/ppt/slides/slide5.xml" Id="R3a7d0640e6a1473c" /><Relationship Type="http://schemas.openxmlformats.org/officeDocument/2006/relationships/slide" Target="/ppt/slides/slide6.xml" Id="R30f4d6fde1b44e51" /><Relationship Type="http://schemas.openxmlformats.org/officeDocument/2006/relationships/slide" Target="/ppt/slides/slide7.xml" Id="Rcdc90d1fd33e4e40" /><Relationship Type="http://schemas.openxmlformats.org/officeDocument/2006/relationships/slide" Target="/ppt/slides/slide8.xml" Id="R316cb35db19344fa" /><Relationship Type="http://schemas.openxmlformats.org/officeDocument/2006/relationships/slide" Target="/ppt/slides/slide9.xml" Id="R6850a253736b4b3c" /><Relationship Type="http://schemas.openxmlformats.org/officeDocument/2006/relationships/slide" Target="/ppt/slides/slide10.xml" Id="R1f2f3dda144a4b28" /><Relationship Type="http://schemas.openxmlformats.org/officeDocument/2006/relationships/slide" Target="/ppt/slides/slide11.xml" Id="Rc37224c6d0ba4a09" /><Relationship Type="http://schemas.openxmlformats.org/officeDocument/2006/relationships/slide" Target="/ppt/slides/slide12.xml" Id="R6a6403106b0e4d53" /><Relationship Type="http://schemas.openxmlformats.org/officeDocument/2006/relationships/slide" Target="/ppt/slides/slide13.xml" Id="Rcceaaaff9cb04f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f37788fddf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dc309ae5694114" /><Relationship Type="http://schemas.openxmlformats.org/officeDocument/2006/relationships/notesMaster" Target="/ppt/notesMasters/notesMaster1.xml" Id="Rd3f498b2f74649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b8e85e351b44f1" /><Relationship Type="http://schemas.openxmlformats.org/officeDocument/2006/relationships/notesMaster" Target="/ppt/notesMasters/notesMaster1.xml" Id="Ra044536e821340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29a423d2474b64" /><Relationship Type="http://schemas.openxmlformats.org/officeDocument/2006/relationships/notesMaster" Target="/ppt/notesMasters/notesMaster1.xml" Id="R85c9587f400b4e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33ab8bdf7c485d" /><Relationship Type="http://schemas.openxmlformats.org/officeDocument/2006/relationships/notesMaster" Target="/ppt/notesMasters/notesMaster1.xml" Id="Ra3da5e7d5dfa45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3c9ed7bdac4df3" /><Relationship Type="http://schemas.openxmlformats.org/officeDocument/2006/relationships/notesMaster" Target="/ppt/notesMasters/notesMaster1.xml" Id="Re408c1a24d244a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90eb367ca4cc9" /><Relationship Type="http://schemas.openxmlformats.org/officeDocument/2006/relationships/notesMaster" Target="/ppt/notesMasters/notesMaster1.xml" Id="Rc18cba2fc39f40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17c1ff3b3844e2" /><Relationship Type="http://schemas.openxmlformats.org/officeDocument/2006/relationships/notesMaster" Target="/ppt/notesMasters/notesMaster1.xml" Id="Rc9caade600f64a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263207c8d04d1c" /><Relationship Type="http://schemas.openxmlformats.org/officeDocument/2006/relationships/notesMaster" Target="/ppt/notesMasters/notesMaster1.xml" Id="R92ab9ecd0ee948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2a6293b5b34693" /><Relationship Type="http://schemas.openxmlformats.org/officeDocument/2006/relationships/notesMaster" Target="/ppt/notesMasters/notesMaster1.xml" Id="R0ec2654680d042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a7b83dbc0c4c47" /><Relationship Type="http://schemas.openxmlformats.org/officeDocument/2006/relationships/notesMaster" Target="/ppt/notesMasters/notesMaster1.xml" Id="R4f0657b43c2d41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8298bb362f463f" /><Relationship Type="http://schemas.openxmlformats.org/officeDocument/2006/relationships/notesMaster" Target="/ppt/notesMasters/notesMaster1.xml" Id="R9c67fa10b1ad43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d1f79842f149d9" /><Relationship Type="http://schemas.openxmlformats.org/officeDocument/2006/relationships/notesMaster" Target="/ppt/notesMasters/notesMaster1.xml" Id="R3f525705a81649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c2ce73dac0465c" /><Relationship Type="http://schemas.openxmlformats.org/officeDocument/2006/relationships/notesMaster" Target="/ppt/notesMasters/notesMaster1.xml" Id="Rf2e5fecd85f345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fan experience. CricketVerse is a capstone prototype that brings matchday fantasy, collectibles, polls, ticketing and contest participation into one product. Cover image is AI-generated for this presentation and is illustrative, not a photograph of a specific real 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project motivation and design framing, not a claim that every existing cricket platform has the same shortcomings. Source basis: supplied CricketVerse project proposal and user-provided presentation 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an engineering and design contribution. No user study or measured impact is claimed in the current materials. Source basis: project proposal, app and server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is a user-facing summary of the features in the current app. Match and points availability depends on the cricket provider connection; purchases and other contract actions require a connected wallet. Source: public/app.js, server/server.js,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the provider playing XI as the available pool, validates an 11-player squad with role and credit constraints, and fetches match points from the API. Squad integrity is committed as a hash. Points are not currently validated by an on-chain oracle. Source: server/server.js, server/scoringEngine.js, public/app.js,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trust boundary precisely. The code has cricket API endpoints and contracts for assets and financial rules. Current deployment defaults to local Hardhat. The CricketOracleConsumer is not connected to a live Chainlink Functions subscription, and contest winners are selected by the organizer. Source: server/server.js, contracts/CricketOracleConsumer.sol,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CRIC contract gives test tokens through a wallet-signed faucet transaction. ERC-1155 cards and ERC-721 tickets are controlled by contracts. The marketplace escrows assets; tournament entries and refunds are on-chain, but the organizer settles winners. Source: contracts/CRIC.sol, PlayerCardNFT.sol, MatchTicketNFT.sol, CricketMarketplace.sol, TournamentPool.sol, FanPolls.sol,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summarises the implemented frontend/API/blockchain split. API endpoints rely on a provider key and network access. Browser wallet signs transactions, while contracts currently run on a local Hardhat network; other users cannot transact against this deployment from another computer. Source: public/app.js, public/chain.js, server/server.js, BLOCKCHAIN_SETUP.md.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evaluation criteria, not measured outcomes. A future evaluation should test the fan journey with representative users, verify contract rules with automated tests, and report API failure and recovery behavior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prototype status. Current contracts-config.json targets Local Hardhat. BLOCKCHAIN_SETUP.md states that no public Amoy deployment or live Chainlink Functions subscription is configured, and tournament winners are organizer-selected. Provider routes exist but successful live data still depends on a configured key and provider availability. Source: BLOCKCHAIN_SETUP.md, server/server.js, public/contracts-config.json.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evaluation plan is a recommendation, not a description of completed user research. It separates usability, contract correctness and API reliability so one passing component does not imply the whole system is reliable.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main contribution and its boundary: the prototype combines a live-data experience with wallet-owned assets and contract-enforced rules, while fully trusted automated scoring remains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claims about implementation status and behavior are based on the project files listed on this slide. The supplied decks are treated as source material, not as instructions. No external industry statistics or user-study results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a475d5a07d43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667c1b4cd547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2527a0c4d84cf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cf6dbe679d4b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544a63c1a6a46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89adc3d90243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6CDAD5-98EF-4BDB-8B63-AEA9606907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F840F5-ACD7-4E1A-AEA5-D2596359F57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95FBCE-6C11-43F6-9EFF-6925C684B1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32A499-B93E-4B1E-8506-1067A968FB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2DD8B1-9EC5-45EF-9699-BAFF5D5108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6B543A-B3C5-4C85-9388-0519F687E2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1BEEFE-37E7-4889-A1A2-2A1A06B0AD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8D5318B-1A13-49CC-8F72-0E4D3B21BE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FCA8B5-B80F-4C3C-AC2B-013CC808E8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B3430C-D0DA-4BAC-8144-9CC2BE5D39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9a01b738e84eda" /><Relationship Type="http://schemas.openxmlformats.org/officeDocument/2006/relationships/slideLayout" Target="/ppt/slideLayouts/slideLayout1.xml" Id="R6146a6eafd3c46c1" /><Relationship Type="http://schemas.openxmlformats.org/officeDocument/2006/relationships/slideLayout" Target="/ppt/slideLayouts/slideLayout2.xml" Id="R265cafc1ad944cfb" /><Relationship Type="http://schemas.openxmlformats.org/officeDocument/2006/relationships/slideLayout" Target="/ppt/slideLayouts/slideLayout3.xml" Id="R6f39d111b4034dcf" /><Relationship Type="http://schemas.openxmlformats.org/officeDocument/2006/relationships/slideLayout" Target="/ppt/slideLayouts/slideLayout4.xml" Id="R8346e36f19324f2d" /><Relationship Type="http://schemas.openxmlformats.org/officeDocument/2006/relationships/slideLayout" Target="/ppt/slideLayouts/slideLayout5.xml" Id="Re54b021eca584807" /><Relationship Type="http://schemas.openxmlformats.org/officeDocument/2006/relationships/slideLayout" Target="/ppt/slideLayouts/slideLayout6.xml" Id="R844276f4483843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6a6eafd3c46c1"/>
    <p:sldLayoutId xmlns:r="http://schemas.openxmlformats.org/officeDocument/2006/relationships" id="2147483650" r:id="R265cafc1ad944cfb"/>
    <p:sldLayoutId xmlns:r="http://schemas.openxmlformats.org/officeDocument/2006/relationships" id="2147483651" r:id="R6f39d111b4034dcf"/>
    <p:sldLayoutId xmlns:r="http://schemas.openxmlformats.org/officeDocument/2006/relationships" id="2147483652" r:id="R8346e36f19324f2d"/>
    <p:sldLayoutId xmlns:r="http://schemas.openxmlformats.org/officeDocument/2006/relationships" id="2147483653" r:id="Re54b021eca584807"/>
    <p:sldLayoutId xmlns:r="http://schemas.openxmlformats.org/officeDocument/2006/relationships" id="2147483654" r:id="R844276f4483843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8003400748c4377" /><Relationship Type="http://schemas.openxmlformats.org/officeDocument/2006/relationships/image" Target="/ppt/media/image.png" Id="Rf142c6fd32974bfa" /><Relationship Type="http://schemas.openxmlformats.org/officeDocument/2006/relationships/notesSlide" Target="/ppt/notesSlides/notesSlide1.xml" Id="R8b0948ed88cd45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ebae06685447da" /><Relationship Type="http://schemas.openxmlformats.org/officeDocument/2006/relationships/notesSlide" Target="/ppt/notesSlides/notesSlide2.xml" Id="R9f79fc3d715f4e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ea51fa4a4e472e" /><Relationship Type="http://schemas.openxmlformats.org/officeDocument/2006/relationships/notesSlide" Target="/ppt/notesSlides/notesSlide3.xml" Id="R1b77083254d24f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446a13e2f349d5" /><Relationship Type="http://schemas.openxmlformats.org/officeDocument/2006/relationships/notesSlide" Target="/ppt/notesSlides/notesSlide4.xml" Id="R57e0fbbf10e144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fe9ad2c8d14594" /><Relationship Type="http://schemas.openxmlformats.org/officeDocument/2006/relationships/notesSlide" Target="/ppt/notesSlides/notesSlide5.xml" Id="Re2527c3b77c447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5436f939ed24d48" /><Relationship Type="http://schemas.openxmlformats.org/officeDocument/2006/relationships/notesSlide" Target="/ppt/notesSlides/notesSlide6.xml" Id="R4a1b1f779c8142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9ffc23e90c34e9e" /><Relationship Type="http://schemas.openxmlformats.org/officeDocument/2006/relationships/notesSlide" Target="/ppt/notesSlides/notesSlide7.xml" Id="Ra81440d71f494c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ae4ab028e84011" /><Relationship Type="http://schemas.openxmlformats.org/officeDocument/2006/relationships/notesSlide" Target="/ppt/notesSlides/notesSlide8.xml" Id="Rbec540ffcd014d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5d5c8f9b77b4f6e" /><Relationship Type="http://schemas.openxmlformats.org/officeDocument/2006/relationships/notesSlide" Target="/ppt/notesSlides/notesSlide9.xml" Id="R37d982da56a946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7b5d6f0a9bc4f18" /><Relationship Type="http://schemas.openxmlformats.org/officeDocument/2006/relationships/notesSlide" Target="/ppt/notesSlides/notesSlide10.xml" Id="R15204ccabb1b47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d183a02c884b25" /><Relationship Type="http://schemas.openxmlformats.org/officeDocument/2006/relationships/notesSlide" Target="/ppt/notesSlides/notesSlide11.xml" Id="R7f0a677af9e84d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5f23d4dc4284717" /><Relationship Type="http://schemas.openxmlformats.org/officeDocument/2006/relationships/notesSlide" Target="/ppt/notesSlides/notesSlide12.xml" Id="R6c1c64f4f52f40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1229890cb37498e" /><Relationship Type="http://schemas.openxmlformats.org/officeDocument/2006/relationships/notesSlide" Target="/ppt/notesSlides/notesSlide13.xml" Id="Rf31a00704c7d4f75" /></Relationships>
</file>

<file path=ppt/slides/slide1.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3AFC501-DDFD-4E90-B818-03139598A9C5}"/>
              </a:ext>
            </a:extLst>
          </p:cNvPr>
          <p:cNvPicPr>
            <a:picLocks xmlns:a="http://schemas.openxmlformats.org/drawingml/2006/main" noChangeAspect="1"/>
          </p:cNvPicPr>
          <p:nvPr/>
        </p:nvPicPr>
        <p:blipFill>
          <a:blip xmlns:r="http://schemas.openxmlformats.org/officeDocument/2006/relationships" xmlns:a="http://schemas.openxmlformats.org/drawingml/2006/main" r:embed="Rf142c6fd32974b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0F7F6C-BBC6-4EFE-83E8-8FB8969EF588}"/>
              </a:ext>
            </a:extLst>
          </p:cNvPr>
          <p:cNvSpPr>
            <a:spLocks xmlns:a="http://schemas.openxmlformats.org/drawingml/2006/main" noGrp="1"/>
          </p:cNvSpPr>
          <p:nvPr/>
        </p:nvSpPr>
        <p:spPr>
          <a:xfrm xmlns:a="http://schemas.openxmlformats.org/drawingml/2006/main">
            <a:off x="590550" y="685800"/>
            <a:ext cx="66675" cy="5448300"/>
          </a:xfrm>
          <a:prstGeom xmlns:a="http://schemas.openxmlformats.org/drawingml/2006/main" prst="rect">
            <a:avLst/>
          </a:prstGeom>
          <a:solidFill xmlns:a="http://schemas.openxmlformats.org/drawingml/2006/main">
            <a:srgbClr val="E7B94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041244-6788-4A5B-9396-AD42A9F827C9}"/>
              </a:ext>
            </a:extLst>
          </p:cNvPr>
          <p:cNvSpPr>
            <a:spLocks xmlns:a="http://schemas.openxmlformats.org/drawingml/2006/main" noGrp="1"/>
          </p:cNvSpPr>
          <p:nvPr/>
        </p:nvSpPr>
        <p:spPr>
          <a:xfrm xmlns:a="http://schemas.openxmlformats.org/drawingml/2006/main">
            <a:off x="895350" y="904875"/>
            <a:ext cx="561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E7B942"/>
                </a:solidFill>
                <a:latin typeface="Avenir Next"/>
                <a:ea typeface="Avenir Next"/>
                <a:cs typeface="Avenir Next"/>
              </a:defRPr>
            </a:defPPr>
            <a:lvl1pPr algn="l">
              <a:defRPr sz="1275" b="1">
                <a:solidFill>
                  <a:srgbClr val="E7B942"/>
                </a:solidFill>
                <a:latin typeface="Avenir Next"/>
                <a:ea typeface="Avenir Next"/>
                <a:cs typeface="Avenir Next"/>
              </a:defRPr>
            </a:lvl1pPr>
            <a:lvl2pPr algn="l">
              <a:defRPr sz="1275" b="1">
                <a:solidFill>
                  <a:srgbClr val="E7B942"/>
                </a:solidFill>
                <a:latin typeface="Avenir Next"/>
                <a:ea typeface="Avenir Next"/>
                <a:cs typeface="Avenir Next"/>
              </a:defRPr>
            </a:lvl2pPr>
            <a:lvl3pPr algn="l">
              <a:defRPr sz="1275" b="1">
                <a:solidFill>
                  <a:srgbClr val="E7B942"/>
                </a:solidFill>
                <a:latin typeface="Avenir Next"/>
                <a:ea typeface="Avenir Next"/>
                <a:cs typeface="Avenir Next"/>
              </a:defRPr>
            </a:lvl3pPr>
            <a:lvl4pPr algn="l">
              <a:defRPr sz="1275" b="1">
                <a:solidFill>
                  <a:srgbClr val="E7B942"/>
                </a:solidFill>
                <a:latin typeface="Avenir Next"/>
                <a:ea typeface="Avenir Next"/>
                <a:cs typeface="Avenir Next"/>
              </a:defRPr>
            </a:lvl4pPr>
            <a:lvl5pPr algn="l">
              <a:defRPr sz="1275" b="1">
                <a:solidFill>
                  <a:srgbClr val="E7B942"/>
                </a:solidFill>
                <a:latin typeface="Avenir Next"/>
                <a:ea typeface="Avenir Next"/>
                <a:cs typeface="Avenir Next"/>
              </a:defRPr>
            </a:lvl5pPr>
            <a:lvl6pPr algn="l">
              <a:defRPr sz="1275" b="1">
                <a:solidFill>
                  <a:srgbClr val="E7B942"/>
                </a:solidFill>
                <a:latin typeface="Avenir Next"/>
                <a:ea typeface="Avenir Next"/>
                <a:cs typeface="Avenir Next"/>
              </a:defRPr>
            </a:lvl6pPr>
            <a:lvl7pPr algn="l">
              <a:defRPr sz="1275" b="1">
                <a:solidFill>
                  <a:srgbClr val="E7B942"/>
                </a:solidFill>
                <a:latin typeface="Avenir Next"/>
                <a:ea typeface="Avenir Next"/>
                <a:cs typeface="Avenir Next"/>
              </a:defRPr>
            </a:lvl7pPr>
            <a:lvl8pPr algn="l">
              <a:defRPr sz="1275" b="1">
                <a:solidFill>
                  <a:srgbClr val="E7B942"/>
                </a:solidFill>
                <a:latin typeface="Avenir Next"/>
                <a:ea typeface="Avenir Next"/>
                <a:cs typeface="Avenir Next"/>
              </a:defRPr>
            </a:lvl8pPr>
            <a:lvl9pPr algn="l">
              <a:defRPr sz="1275" b="1">
                <a:solidFill>
                  <a:srgbClr val="E7B942"/>
                </a:solidFill>
                <a:latin typeface="Avenir Next"/>
                <a:ea typeface="Avenir Next"/>
                <a:cs typeface="Avenir Next"/>
              </a:defRPr>
            </a:lvl9pPr>
          </a:lstStyle>
          <a:p xmlns:a="http://schemas.openxmlformats.org/drawingml/2006/main">
            <a:pPr algn="l">
              <a:defRPr sz="1275" b="1">
                <a:solidFill>
                  <a:srgbClr val="E7B942"/>
                </a:solidFill>
                <a:latin typeface="Avenir Next"/>
                <a:ea typeface="Avenir Next"/>
                <a:cs typeface="Avenir Next"/>
              </a:defRPr>
            </a:pPr>
            <a:r>
              <a:rPr sz="1275" b="1">
                <a:solidFill>
                  <a:srgbClr val="E7B942"/>
                </a:solidFill>
                <a:latin typeface="Avenir Next"/>
                <a:ea typeface="Avenir Next"/>
                <a:cs typeface="Avenir Next"/>
              </a:rPr>
              <a:t>B.TECH CAPSTONE  ·  BLOCKCHAIN &amp; WEB3</a:t>
            </a:r>
          </a:p>
        </p:txBody>
      </p:sp>
      <p:sp>
        <p:nvSpPr>
          <p:cNvPr id="4" name="">
            <a:extLst xmlns:a="http://schemas.openxmlformats.org/drawingml/2006/main">
              <a:ext uri="{FF2B5EF4-FFF2-40B4-BE49-F238E27FC236}">
                <a16:creationId xmlns:a16="http://schemas.microsoft.com/office/drawing/2014/main" id="{C81233BF-904D-42E5-B65F-ED5F169481B6}"/>
              </a:ext>
            </a:extLst>
          </p:cNvPr>
          <p:cNvSpPr>
            <a:spLocks xmlns:a="http://schemas.openxmlformats.org/drawingml/2006/main" noGrp="1"/>
          </p:cNvSpPr>
          <p:nvPr/>
        </p:nvSpPr>
        <p:spPr>
          <a:xfrm xmlns:a="http://schemas.openxmlformats.org/drawingml/2006/main">
            <a:off x="876300" y="1638300"/>
            <a:ext cx="685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F5F2E8"/>
                </a:solidFill>
                <a:latin typeface="Avenir Next"/>
                <a:ea typeface="Avenir Next"/>
                <a:cs typeface="Avenir Next"/>
              </a:defRPr>
            </a:defPPr>
            <a:lvl1pPr algn="l">
              <a:defRPr sz="4800" b="1">
                <a:solidFill>
                  <a:srgbClr val="F5F2E8"/>
                </a:solidFill>
                <a:latin typeface="Avenir Next"/>
                <a:ea typeface="Avenir Next"/>
                <a:cs typeface="Avenir Next"/>
              </a:defRPr>
            </a:lvl1pPr>
            <a:lvl2pPr algn="l">
              <a:defRPr sz="4800" b="1">
                <a:solidFill>
                  <a:srgbClr val="F5F2E8"/>
                </a:solidFill>
                <a:latin typeface="Avenir Next"/>
                <a:ea typeface="Avenir Next"/>
                <a:cs typeface="Avenir Next"/>
              </a:defRPr>
            </a:lvl2pPr>
            <a:lvl3pPr algn="l">
              <a:defRPr sz="4800" b="1">
                <a:solidFill>
                  <a:srgbClr val="F5F2E8"/>
                </a:solidFill>
                <a:latin typeface="Avenir Next"/>
                <a:ea typeface="Avenir Next"/>
                <a:cs typeface="Avenir Next"/>
              </a:defRPr>
            </a:lvl3pPr>
            <a:lvl4pPr algn="l">
              <a:defRPr sz="4800" b="1">
                <a:solidFill>
                  <a:srgbClr val="F5F2E8"/>
                </a:solidFill>
                <a:latin typeface="Avenir Next"/>
                <a:ea typeface="Avenir Next"/>
                <a:cs typeface="Avenir Next"/>
              </a:defRPr>
            </a:lvl4pPr>
            <a:lvl5pPr algn="l">
              <a:defRPr sz="4800" b="1">
                <a:solidFill>
                  <a:srgbClr val="F5F2E8"/>
                </a:solidFill>
                <a:latin typeface="Avenir Next"/>
                <a:ea typeface="Avenir Next"/>
                <a:cs typeface="Avenir Next"/>
              </a:defRPr>
            </a:lvl5pPr>
            <a:lvl6pPr algn="l">
              <a:defRPr sz="4800" b="1">
                <a:solidFill>
                  <a:srgbClr val="F5F2E8"/>
                </a:solidFill>
                <a:latin typeface="Avenir Next"/>
                <a:ea typeface="Avenir Next"/>
                <a:cs typeface="Avenir Next"/>
              </a:defRPr>
            </a:lvl6pPr>
            <a:lvl7pPr algn="l">
              <a:defRPr sz="4800" b="1">
                <a:solidFill>
                  <a:srgbClr val="F5F2E8"/>
                </a:solidFill>
                <a:latin typeface="Avenir Next"/>
                <a:ea typeface="Avenir Next"/>
                <a:cs typeface="Avenir Next"/>
              </a:defRPr>
            </a:lvl7pPr>
            <a:lvl8pPr algn="l">
              <a:defRPr sz="4800" b="1">
                <a:solidFill>
                  <a:srgbClr val="F5F2E8"/>
                </a:solidFill>
                <a:latin typeface="Avenir Next"/>
                <a:ea typeface="Avenir Next"/>
                <a:cs typeface="Avenir Next"/>
              </a:defRPr>
            </a:lvl8pPr>
            <a:lvl9pPr algn="l">
              <a:defRPr sz="4800" b="1">
                <a:solidFill>
                  <a:srgbClr val="F5F2E8"/>
                </a:solidFill>
                <a:latin typeface="Avenir Next"/>
                <a:ea typeface="Avenir Next"/>
                <a:cs typeface="Avenir Next"/>
              </a:defRPr>
            </a:lvl9pPr>
          </a:lstStyle>
          <a:p xmlns:a="http://schemas.openxmlformats.org/drawingml/2006/main">
            <a:pPr algn="l">
              <a:defRPr sz="4800" b="1">
                <a:solidFill>
                  <a:srgbClr val="F5F2E8"/>
                </a:solidFill>
                <a:latin typeface="Avenir Next"/>
                <a:ea typeface="Avenir Next"/>
                <a:cs typeface="Avenir Next"/>
              </a:defRPr>
            </a:pPr>
            <a:r>
              <a:rPr sz="4800" b="1">
                <a:solidFill>
                  <a:srgbClr val="F5F2E8"/>
                </a:solidFill>
                <a:latin typeface="Avenir Next"/>
                <a:ea typeface="Avenir Next"/>
                <a:cs typeface="Avenir Next"/>
              </a:rPr>
              <a:t>CricketVerse</a:t>
            </a:r>
          </a:p>
        </p:txBody>
      </p:sp>
      <p:sp>
        <p:nvSpPr>
          <p:cNvPr id="5" name="">
            <a:extLst xmlns:a="http://schemas.openxmlformats.org/drawingml/2006/main">
              <a:ext uri="{FF2B5EF4-FFF2-40B4-BE49-F238E27FC236}">
                <a16:creationId xmlns:a16="http://schemas.microsoft.com/office/drawing/2014/main" id="{022B77E0-8E35-4692-8B9A-6C962BF50E7F}"/>
              </a:ext>
            </a:extLst>
          </p:cNvPr>
          <p:cNvSpPr>
            <a:spLocks xmlns:a="http://schemas.openxmlformats.org/drawingml/2006/main" noGrp="1"/>
          </p:cNvSpPr>
          <p:nvPr/>
        </p:nvSpPr>
        <p:spPr>
          <a:xfrm xmlns:a="http://schemas.openxmlformats.org/drawingml/2006/main">
            <a:off x="914400" y="2543175"/>
            <a:ext cx="647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700" b="1">
                <a:solidFill>
                  <a:srgbClr val="A9D9B9"/>
                </a:solidFill>
                <a:latin typeface="Avenir Next"/>
                <a:ea typeface="Avenir Next"/>
                <a:cs typeface="Avenir Next"/>
              </a:defRPr>
            </a:defPPr>
            <a:lvl1pPr algn="l">
              <a:defRPr sz="2700" b="1">
                <a:solidFill>
                  <a:srgbClr val="A9D9B9"/>
                </a:solidFill>
                <a:latin typeface="Avenir Next"/>
                <a:ea typeface="Avenir Next"/>
                <a:cs typeface="Avenir Next"/>
              </a:defRPr>
            </a:lvl1pPr>
            <a:lvl2pPr algn="l">
              <a:defRPr sz="2700" b="1">
                <a:solidFill>
                  <a:srgbClr val="A9D9B9"/>
                </a:solidFill>
                <a:latin typeface="Avenir Next"/>
                <a:ea typeface="Avenir Next"/>
                <a:cs typeface="Avenir Next"/>
              </a:defRPr>
            </a:lvl2pPr>
            <a:lvl3pPr algn="l">
              <a:defRPr sz="2700" b="1">
                <a:solidFill>
                  <a:srgbClr val="A9D9B9"/>
                </a:solidFill>
                <a:latin typeface="Avenir Next"/>
                <a:ea typeface="Avenir Next"/>
                <a:cs typeface="Avenir Next"/>
              </a:defRPr>
            </a:lvl3pPr>
            <a:lvl4pPr algn="l">
              <a:defRPr sz="2700" b="1">
                <a:solidFill>
                  <a:srgbClr val="A9D9B9"/>
                </a:solidFill>
                <a:latin typeface="Avenir Next"/>
                <a:ea typeface="Avenir Next"/>
                <a:cs typeface="Avenir Next"/>
              </a:defRPr>
            </a:lvl4pPr>
            <a:lvl5pPr algn="l">
              <a:defRPr sz="2700" b="1">
                <a:solidFill>
                  <a:srgbClr val="A9D9B9"/>
                </a:solidFill>
                <a:latin typeface="Avenir Next"/>
                <a:ea typeface="Avenir Next"/>
                <a:cs typeface="Avenir Next"/>
              </a:defRPr>
            </a:lvl5pPr>
            <a:lvl6pPr algn="l">
              <a:defRPr sz="2700" b="1">
                <a:solidFill>
                  <a:srgbClr val="A9D9B9"/>
                </a:solidFill>
                <a:latin typeface="Avenir Next"/>
                <a:ea typeface="Avenir Next"/>
                <a:cs typeface="Avenir Next"/>
              </a:defRPr>
            </a:lvl6pPr>
            <a:lvl7pPr algn="l">
              <a:defRPr sz="2700" b="1">
                <a:solidFill>
                  <a:srgbClr val="A9D9B9"/>
                </a:solidFill>
                <a:latin typeface="Avenir Next"/>
                <a:ea typeface="Avenir Next"/>
                <a:cs typeface="Avenir Next"/>
              </a:defRPr>
            </a:lvl7pPr>
            <a:lvl8pPr algn="l">
              <a:defRPr sz="2700" b="1">
                <a:solidFill>
                  <a:srgbClr val="A9D9B9"/>
                </a:solidFill>
                <a:latin typeface="Avenir Next"/>
                <a:ea typeface="Avenir Next"/>
                <a:cs typeface="Avenir Next"/>
              </a:defRPr>
            </a:lvl8pPr>
            <a:lvl9pPr algn="l">
              <a:defRPr sz="2700" b="1">
                <a:solidFill>
                  <a:srgbClr val="A9D9B9"/>
                </a:solidFill>
                <a:latin typeface="Avenir Next"/>
                <a:ea typeface="Avenir Next"/>
                <a:cs typeface="Avenir Next"/>
              </a:defRPr>
            </a:lvl9pPr>
          </a:lstStyle>
          <a:p xmlns:a="http://schemas.openxmlformats.org/drawingml/2006/main">
            <a:pPr algn="l">
              <a:defRPr sz="2700" b="1">
                <a:solidFill>
                  <a:srgbClr val="A9D9B9"/>
                </a:solidFill>
                <a:latin typeface="Avenir Next"/>
                <a:ea typeface="Avenir Next"/>
                <a:cs typeface="Avenir Next"/>
              </a:defRPr>
            </a:pPr>
            <a:r>
              <a:rPr sz="2700" b="1">
                <a:solidFill>
                  <a:srgbClr val="A9D9B9"/>
                </a:solidFill>
                <a:latin typeface="Avenir Next"/>
                <a:ea typeface="Avenir Next"/>
                <a:cs typeface="Avenir Next"/>
              </a:rPr>
              <a:t>A fan-centred cricket platform</a:t>
            </a:r>
          </a:p>
        </p:txBody>
      </p:sp>
      <p:sp>
        <p:nvSpPr>
          <p:cNvPr id="6" name="">
            <a:extLst xmlns:a="http://schemas.openxmlformats.org/drawingml/2006/main">
              <a:ext uri="{FF2B5EF4-FFF2-40B4-BE49-F238E27FC236}">
                <a16:creationId xmlns:a16="http://schemas.microsoft.com/office/drawing/2014/main" id="{94FE7298-1006-45FF-9C11-C3195DD05165}"/>
              </a:ext>
            </a:extLst>
          </p:cNvPr>
          <p:cNvSpPr>
            <a:spLocks xmlns:a="http://schemas.openxmlformats.org/drawingml/2006/main" noGrp="1"/>
          </p:cNvSpPr>
          <p:nvPr/>
        </p:nvSpPr>
        <p:spPr>
          <a:xfrm xmlns:a="http://schemas.openxmlformats.org/drawingml/2006/main">
            <a:off x="914400" y="333375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F5F2E8"/>
                </a:solidFill>
                <a:latin typeface="Avenir Next"/>
                <a:ea typeface="Avenir Next"/>
                <a:cs typeface="Avenir Next"/>
              </a:defRPr>
            </a:defPPr>
            <a:lvl1pPr algn="l">
              <a:defRPr sz="1950" b="0">
                <a:solidFill>
                  <a:srgbClr val="F5F2E8"/>
                </a:solidFill>
                <a:latin typeface="Avenir Next"/>
                <a:ea typeface="Avenir Next"/>
                <a:cs typeface="Avenir Next"/>
              </a:defRPr>
            </a:lvl1pPr>
            <a:lvl2pPr algn="l">
              <a:defRPr sz="1950" b="0">
                <a:solidFill>
                  <a:srgbClr val="F5F2E8"/>
                </a:solidFill>
                <a:latin typeface="Avenir Next"/>
                <a:ea typeface="Avenir Next"/>
                <a:cs typeface="Avenir Next"/>
              </a:defRPr>
            </a:lvl2pPr>
            <a:lvl3pPr algn="l">
              <a:defRPr sz="1950" b="0">
                <a:solidFill>
                  <a:srgbClr val="F5F2E8"/>
                </a:solidFill>
                <a:latin typeface="Avenir Next"/>
                <a:ea typeface="Avenir Next"/>
                <a:cs typeface="Avenir Next"/>
              </a:defRPr>
            </a:lvl3pPr>
            <a:lvl4pPr algn="l">
              <a:defRPr sz="1950" b="0">
                <a:solidFill>
                  <a:srgbClr val="F5F2E8"/>
                </a:solidFill>
                <a:latin typeface="Avenir Next"/>
                <a:ea typeface="Avenir Next"/>
                <a:cs typeface="Avenir Next"/>
              </a:defRPr>
            </a:lvl4pPr>
            <a:lvl5pPr algn="l">
              <a:defRPr sz="1950" b="0">
                <a:solidFill>
                  <a:srgbClr val="F5F2E8"/>
                </a:solidFill>
                <a:latin typeface="Avenir Next"/>
                <a:ea typeface="Avenir Next"/>
                <a:cs typeface="Avenir Next"/>
              </a:defRPr>
            </a:lvl5pPr>
            <a:lvl6pPr algn="l">
              <a:defRPr sz="1950" b="0">
                <a:solidFill>
                  <a:srgbClr val="F5F2E8"/>
                </a:solidFill>
                <a:latin typeface="Avenir Next"/>
                <a:ea typeface="Avenir Next"/>
                <a:cs typeface="Avenir Next"/>
              </a:defRPr>
            </a:lvl6pPr>
            <a:lvl7pPr algn="l">
              <a:defRPr sz="1950" b="0">
                <a:solidFill>
                  <a:srgbClr val="F5F2E8"/>
                </a:solidFill>
                <a:latin typeface="Avenir Next"/>
                <a:ea typeface="Avenir Next"/>
                <a:cs typeface="Avenir Next"/>
              </a:defRPr>
            </a:lvl7pPr>
            <a:lvl8pPr algn="l">
              <a:defRPr sz="1950" b="0">
                <a:solidFill>
                  <a:srgbClr val="F5F2E8"/>
                </a:solidFill>
                <a:latin typeface="Avenir Next"/>
                <a:ea typeface="Avenir Next"/>
                <a:cs typeface="Avenir Next"/>
              </a:defRPr>
            </a:lvl8pPr>
            <a:lvl9pPr algn="l">
              <a:defRPr sz="1950" b="0">
                <a:solidFill>
                  <a:srgbClr val="F5F2E8"/>
                </a:solidFill>
                <a:latin typeface="Avenir Next"/>
                <a:ea typeface="Avenir Next"/>
                <a:cs typeface="Avenir Next"/>
              </a:defRPr>
            </a:lvl9pPr>
          </a:lstStyle>
          <a:p xmlns:a="http://schemas.openxmlformats.org/drawingml/2006/main">
            <a:pPr algn="l">
              <a:defRPr sz="1950" b="0">
                <a:solidFill>
                  <a:srgbClr val="F5F2E8"/>
                </a:solidFill>
                <a:latin typeface="Avenir Next"/>
                <a:ea typeface="Avenir Next"/>
                <a:cs typeface="Avenir Next"/>
              </a:defRPr>
            </a:pPr>
            <a:r>
              <a:rPr sz="1950" b="0">
                <a:solidFill>
                  <a:srgbClr val="F5F2E8"/>
                </a:solidFill>
                <a:latin typeface="Avenir Next"/>
                <a:ea typeface="Avenir Next"/>
                <a:cs typeface="Avenir Next"/>
              </a:rPr>
              <a:t>Connecting matchday participation, digital ownership and clearer rules</a:t>
            </a:r>
          </a:p>
        </p:txBody>
      </p:sp>
      <p:sp>
        <p:nvSpPr>
          <p:cNvPr id="7" name="">
            <a:extLst xmlns:a="http://schemas.openxmlformats.org/drawingml/2006/main">
              <a:ext uri="{FF2B5EF4-FFF2-40B4-BE49-F238E27FC236}">
                <a16:creationId xmlns:a16="http://schemas.microsoft.com/office/drawing/2014/main" id="{9FB02EDB-DBF6-4740-8414-67BDAD5179B8}"/>
              </a:ext>
            </a:extLst>
          </p:cNvPr>
          <p:cNvSpPr>
            <a:spLocks xmlns:a="http://schemas.openxmlformats.org/drawingml/2006/main" noGrp="1"/>
          </p:cNvSpPr>
          <p:nvPr/>
        </p:nvSpPr>
        <p:spPr>
          <a:xfrm xmlns:a="http://schemas.openxmlformats.org/drawingml/2006/main">
            <a:off x="914400" y="5534025"/>
            <a:ext cx="6715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5F2E8"/>
                </a:solidFill>
                <a:latin typeface="Avenir Next"/>
                <a:ea typeface="Avenir Next"/>
                <a:cs typeface="Avenir Next"/>
              </a:defRPr>
            </a:defPPr>
            <a:lvl1pPr algn="l">
              <a:defRPr sz="1350" b="1">
                <a:solidFill>
                  <a:srgbClr val="F5F2E8"/>
                </a:solidFill>
                <a:latin typeface="Avenir Next"/>
                <a:ea typeface="Avenir Next"/>
                <a:cs typeface="Avenir Next"/>
              </a:defRPr>
            </a:lvl1pPr>
            <a:lvl2pPr algn="l">
              <a:defRPr sz="1350" b="1">
                <a:solidFill>
                  <a:srgbClr val="F5F2E8"/>
                </a:solidFill>
                <a:latin typeface="Avenir Next"/>
                <a:ea typeface="Avenir Next"/>
                <a:cs typeface="Avenir Next"/>
              </a:defRPr>
            </a:lvl2pPr>
            <a:lvl3pPr algn="l">
              <a:defRPr sz="1350" b="1">
                <a:solidFill>
                  <a:srgbClr val="F5F2E8"/>
                </a:solidFill>
                <a:latin typeface="Avenir Next"/>
                <a:ea typeface="Avenir Next"/>
                <a:cs typeface="Avenir Next"/>
              </a:defRPr>
            </a:lvl3pPr>
            <a:lvl4pPr algn="l">
              <a:defRPr sz="1350" b="1">
                <a:solidFill>
                  <a:srgbClr val="F5F2E8"/>
                </a:solidFill>
                <a:latin typeface="Avenir Next"/>
                <a:ea typeface="Avenir Next"/>
                <a:cs typeface="Avenir Next"/>
              </a:defRPr>
            </a:lvl4pPr>
            <a:lvl5pPr algn="l">
              <a:defRPr sz="1350" b="1">
                <a:solidFill>
                  <a:srgbClr val="F5F2E8"/>
                </a:solidFill>
                <a:latin typeface="Avenir Next"/>
                <a:ea typeface="Avenir Next"/>
                <a:cs typeface="Avenir Next"/>
              </a:defRPr>
            </a:lvl5pPr>
            <a:lvl6pPr algn="l">
              <a:defRPr sz="1350" b="1">
                <a:solidFill>
                  <a:srgbClr val="F5F2E8"/>
                </a:solidFill>
                <a:latin typeface="Avenir Next"/>
                <a:ea typeface="Avenir Next"/>
                <a:cs typeface="Avenir Next"/>
              </a:defRPr>
            </a:lvl6pPr>
            <a:lvl7pPr algn="l">
              <a:defRPr sz="1350" b="1">
                <a:solidFill>
                  <a:srgbClr val="F5F2E8"/>
                </a:solidFill>
                <a:latin typeface="Avenir Next"/>
                <a:ea typeface="Avenir Next"/>
                <a:cs typeface="Avenir Next"/>
              </a:defRPr>
            </a:lvl7pPr>
            <a:lvl8pPr algn="l">
              <a:defRPr sz="1350" b="1">
                <a:solidFill>
                  <a:srgbClr val="F5F2E8"/>
                </a:solidFill>
                <a:latin typeface="Avenir Next"/>
                <a:ea typeface="Avenir Next"/>
                <a:cs typeface="Avenir Next"/>
              </a:defRPr>
            </a:lvl8pPr>
            <a:lvl9pPr algn="l">
              <a:defRPr sz="1350" b="1">
                <a:solidFill>
                  <a:srgbClr val="F5F2E8"/>
                </a:solidFill>
                <a:latin typeface="Avenir Next"/>
                <a:ea typeface="Avenir Next"/>
                <a:cs typeface="Avenir Next"/>
              </a:defRPr>
            </a:lvl9pPr>
          </a:lstStyle>
          <a:p xmlns:a="http://schemas.openxmlformats.org/drawingml/2006/main">
            <a:pPr algn="l">
              <a:defRPr sz="1350" b="1">
                <a:solidFill>
                  <a:srgbClr val="F5F2E8"/>
                </a:solidFill>
                <a:latin typeface="Avenir Next"/>
                <a:ea typeface="Avenir Next"/>
                <a:cs typeface="Avenir Next"/>
              </a:defRPr>
            </a:pPr>
            <a:r>
              <a:rPr sz="1350" b="1">
                <a:solidFill>
                  <a:srgbClr val="F5F2E8"/>
                </a:solidFill>
                <a:latin typeface="Avenir Next"/>
                <a:ea typeface="Avenir Next"/>
                <a:cs typeface="Avenir Next"/>
              </a:rPr>
              <a:t>Tejaswini Kunkulagunta  ·  Department of Computer Science &amp; Engineering</a:t>
            </a:r>
          </a:p>
        </p:txBody>
      </p:sp>
    </p:spTree>
    <p:extLst>
      <p:ext uri="{BB962C8B-B14F-4D97-AF65-F5344CB8AC3E}">
        <p14:creationId xmlns:p14="http://schemas.microsoft.com/office/powerpoint/2010/main" val="1775128038"/>
      </p:ext>
    </p:extLst>
  </p:cSld>
</p:sld>
</file>

<file path=ppt/slides/slide2.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E8A57C-53B8-4762-8A89-C13209C753BC}"/>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WHY</a:t>
            </a:r>
          </a:p>
        </p:txBody>
      </p:sp>
      <p:sp>
        <p:nvSpPr>
          <p:cNvPr id="2" name="">
            <a:extLst xmlns:a="http://schemas.openxmlformats.org/drawingml/2006/main">
              <a:ext uri="{FF2B5EF4-FFF2-40B4-BE49-F238E27FC236}">
                <a16:creationId xmlns:a16="http://schemas.microsoft.com/office/drawing/2014/main" id="{33F0F200-A4BF-4891-B561-016500E39F62}"/>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Digital cricket participation is fragmented</a:t>
            </a:r>
          </a:p>
        </p:txBody>
      </p:sp>
      <p:sp>
        <p:nvSpPr>
          <p:cNvPr id="3" name="">
            <a:extLst xmlns:a="http://schemas.openxmlformats.org/drawingml/2006/main">
              <a:ext uri="{FF2B5EF4-FFF2-40B4-BE49-F238E27FC236}">
                <a16:creationId xmlns:a16="http://schemas.microsoft.com/office/drawing/2014/main" id="{088F5F83-C225-4FCE-B43E-09DD69A0FEEF}"/>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The project starts from a fan need: take part in the match and keep meaningful digital assets.</a:t>
            </a:r>
          </a:p>
        </p:txBody>
      </p:sp>
      <p:sp>
        <p:nvSpPr>
          <p:cNvPr id="4" name="">
            <a:extLst xmlns:a="http://schemas.openxmlformats.org/drawingml/2006/main">
              <a:ext uri="{FF2B5EF4-FFF2-40B4-BE49-F238E27FC236}">
                <a16:creationId xmlns:a16="http://schemas.microsoft.com/office/drawing/2014/main" id="{75E625B8-7C30-4F08-A8CB-2ACBB74DFAA9}"/>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0E8151-58E1-4CE2-9858-6B0B960405A6}"/>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C82EF984-B2B9-417D-BED3-6BB74CC03E9D}"/>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02</a:t>
            </a:r>
          </a:p>
        </p:txBody>
      </p:sp>
      <p:sp>
        <p:nvSpPr>
          <p:cNvPr id="7" name="">
            <a:extLst xmlns:a="http://schemas.openxmlformats.org/drawingml/2006/main">
              <a:ext uri="{FF2B5EF4-FFF2-40B4-BE49-F238E27FC236}">
                <a16:creationId xmlns:a16="http://schemas.microsoft.com/office/drawing/2014/main" id="{0974958B-28BA-4AD2-A1A0-C7B574BC9F39}"/>
              </a:ext>
            </a:extLst>
          </p:cNvPr>
          <p:cNvSpPr>
            <a:spLocks xmlns:a="http://schemas.openxmlformats.org/drawingml/2006/main" noGrp="1"/>
          </p:cNvSpPr>
          <p:nvPr/>
        </p:nvSpPr>
        <p:spPr>
          <a:xfrm xmlns:a="http://schemas.openxmlformats.org/drawingml/2006/main">
            <a:off x="876300" y="23241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Follow</a:t>
            </a:r>
          </a:p>
        </p:txBody>
      </p:sp>
      <p:sp>
        <p:nvSpPr>
          <p:cNvPr id="8" name="">
            <a:extLst xmlns:a="http://schemas.openxmlformats.org/drawingml/2006/main">
              <a:ext uri="{FF2B5EF4-FFF2-40B4-BE49-F238E27FC236}">
                <a16:creationId xmlns:a16="http://schemas.microsoft.com/office/drawing/2014/main" id="{3251C911-57DC-411F-80AD-8D1C4AFC6A8F}"/>
              </a:ext>
            </a:extLst>
          </p:cNvPr>
          <p:cNvSpPr>
            <a:spLocks xmlns:a="http://schemas.openxmlformats.org/drawingml/2006/main" noGrp="1"/>
          </p:cNvSpPr>
          <p:nvPr/>
        </p:nvSpPr>
        <p:spPr>
          <a:xfrm xmlns:a="http://schemas.openxmlformats.org/drawingml/2006/main">
            <a:off x="3333750" y="23336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Stay connected to today’s match and its players.</a:t>
            </a:r>
          </a:p>
        </p:txBody>
      </p:sp>
      <p:sp>
        <p:nvSpPr>
          <p:cNvPr id="9" name="">
            <a:extLst xmlns:a="http://schemas.openxmlformats.org/drawingml/2006/main">
              <a:ext uri="{FF2B5EF4-FFF2-40B4-BE49-F238E27FC236}">
                <a16:creationId xmlns:a16="http://schemas.microsoft.com/office/drawing/2014/main" id="{D02162CA-C416-4FDC-A6C2-64ADB8B99D9E}"/>
              </a:ext>
            </a:extLst>
          </p:cNvPr>
          <p:cNvSpPr>
            <a:spLocks xmlns:a="http://schemas.openxmlformats.org/drawingml/2006/main" noGrp="1"/>
          </p:cNvSpPr>
          <p:nvPr/>
        </p:nvSpPr>
        <p:spPr>
          <a:xfrm xmlns:a="http://schemas.openxmlformats.org/drawingml/2006/main">
            <a:off x="876300" y="290512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A1D1257-EEB8-414E-AF7D-E5B76DC2D987}"/>
              </a:ext>
            </a:extLst>
          </p:cNvPr>
          <p:cNvSpPr>
            <a:spLocks xmlns:a="http://schemas.openxmlformats.org/drawingml/2006/main" noGrp="1"/>
          </p:cNvSpPr>
          <p:nvPr/>
        </p:nvSpPr>
        <p:spPr>
          <a:xfrm xmlns:a="http://schemas.openxmlformats.org/drawingml/2006/main">
            <a:off x="876300" y="31432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Participate</a:t>
            </a:r>
          </a:p>
        </p:txBody>
      </p:sp>
      <p:sp>
        <p:nvSpPr>
          <p:cNvPr id="11" name="">
            <a:extLst xmlns:a="http://schemas.openxmlformats.org/drawingml/2006/main">
              <a:ext uri="{FF2B5EF4-FFF2-40B4-BE49-F238E27FC236}">
                <a16:creationId xmlns:a16="http://schemas.microsoft.com/office/drawing/2014/main" id="{A618E96C-CADF-48E5-9BB8-4E0DAECE89D4}"/>
              </a:ext>
            </a:extLst>
          </p:cNvPr>
          <p:cNvSpPr>
            <a:spLocks xmlns:a="http://schemas.openxmlformats.org/drawingml/2006/main" noGrp="1"/>
          </p:cNvSpPr>
          <p:nvPr/>
        </p:nvSpPr>
        <p:spPr>
          <a:xfrm xmlns:a="http://schemas.openxmlformats.org/drawingml/2006/main">
            <a:off x="3333750" y="31527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Build a fantasy XI, vote and join a contest.</a:t>
            </a:r>
          </a:p>
        </p:txBody>
      </p:sp>
      <p:sp>
        <p:nvSpPr>
          <p:cNvPr id="12" name="">
            <a:extLst xmlns:a="http://schemas.openxmlformats.org/drawingml/2006/main">
              <a:ext uri="{FF2B5EF4-FFF2-40B4-BE49-F238E27FC236}">
                <a16:creationId xmlns:a16="http://schemas.microsoft.com/office/drawing/2014/main" id="{42DEDABD-1430-4285-BDB6-44B2B5A1EAD6}"/>
              </a:ext>
            </a:extLst>
          </p:cNvPr>
          <p:cNvSpPr>
            <a:spLocks xmlns:a="http://schemas.openxmlformats.org/drawingml/2006/main" noGrp="1"/>
          </p:cNvSpPr>
          <p:nvPr/>
        </p:nvSpPr>
        <p:spPr>
          <a:xfrm xmlns:a="http://schemas.openxmlformats.org/drawingml/2006/main">
            <a:off x="876300" y="372427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3E6DA04-BD8C-4103-AE7A-6BC7264080C1}"/>
              </a:ext>
            </a:extLst>
          </p:cNvPr>
          <p:cNvSpPr>
            <a:spLocks xmlns:a="http://schemas.openxmlformats.org/drawingml/2006/main" noGrp="1"/>
          </p:cNvSpPr>
          <p:nvPr/>
        </p:nvSpPr>
        <p:spPr>
          <a:xfrm xmlns:a="http://schemas.openxmlformats.org/drawingml/2006/main">
            <a:off x="876300" y="3962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Keep</a:t>
            </a:r>
          </a:p>
        </p:txBody>
      </p:sp>
      <p:sp>
        <p:nvSpPr>
          <p:cNvPr id="14" name="">
            <a:extLst xmlns:a="http://schemas.openxmlformats.org/drawingml/2006/main">
              <a:ext uri="{FF2B5EF4-FFF2-40B4-BE49-F238E27FC236}">
                <a16:creationId xmlns:a16="http://schemas.microsoft.com/office/drawing/2014/main" id="{52255C61-92DF-486A-AEA3-55FA0E3C9E9A}"/>
              </a:ext>
            </a:extLst>
          </p:cNvPr>
          <p:cNvSpPr>
            <a:spLocks xmlns:a="http://schemas.openxmlformats.org/drawingml/2006/main" noGrp="1"/>
          </p:cNvSpPr>
          <p:nvPr/>
        </p:nvSpPr>
        <p:spPr>
          <a:xfrm xmlns:a="http://schemas.openxmlformats.org/drawingml/2006/main">
            <a:off x="3333750" y="39719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Collect player cards that belong to the fan’s wallet.</a:t>
            </a:r>
          </a:p>
        </p:txBody>
      </p:sp>
      <p:sp>
        <p:nvSpPr>
          <p:cNvPr id="15" name="">
            <a:extLst xmlns:a="http://schemas.openxmlformats.org/drawingml/2006/main">
              <a:ext uri="{FF2B5EF4-FFF2-40B4-BE49-F238E27FC236}">
                <a16:creationId xmlns:a16="http://schemas.microsoft.com/office/drawing/2014/main" id="{25943F74-6644-445D-886C-C7DE0242CE40}"/>
              </a:ext>
            </a:extLst>
          </p:cNvPr>
          <p:cNvSpPr>
            <a:spLocks xmlns:a="http://schemas.openxmlformats.org/drawingml/2006/main" noGrp="1"/>
          </p:cNvSpPr>
          <p:nvPr/>
        </p:nvSpPr>
        <p:spPr>
          <a:xfrm xmlns:a="http://schemas.openxmlformats.org/drawingml/2006/main">
            <a:off x="876300" y="4543425"/>
            <a:ext cx="1007745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EF9E9EC-A209-4631-A57E-1D34C8B54D7B}"/>
              </a:ext>
            </a:extLst>
          </p:cNvPr>
          <p:cNvSpPr>
            <a:spLocks xmlns:a="http://schemas.openxmlformats.org/drawingml/2006/main" noGrp="1"/>
          </p:cNvSpPr>
          <p:nvPr/>
        </p:nvSpPr>
        <p:spPr>
          <a:xfrm xmlns:a="http://schemas.openxmlformats.org/drawingml/2006/main">
            <a:off x="876300" y="4781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082C24"/>
                </a:solidFill>
                <a:latin typeface="Avenir Next"/>
                <a:ea typeface="Avenir Next"/>
                <a:cs typeface="Avenir Next"/>
              </a:defRPr>
            </a:defPPr>
            <a:lvl1pPr algn="l">
              <a:defRPr sz="2250" b="1">
                <a:solidFill>
                  <a:srgbClr val="082C24"/>
                </a:solidFill>
                <a:latin typeface="Avenir Next"/>
                <a:ea typeface="Avenir Next"/>
                <a:cs typeface="Avenir Next"/>
              </a:defRPr>
            </a:lvl1pPr>
            <a:lvl2pPr algn="l">
              <a:defRPr sz="2250" b="1">
                <a:solidFill>
                  <a:srgbClr val="082C24"/>
                </a:solidFill>
                <a:latin typeface="Avenir Next"/>
                <a:ea typeface="Avenir Next"/>
                <a:cs typeface="Avenir Next"/>
              </a:defRPr>
            </a:lvl2pPr>
            <a:lvl3pPr algn="l">
              <a:defRPr sz="2250" b="1">
                <a:solidFill>
                  <a:srgbClr val="082C24"/>
                </a:solidFill>
                <a:latin typeface="Avenir Next"/>
                <a:ea typeface="Avenir Next"/>
                <a:cs typeface="Avenir Next"/>
              </a:defRPr>
            </a:lvl3pPr>
            <a:lvl4pPr algn="l">
              <a:defRPr sz="2250" b="1">
                <a:solidFill>
                  <a:srgbClr val="082C24"/>
                </a:solidFill>
                <a:latin typeface="Avenir Next"/>
                <a:ea typeface="Avenir Next"/>
                <a:cs typeface="Avenir Next"/>
              </a:defRPr>
            </a:lvl4pPr>
            <a:lvl5pPr algn="l">
              <a:defRPr sz="2250" b="1">
                <a:solidFill>
                  <a:srgbClr val="082C24"/>
                </a:solidFill>
                <a:latin typeface="Avenir Next"/>
                <a:ea typeface="Avenir Next"/>
                <a:cs typeface="Avenir Next"/>
              </a:defRPr>
            </a:lvl5pPr>
            <a:lvl6pPr algn="l">
              <a:defRPr sz="2250" b="1">
                <a:solidFill>
                  <a:srgbClr val="082C24"/>
                </a:solidFill>
                <a:latin typeface="Avenir Next"/>
                <a:ea typeface="Avenir Next"/>
                <a:cs typeface="Avenir Next"/>
              </a:defRPr>
            </a:lvl6pPr>
            <a:lvl7pPr algn="l">
              <a:defRPr sz="2250" b="1">
                <a:solidFill>
                  <a:srgbClr val="082C24"/>
                </a:solidFill>
                <a:latin typeface="Avenir Next"/>
                <a:ea typeface="Avenir Next"/>
                <a:cs typeface="Avenir Next"/>
              </a:defRPr>
            </a:lvl7pPr>
            <a:lvl8pPr algn="l">
              <a:defRPr sz="2250" b="1">
                <a:solidFill>
                  <a:srgbClr val="082C24"/>
                </a:solidFill>
                <a:latin typeface="Avenir Next"/>
                <a:ea typeface="Avenir Next"/>
                <a:cs typeface="Avenir Next"/>
              </a:defRPr>
            </a:lvl8pPr>
            <a:lvl9pPr algn="l">
              <a:defRPr sz="2250" b="1">
                <a:solidFill>
                  <a:srgbClr val="082C24"/>
                </a:solidFill>
                <a:latin typeface="Avenir Next"/>
                <a:ea typeface="Avenir Next"/>
                <a:cs typeface="Avenir Next"/>
              </a:defRPr>
            </a:lvl9pPr>
          </a:lstStyle>
          <a:p xmlns:a="http://schemas.openxmlformats.org/drawingml/2006/main">
            <a:pPr algn="l">
              <a:defRPr sz="2250" b="1">
                <a:solidFill>
                  <a:srgbClr val="082C24"/>
                </a:solidFill>
                <a:latin typeface="Avenir Next"/>
                <a:ea typeface="Avenir Next"/>
                <a:cs typeface="Avenir Next"/>
              </a:defRPr>
            </a:pPr>
            <a:r>
              <a:rPr sz="2250" b="1">
                <a:solidFill>
                  <a:srgbClr val="082C24"/>
                </a:solidFill>
                <a:latin typeface="Avenir Next"/>
                <a:ea typeface="Avenir Next"/>
                <a:cs typeface="Avenir Next"/>
              </a:rPr>
              <a:t>Trust</a:t>
            </a:r>
          </a:p>
        </p:txBody>
      </p:sp>
      <p:sp>
        <p:nvSpPr>
          <p:cNvPr id="17" name="">
            <a:extLst xmlns:a="http://schemas.openxmlformats.org/drawingml/2006/main">
              <a:ext uri="{FF2B5EF4-FFF2-40B4-BE49-F238E27FC236}">
                <a16:creationId xmlns:a16="http://schemas.microsoft.com/office/drawing/2014/main" id="{3BDF5B97-4612-4157-8724-1706FC08F5DC}"/>
              </a:ext>
            </a:extLst>
          </p:cNvPr>
          <p:cNvSpPr>
            <a:spLocks xmlns:a="http://schemas.openxmlformats.org/drawingml/2006/main" noGrp="1"/>
          </p:cNvSpPr>
          <p:nvPr/>
        </p:nvSpPr>
        <p:spPr>
          <a:xfrm xmlns:a="http://schemas.openxmlformats.org/drawingml/2006/main">
            <a:off x="3333750" y="479107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40564E"/>
                </a:solidFill>
                <a:latin typeface="Avenir Next"/>
                <a:ea typeface="Avenir Next"/>
                <a:cs typeface="Avenir Next"/>
              </a:defRPr>
            </a:defPPr>
            <a:lvl1pPr algn="l">
              <a:defRPr sz="1800" b="0">
                <a:solidFill>
                  <a:srgbClr val="40564E"/>
                </a:solidFill>
                <a:latin typeface="Avenir Next"/>
                <a:ea typeface="Avenir Next"/>
                <a:cs typeface="Avenir Next"/>
              </a:defRPr>
            </a:lvl1pPr>
            <a:lvl2pPr algn="l">
              <a:defRPr sz="1800" b="0">
                <a:solidFill>
                  <a:srgbClr val="40564E"/>
                </a:solidFill>
                <a:latin typeface="Avenir Next"/>
                <a:ea typeface="Avenir Next"/>
                <a:cs typeface="Avenir Next"/>
              </a:defRPr>
            </a:lvl2pPr>
            <a:lvl3pPr algn="l">
              <a:defRPr sz="1800" b="0">
                <a:solidFill>
                  <a:srgbClr val="40564E"/>
                </a:solidFill>
                <a:latin typeface="Avenir Next"/>
                <a:ea typeface="Avenir Next"/>
                <a:cs typeface="Avenir Next"/>
              </a:defRPr>
            </a:lvl3pPr>
            <a:lvl4pPr algn="l">
              <a:defRPr sz="1800" b="0">
                <a:solidFill>
                  <a:srgbClr val="40564E"/>
                </a:solidFill>
                <a:latin typeface="Avenir Next"/>
                <a:ea typeface="Avenir Next"/>
                <a:cs typeface="Avenir Next"/>
              </a:defRPr>
            </a:lvl4pPr>
            <a:lvl5pPr algn="l">
              <a:defRPr sz="1800" b="0">
                <a:solidFill>
                  <a:srgbClr val="40564E"/>
                </a:solidFill>
                <a:latin typeface="Avenir Next"/>
                <a:ea typeface="Avenir Next"/>
                <a:cs typeface="Avenir Next"/>
              </a:defRPr>
            </a:lvl5pPr>
            <a:lvl6pPr algn="l">
              <a:defRPr sz="1800" b="0">
                <a:solidFill>
                  <a:srgbClr val="40564E"/>
                </a:solidFill>
                <a:latin typeface="Avenir Next"/>
                <a:ea typeface="Avenir Next"/>
                <a:cs typeface="Avenir Next"/>
              </a:defRPr>
            </a:lvl6pPr>
            <a:lvl7pPr algn="l">
              <a:defRPr sz="1800" b="0">
                <a:solidFill>
                  <a:srgbClr val="40564E"/>
                </a:solidFill>
                <a:latin typeface="Avenir Next"/>
                <a:ea typeface="Avenir Next"/>
                <a:cs typeface="Avenir Next"/>
              </a:defRPr>
            </a:lvl7pPr>
            <a:lvl8pPr algn="l">
              <a:defRPr sz="1800" b="0">
                <a:solidFill>
                  <a:srgbClr val="40564E"/>
                </a:solidFill>
                <a:latin typeface="Avenir Next"/>
                <a:ea typeface="Avenir Next"/>
                <a:cs typeface="Avenir Next"/>
              </a:defRPr>
            </a:lvl8pPr>
            <a:lvl9pPr algn="l">
              <a:defRPr sz="1800" b="0">
                <a:solidFill>
                  <a:srgbClr val="40564E"/>
                </a:solidFill>
                <a:latin typeface="Avenir Next"/>
                <a:ea typeface="Avenir Next"/>
                <a:cs typeface="Avenir Next"/>
              </a:defRPr>
            </a:lvl9pPr>
          </a:lstStyle>
          <a:p xmlns:a="http://schemas.openxmlformats.org/drawingml/2006/main">
            <a:pPr algn="l">
              <a:defRPr sz="1800" b="0">
                <a:solidFill>
                  <a:srgbClr val="40564E"/>
                </a:solidFill>
                <a:latin typeface="Avenir Next"/>
                <a:ea typeface="Avenir Next"/>
                <a:cs typeface="Avenir Next"/>
              </a:defRPr>
            </a:pPr>
            <a:r>
              <a:rPr sz="1800" b="0">
                <a:solidFill>
                  <a:srgbClr val="40564E"/>
                </a:solidFill>
                <a:latin typeface="Avenir Next"/>
                <a:ea typeface="Avenir Next"/>
                <a:cs typeface="Avenir Next"/>
              </a:rPr>
              <a:t>See rules for purchases, resale, entry and funds.</a:t>
            </a:r>
          </a:p>
        </p:txBody>
      </p:sp>
      <p:sp>
        <p:nvSpPr>
          <p:cNvPr id="18" name="">
            <a:extLst xmlns:a="http://schemas.openxmlformats.org/drawingml/2006/main">
              <a:ext uri="{FF2B5EF4-FFF2-40B4-BE49-F238E27FC236}">
                <a16:creationId xmlns:a16="http://schemas.microsoft.com/office/drawing/2014/main" id="{1ECE986B-320E-4D5A-995A-F7C21BB0DE40}"/>
              </a:ext>
            </a:extLst>
          </p:cNvPr>
          <p:cNvSpPr>
            <a:spLocks xmlns:a="http://schemas.openxmlformats.org/drawingml/2006/main" noGrp="1"/>
          </p:cNvSpPr>
          <p:nvPr/>
        </p:nvSpPr>
        <p:spPr>
          <a:xfrm xmlns:a="http://schemas.openxmlformats.org/drawingml/2006/main">
            <a:off x="876300" y="5753100"/>
            <a:ext cx="10077450" cy="381000"/>
          </a:xfrm>
          <a:prstGeom xmlns:a="http://schemas.openxmlformats.org/drawingml/2006/main" prst="roundRect">
            <a:avLst>
              <a:gd name="adj" fmla="val 30000"/>
            </a:avLst>
          </a:prstGeom>
          <a:solidFill xmlns:a="http://schemas.openxmlformats.org/drawingml/2006/main">
            <a:srgbClr val="F5E6B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A3790F-C671-498B-BDB3-C882109C25F5}"/>
              </a:ext>
            </a:extLst>
          </p:cNvPr>
          <p:cNvSpPr>
            <a:spLocks xmlns:a="http://schemas.openxmlformats.org/drawingml/2006/main" noGrp="1"/>
          </p:cNvSpPr>
          <p:nvPr/>
        </p:nvSpPr>
        <p:spPr>
          <a:xfrm xmlns:a="http://schemas.openxmlformats.org/drawingml/2006/main">
            <a:off x="1066800" y="5800725"/>
            <a:ext cx="9667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Motivation  ·  Put fan participation, ownership and rules in one connected experience.</a:t>
            </a:r>
          </a:p>
        </p:txBody>
      </p:sp>
    </p:spTree>
    <p:extLst>
      <p:ext uri="{BB962C8B-B14F-4D97-AF65-F5344CB8AC3E}">
        <p14:creationId xmlns:p14="http://schemas.microsoft.com/office/powerpoint/2010/main" val="1032241134"/>
      </p:ext>
    </p:extLst>
  </p:cSld>
</p:sld>
</file>

<file path=ppt/slides/slide3.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0A8E4B-CDD4-4BD2-AE08-4353716FC856}"/>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WHAT</a:t>
            </a:r>
          </a:p>
        </p:txBody>
      </p:sp>
      <p:sp>
        <p:nvSpPr>
          <p:cNvPr id="2" name="">
            <a:extLst xmlns:a="http://schemas.openxmlformats.org/drawingml/2006/main">
              <a:ext uri="{FF2B5EF4-FFF2-40B4-BE49-F238E27FC236}">
                <a16:creationId xmlns:a16="http://schemas.microsoft.com/office/drawing/2014/main" id="{C55F2C42-51E3-40DF-AB79-779FA44A34FF}"/>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Research aim and contribution</a:t>
            </a:r>
          </a:p>
        </p:txBody>
      </p:sp>
      <p:sp>
        <p:nvSpPr>
          <p:cNvPr id="3" name="">
            <a:extLst xmlns:a="http://schemas.openxmlformats.org/drawingml/2006/main">
              <a:ext uri="{FF2B5EF4-FFF2-40B4-BE49-F238E27FC236}">
                <a16:creationId xmlns:a16="http://schemas.microsoft.com/office/drawing/2014/main" id="{6FBBCA9D-76F0-432F-80CB-B34013963377}"/>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93"/>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Explore how a cricket app can connect live participation with user-owned assets and rules fans can inspect.</a:t>
            </a:r>
          </a:p>
        </p:txBody>
      </p:sp>
      <p:sp>
        <p:nvSpPr>
          <p:cNvPr id="4" name="">
            <a:extLst xmlns:a="http://schemas.openxmlformats.org/drawingml/2006/main">
              <a:ext uri="{FF2B5EF4-FFF2-40B4-BE49-F238E27FC236}">
                <a16:creationId xmlns:a16="http://schemas.microsoft.com/office/drawing/2014/main" id="{F3291BE1-C5F0-4C24-897A-6C9F3FA910DF}"/>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76530B1-F390-4358-A363-C8ED33137290}"/>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349BECF8-4349-4AAB-B102-B7FF801B50F5}"/>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03</a:t>
            </a:r>
          </a:p>
        </p:txBody>
      </p:sp>
      <p:sp>
        <p:nvSpPr>
          <p:cNvPr id="7" name="">
            <a:extLst xmlns:a="http://schemas.openxmlformats.org/drawingml/2006/main">
              <a:ext uri="{FF2B5EF4-FFF2-40B4-BE49-F238E27FC236}">
                <a16:creationId xmlns:a16="http://schemas.microsoft.com/office/drawing/2014/main" id="{CD4C0807-C71B-4001-8543-6DCFB739454E}"/>
              </a:ext>
            </a:extLst>
          </p:cNvPr>
          <p:cNvSpPr>
            <a:spLocks xmlns:a="http://schemas.openxmlformats.org/drawingml/2006/main" noGrp="1"/>
          </p:cNvSpPr>
          <p:nvPr/>
        </p:nvSpPr>
        <p:spPr>
          <a:xfrm xmlns:a="http://schemas.openxmlformats.org/drawingml/2006/main">
            <a:off x="876300" y="24384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GUIDING QUESTION</a:t>
            </a:r>
          </a:p>
        </p:txBody>
      </p:sp>
      <p:sp>
        <p:nvSpPr>
          <p:cNvPr id="8" name="">
            <a:extLst xmlns:a="http://schemas.openxmlformats.org/drawingml/2006/main">
              <a:ext uri="{FF2B5EF4-FFF2-40B4-BE49-F238E27FC236}">
                <a16:creationId xmlns:a16="http://schemas.microsoft.com/office/drawing/2014/main" id="{8E4F48D7-73FD-4095-B27D-68E7C7AACE6F}"/>
              </a:ext>
            </a:extLst>
          </p:cNvPr>
          <p:cNvSpPr>
            <a:spLocks xmlns:a="http://schemas.openxmlformats.org/drawingml/2006/main" noGrp="1"/>
          </p:cNvSpPr>
          <p:nvPr/>
        </p:nvSpPr>
        <p:spPr>
          <a:xfrm xmlns:a="http://schemas.openxmlformats.org/drawingml/2006/main">
            <a:off x="876300" y="2762250"/>
            <a:ext cx="99060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F5F2E8"/>
                </a:solidFill>
                <a:latin typeface="Avenir Next"/>
                <a:ea typeface="Avenir Next"/>
                <a:cs typeface="Avenir Next"/>
              </a:defRPr>
            </a:defPPr>
            <a:lvl1pPr algn="l">
              <a:defRPr sz="2250" b="1">
                <a:solidFill>
                  <a:srgbClr val="F5F2E8"/>
                </a:solidFill>
                <a:latin typeface="Avenir Next"/>
                <a:ea typeface="Avenir Next"/>
                <a:cs typeface="Avenir Next"/>
              </a:defRPr>
            </a:lvl1pPr>
            <a:lvl2pPr algn="l">
              <a:defRPr sz="2250" b="1">
                <a:solidFill>
                  <a:srgbClr val="F5F2E8"/>
                </a:solidFill>
                <a:latin typeface="Avenir Next"/>
                <a:ea typeface="Avenir Next"/>
                <a:cs typeface="Avenir Next"/>
              </a:defRPr>
            </a:lvl2pPr>
            <a:lvl3pPr algn="l">
              <a:defRPr sz="2250" b="1">
                <a:solidFill>
                  <a:srgbClr val="F5F2E8"/>
                </a:solidFill>
                <a:latin typeface="Avenir Next"/>
                <a:ea typeface="Avenir Next"/>
                <a:cs typeface="Avenir Next"/>
              </a:defRPr>
            </a:lvl3pPr>
            <a:lvl4pPr algn="l">
              <a:defRPr sz="2250" b="1">
                <a:solidFill>
                  <a:srgbClr val="F5F2E8"/>
                </a:solidFill>
                <a:latin typeface="Avenir Next"/>
                <a:ea typeface="Avenir Next"/>
                <a:cs typeface="Avenir Next"/>
              </a:defRPr>
            </a:lvl4pPr>
            <a:lvl5pPr algn="l">
              <a:defRPr sz="2250" b="1">
                <a:solidFill>
                  <a:srgbClr val="F5F2E8"/>
                </a:solidFill>
                <a:latin typeface="Avenir Next"/>
                <a:ea typeface="Avenir Next"/>
                <a:cs typeface="Avenir Next"/>
              </a:defRPr>
            </a:lvl5pPr>
            <a:lvl6pPr algn="l">
              <a:defRPr sz="2250" b="1">
                <a:solidFill>
                  <a:srgbClr val="F5F2E8"/>
                </a:solidFill>
                <a:latin typeface="Avenir Next"/>
                <a:ea typeface="Avenir Next"/>
                <a:cs typeface="Avenir Next"/>
              </a:defRPr>
            </a:lvl6pPr>
            <a:lvl7pPr algn="l">
              <a:defRPr sz="2250" b="1">
                <a:solidFill>
                  <a:srgbClr val="F5F2E8"/>
                </a:solidFill>
                <a:latin typeface="Avenir Next"/>
                <a:ea typeface="Avenir Next"/>
                <a:cs typeface="Avenir Next"/>
              </a:defRPr>
            </a:lvl7pPr>
            <a:lvl8pPr algn="l">
              <a:defRPr sz="2250" b="1">
                <a:solidFill>
                  <a:srgbClr val="F5F2E8"/>
                </a:solidFill>
                <a:latin typeface="Avenir Next"/>
                <a:ea typeface="Avenir Next"/>
                <a:cs typeface="Avenir Next"/>
              </a:defRPr>
            </a:lvl8pPr>
            <a:lvl9pPr algn="l">
              <a:defRPr sz="2250" b="1">
                <a:solidFill>
                  <a:srgbClr val="F5F2E8"/>
                </a:solidFill>
                <a:latin typeface="Avenir Next"/>
                <a:ea typeface="Avenir Next"/>
                <a:cs typeface="Avenir Next"/>
              </a:defRPr>
            </a:lvl9pPr>
          </a:lstStyle>
          <a:p xmlns:a="http://schemas.openxmlformats.org/drawingml/2006/main">
            <a:pPr algn="l">
              <a:defRPr sz="2250" b="1">
                <a:solidFill>
                  <a:srgbClr val="F5F2E8"/>
                </a:solidFill>
                <a:latin typeface="Avenir Next"/>
                <a:ea typeface="Avenir Next"/>
                <a:cs typeface="Avenir Next"/>
              </a:defRPr>
            </a:pPr>
            <a:r>
              <a:rPr sz="2250" b="1">
                <a:solidFill>
                  <a:srgbClr val="F5F2E8"/>
                </a:solidFill>
                <a:latin typeface="Avenir Next"/>
                <a:ea typeface="Avenir Next"/>
                <a:cs typeface="Avenir Next"/>
              </a:rPr>
              <a:t>How can one platform connect matchday activity with digital ownership without putting fast-changing match data on-chain?</a:t>
            </a:r>
          </a:p>
        </p:txBody>
      </p:sp>
      <p:sp>
        <p:nvSpPr>
          <p:cNvPr id="9" name="">
            <a:extLst xmlns:a="http://schemas.openxmlformats.org/drawingml/2006/main">
              <a:ext uri="{FF2B5EF4-FFF2-40B4-BE49-F238E27FC236}">
                <a16:creationId xmlns:a16="http://schemas.microsoft.com/office/drawing/2014/main" id="{D6D37E29-F016-48CD-9618-A8CAD9B9E196}"/>
              </a:ext>
            </a:extLst>
          </p:cNvPr>
          <p:cNvSpPr>
            <a:spLocks xmlns:a="http://schemas.openxmlformats.org/drawingml/2006/main" noGrp="1"/>
          </p:cNvSpPr>
          <p:nvPr/>
        </p:nvSpPr>
        <p:spPr>
          <a:xfrm xmlns:a="http://schemas.openxmlformats.org/drawingml/2006/main">
            <a:off x="876300" y="4057650"/>
            <a:ext cx="99822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D9A193-DCDF-453A-B7C9-0553F626823D}"/>
              </a:ext>
            </a:extLst>
          </p:cNvPr>
          <p:cNvSpPr>
            <a:spLocks xmlns:a="http://schemas.openxmlformats.org/drawingml/2006/main" noGrp="1"/>
          </p:cNvSpPr>
          <p:nvPr/>
        </p:nvSpPr>
        <p:spPr>
          <a:xfrm xmlns:a="http://schemas.openxmlformats.org/drawingml/2006/main">
            <a:off x="876300" y="440055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PROTOTYPE CONTRIBUTION</a:t>
            </a:r>
          </a:p>
        </p:txBody>
      </p:sp>
      <p:sp>
        <p:nvSpPr>
          <p:cNvPr id="11" name="">
            <a:extLst xmlns:a="http://schemas.openxmlformats.org/drawingml/2006/main">
              <a:ext uri="{FF2B5EF4-FFF2-40B4-BE49-F238E27FC236}">
                <a16:creationId xmlns:a16="http://schemas.microsoft.com/office/drawing/2014/main" id="{403F9E46-A8CE-4608-A0C6-6990C7440359}"/>
              </a:ext>
            </a:extLst>
          </p:cNvPr>
          <p:cNvSpPr>
            <a:spLocks xmlns:a="http://schemas.openxmlformats.org/drawingml/2006/main" noGrp="1"/>
          </p:cNvSpPr>
          <p:nvPr/>
        </p:nvSpPr>
        <p:spPr>
          <a:xfrm xmlns:a="http://schemas.openxmlformats.org/drawingml/2006/main">
            <a:off x="876300" y="471487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A9D9B9"/>
                </a:solidFill>
                <a:latin typeface="Avenir Next"/>
                <a:ea typeface="Avenir Next"/>
                <a:cs typeface="Avenir Next"/>
              </a:defRPr>
            </a:defPPr>
            <a:lvl1pPr algn="l">
              <a:defRPr sz="1875" b="0">
                <a:solidFill>
                  <a:srgbClr val="A9D9B9"/>
                </a:solidFill>
                <a:latin typeface="Avenir Next"/>
                <a:ea typeface="Avenir Next"/>
                <a:cs typeface="Avenir Next"/>
              </a:defRPr>
            </a:lvl1pPr>
            <a:lvl2pPr algn="l">
              <a:defRPr sz="1875" b="0">
                <a:solidFill>
                  <a:srgbClr val="A9D9B9"/>
                </a:solidFill>
                <a:latin typeface="Avenir Next"/>
                <a:ea typeface="Avenir Next"/>
                <a:cs typeface="Avenir Next"/>
              </a:defRPr>
            </a:lvl2pPr>
            <a:lvl3pPr algn="l">
              <a:defRPr sz="1875" b="0">
                <a:solidFill>
                  <a:srgbClr val="A9D9B9"/>
                </a:solidFill>
                <a:latin typeface="Avenir Next"/>
                <a:ea typeface="Avenir Next"/>
                <a:cs typeface="Avenir Next"/>
              </a:defRPr>
            </a:lvl3pPr>
            <a:lvl4pPr algn="l">
              <a:defRPr sz="1875" b="0">
                <a:solidFill>
                  <a:srgbClr val="A9D9B9"/>
                </a:solidFill>
                <a:latin typeface="Avenir Next"/>
                <a:ea typeface="Avenir Next"/>
                <a:cs typeface="Avenir Next"/>
              </a:defRPr>
            </a:lvl4pPr>
            <a:lvl5pPr algn="l">
              <a:defRPr sz="1875" b="0">
                <a:solidFill>
                  <a:srgbClr val="A9D9B9"/>
                </a:solidFill>
                <a:latin typeface="Avenir Next"/>
                <a:ea typeface="Avenir Next"/>
                <a:cs typeface="Avenir Next"/>
              </a:defRPr>
            </a:lvl5pPr>
            <a:lvl6pPr algn="l">
              <a:defRPr sz="1875" b="0">
                <a:solidFill>
                  <a:srgbClr val="A9D9B9"/>
                </a:solidFill>
                <a:latin typeface="Avenir Next"/>
                <a:ea typeface="Avenir Next"/>
                <a:cs typeface="Avenir Next"/>
              </a:defRPr>
            </a:lvl6pPr>
            <a:lvl7pPr algn="l">
              <a:defRPr sz="1875" b="0">
                <a:solidFill>
                  <a:srgbClr val="A9D9B9"/>
                </a:solidFill>
                <a:latin typeface="Avenir Next"/>
                <a:ea typeface="Avenir Next"/>
                <a:cs typeface="Avenir Next"/>
              </a:defRPr>
            </a:lvl7pPr>
            <a:lvl8pPr algn="l">
              <a:defRPr sz="1875" b="0">
                <a:solidFill>
                  <a:srgbClr val="A9D9B9"/>
                </a:solidFill>
                <a:latin typeface="Avenir Next"/>
                <a:ea typeface="Avenir Next"/>
                <a:cs typeface="Avenir Next"/>
              </a:defRPr>
            </a:lvl8pPr>
            <a:lvl9pPr algn="l">
              <a:defRPr sz="1875" b="0">
                <a:solidFill>
                  <a:srgbClr val="A9D9B9"/>
                </a:solidFill>
                <a:latin typeface="Avenir Next"/>
                <a:ea typeface="Avenir Next"/>
                <a:cs typeface="Avenir Next"/>
              </a:defRPr>
            </a:lvl9pPr>
          </a:lstStyle>
          <a:p xmlns:a="http://schemas.openxmlformats.org/drawingml/2006/main">
            <a:pPr algn="l">
              <a:defRPr sz="1875" b="0">
                <a:solidFill>
                  <a:srgbClr val="A9D9B9"/>
                </a:solidFill>
                <a:latin typeface="Avenir Next"/>
                <a:ea typeface="Avenir Next"/>
                <a:cs typeface="Avenir Next"/>
              </a:defRPr>
            </a:pPr>
            <a:r>
              <a:rPr sz="1875" b="0">
                <a:solidFill>
                  <a:srgbClr val="A9D9B9"/>
                </a:solidFill>
                <a:latin typeface="Avenir Next"/>
                <a:ea typeface="Avenir Next"/>
                <a:cs typeface="Avenir Next"/>
              </a:rPr>
              <a:t>An integrated proof of concept combining a cricket-data API, a fan-facing web app and wallet-signed contract actions.</a:t>
            </a:r>
          </a:p>
        </p:txBody>
      </p:sp>
    </p:spTree>
    <p:extLst>
      <p:ext uri="{BB962C8B-B14F-4D97-AF65-F5344CB8AC3E}">
        <p14:creationId xmlns:p14="http://schemas.microsoft.com/office/powerpoint/2010/main" val="1740474983"/>
      </p:ext>
    </p:extLst>
  </p:cSld>
</p:sld>
</file>

<file path=ppt/slides/slide4.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C45FE97-5BAB-4EA0-A697-B726A7213E07}"/>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WHAT</a:t>
            </a:r>
          </a:p>
        </p:txBody>
      </p:sp>
      <p:sp>
        <p:nvSpPr>
          <p:cNvPr id="2" name="">
            <a:extLst xmlns:a="http://schemas.openxmlformats.org/drawingml/2006/main">
              <a:ext uri="{FF2B5EF4-FFF2-40B4-BE49-F238E27FC236}">
                <a16:creationId xmlns:a16="http://schemas.microsoft.com/office/drawing/2014/main" id="{CFC44A11-47DB-4F06-9446-EA76122E7E28}"/>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fan’s matchday in CricketVerse</a:t>
            </a:r>
          </a:p>
        </p:txBody>
      </p:sp>
      <p:sp>
        <p:nvSpPr>
          <p:cNvPr id="3" name="">
            <a:extLst xmlns:a="http://schemas.openxmlformats.org/drawingml/2006/main">
              <a:ext uri="{FF2B5EF4-FFF2-40B4-BE49-F238E27FC236}">
                <a16:creationId xmlns:a16="http://schemas.microsoft.com/office/drawing/2014/main" id="{6635A580-DDD9-4362-952D-365D84CB4235}"/>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A single journey links the actions that are otherwise treated as separate features.</a:t>
            </a:r>
          </a:p>
        </p:txBody>
      </p:sp>
      <p:sp>
        <p:nvSpPr>
          <p:cNvPr id="4" name="">
            <a:extLst xmlns:a="http://schemas.openxmlformats.org/drawingml/2006/main">
              <a:ext uri="{FF2B5EF4-FFF2-40B4-BE49-F238E27FC236}">
                <a16:creationId xmlns:a16="http://schemas.microsoft.com/office/drawing/2014/main" id="{DB9A6F7F-58BA-4025-A961-931D63A85CFA}"/>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ECC093-3061-4BFB-80B9-9CED306897F8}"/>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96F74920-12FB-44C6-B576-565F91107A9F}"/>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04</a:t>
            </a:r>
          </a:p>
        </p:txBody>
      </p:sp>
      <p:sp>
        <p:nvSpPr>
          <p:cNvPr id="7" name="">
            <a:extLst xmlns:a="http://schemas.openxmlformats.org/drawingml/2006/main">
              <a:ext uri="{FF2B5EF4-FFF2-40B4-BE49-F238E27FC236}">
                <a16:creationId xmlns:a16="http://schemas.microsoft.com/office/drawing/2014/main" id="{F7C07BA1-113C-4379-BD53-B0B63F6802B2}"/>
              </a:ext>
            </a:extLst>
          </p:cNvPr>
          <p:cNvSpPr>
            <a:spLocks xmlns:a="http://schemas.openxmlformats.org/drawingml/2006/main" noGrp="1"/>
          </p:cNvSpPr>
          <p:nvPr/>
        </p:nvSpPr>
        <p:spPr>
          <a:xfrm xmlns:a="http://schemas.openxmlformats.org/drawingml/2006/main">
            <a:off x="2000250" y="2743200"/>
            <a:ext cx="819150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083BE5-386B-4489-8200-72BDF06230EF}"/>
              </a:ext>
            </a:extLst>
          </p:cNvPr>
          <p:cNvSpPr>
            <a:spLocks xmlns:a="http://schemas.openxmlformats.org/drawingml/2006/main" noGrp="1"/>
          </p:cNvSpPr>
          <p:nvPr/>
        </p:nvSpPr>
        <p:spPr>
          <a:xfrm xmlns:a="http://schemas.openxmlformats.org/drawingml/2006/main">
            <a:off x="1819275" y="2562225"/>
            <a:ext cx="361950" cy="361950"/>
          </a:xfrm>
          <a:prstGeom xmlns:a="http://schemas.openxmlformats.org/drawingml/2006/main" prst="roundRect">
            <a:avLst>
              <a:gd name="adj" fmla="val 31579"/>
            </a:avLst>
          </a:prstGeom>
          <a:solidFill xmlns:a="http://schemas.openxmlformats.org/drawingml/2006/main">
            <a:srgbClr val="14523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ABBEC9E-9B51-45C8-AC0B-D8CBDD58724E}"/>
              </a:ext>
            </a:extLst>
          </p:cNvPr>
          <p:cNvSpPr>
            <a:spLocks xmlns:a="http://schemas.openxmlformats.org/drawingml/2006/main" noGrp="1"/>
          </p:cNvSpPr>
          <p:nvPr/>
        </p:nvSpPr>
        <p:spPr>
          <a:xfrm xmlns:a="http://schemas.openxmlformats.org/drawingml/2006/main">
            <a:off x="36195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Before play</a:t>
            </a:r>
          </a:p>
        </p:txBody>
      </p:sp>
      <p:sp>
        <p:nvSpPr>
          <p:cNvPr id="10" name="">
            <a:extLst xmlns:a="http://schemas.openxmlformats.org/drawingml/2006/main">
              <a:ext uri="{FF2B5EF4-FFF2-40B4-BE49-F238E27FC236}">
                <a16:creationId xmlns:a16="http://schemas.microsoft.com/office/drawing/2014/main" id="{5431F82A-33E3-4DD8-9B45-5F745D8A5F85}"/>
              </a:ext>
            </a:extLst>
          </p:cNvPr>
          <p:cNvSpPr>
            <a:spLocks xmlns:a="http://schemas.openxmlformats.org/drawingml/2006/main" noGrp="1"/>
          </p:cNvSpPr>
          <p:nvPr/>
        </p:nvSpPr>
        <p:spPr>
          <a:xfrm xmlns:a="http://schemas.openxmlformats.org/drawingml/2006/main">
            <a:off x="40005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Choose today’s fixture</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Build a Matchday XI</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Collect a favourite player card</a:t>
            </a:r>
          </a:p>
        </p:txBody>
      </p:sp>
      <p:sp>
        <p:nvSpPr>
          <p:cNvPr id="11" name="">
            <a:extLst xmlns:a="http://schemas.openxmlformats.org/drawingml/2006/main">
              <a:ext uri="{FF2B5EF4-FFF2-40B4-BE49-F238E27FC236}">
                <a16:creationId xmlns:a16="http://schemas.microsoft.com/office/drawing/2014/main" id="{6E7E6CAA-0776-4290-B805-9A58E0E0D1ED}"/>
              </a:ext>
            </a:extLst>
          </p:cNvPr>
          <p:cNvSpPr>
            <a:spLocks xmlns:a="http://schemas.openxmlformats.org/drawingml/2006/main" noGrp="1"/>
          </p:cNvSpPr>
          <p:nvPr/>
        </p:nvSpPr>
        <p:spPr>
          <a:xfrm xmlns:a="http://schemas.openxmlformats.org/drawingml/2006/main">
            <a:off x="5915025" y="2562225"/>
            <a:ext cx="361950" cy="361950"/>
          </a:xfrm>
          <a:prstGeom xmlns:a="http://schemas.openxmlformats.org/drawingml/2006/main" prst="roundRect">
            <a:avLst>
              <a:gd name="adj" fmla="val 31579"/>
            </a:avLst>
          </a:prstGeom>
          <a:solidFill xmlns:a="http://schemas.openxmlformats.org/drawingml/2006/main">
            <a:srgbClr val="E7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606F46-4857-4DF8-A9CF-793B425933C5}"/>
              </a:ext>
            </a:extLst>
          </p:cNvPr>
          <p:cNvSpPr>
            <a:spLocks xmlns:a="http://schemas.openxmlformats.org/drawingml/2006/main" noGrp="1"/>
          </p:cNvSpPr>
          <p:nvPr/>
        </p:nvSpPr>
        <p:spPr>
          <a:xfrm xmlns:a="http://schemas.openxmlformats.org/drawingml/2006/main">
            <a:off x="445770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During play</a:t>
            </a:r>
          </a:p>
        </p:txBody>
      </p:sp>
      <p:sp>
        <p:nvSpPr>
          <p:cNvPr id="13" name="">
            <a:extLst xmlns:a="http://schemas.openxmlformats.org/drawingml/2006/main">
              <a:ext uri="{FF2B5EF4-FFF2-40B4-BE49-F238E27FC236}">
                <a16:creationId xmlns:a16="http://schemas.microsoft.com/office/drawing/2014/main" id="{45A1024C-2094-47A7-ADBE-45F4FF8FFF4C}"/>
              </a:ext>
            </a:extLst>
          </p:cNvPr>
          <p:cNvSpPr>
            <a:spLocks xmlns:a="http://schemas.openxmlformats.org/drawingml/2006/main" noGrp="1"/>
          </p:cNvSpPr>
          <p:nvPr/>
        </p:nvSpPr>
        <p:spPr>
          <a:xfrm xmlns:a="http://schemas.openxmlformats.org/drawingml/2006/main">
            <a:off x="449580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Follow provider-fed points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Take part in fan polls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Check contest progress</a:t>
            </a:r>
          </a:p>
        </p:txBody>
      </p:sp>
      <p:sp>
        <p:nvSpPr>
          <p:cNvPr id="14" name="">
            <a:extLst xmlns:a="http://schemas.openxmlformats.org/drawingml/2006/main">
              <a:ext uri="{FF2B5EF4-FFF2-40B4-BE49-F238E27FC236}">
                <a16:creationId xmlns:a16="http://schemas.microsoft.com/office/drawing/2014/main" id="{CA6FA145-8A57-488A-A0CD-8BCF43BE7AEB}"/>
              </a:ext>
            </a:extLst>
          </p:cNvPr>
          <p:cNvSpPr>
            <a:spLocks xmlns:a="http://schemas.openxmlformats.org/drawingml/2006/main" noGrp="1"/>
          </p:cNvSpPr>
          <p:nvPr/>
        </p:nvSpPr>
        <p:spPr>
          <a:xfrm xmlns:a="http://schemas.openxmlformats.org/drawingml/2006/main">
            <a:off x="10010775" y="2562225"/>
            <a:ext cx="361950" cy="361950"/>
          </a:xfrm>
          <a:prstGeom xmlns:a="http://schemas.openxmlformats.org/drawingml/2006/main" prst="roundRect">
            <a:avLst>
              <a:gd name="adj" fmla="val 31579"/>
            </a:avLst>
          </a:prstGeom>
          <a:solidFill xmlns:a="http://schemas.openxmlformats.org/drawingml/2006/main">
            <a:srgbClr val="E47B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5053192-08DE-4648-805E-08A608E7797E}"/>
              </a:ext>
            </a:extLst>
          </p:cNvPr>
          <p:cNvSpPr>
            <a:spLocks xmlns:a="http://schemas.openxmlformats.org/drawingml/2006/main" noGrp="1"/>
          </p:cNvSpPr>
          <p:nvPr/>
        </p:nvSpPr>
        <p:spPr>
          <a:xfrm xmlns:a="http://schemas.openxmlformats.org/drawingml/2006/main">
            <a:off x="8553450" y="3219450"/>
            <a:ext cx="327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175" b="1">
                <a:solidFill>
                  <a:srgbClr val="082C24"/>
                </a:solidFill>
                <a:latin typeface="Avenir Next"/>
                <a:ea typeface="Avenir Next"/>
                <a:cs typeface="Avenir Next"/>
              </a:defRPr>
            </a:defPPr>
            <a:lvl1pPr algn="ctr">
              <a:defRPr sz="2175" b="1">
                <a:solidFill>
                  <a:srgbClr val="082C24"/>
                </a:solidFill>
                <a:latin typeface="Avenir Next"/>
                <a:ea typeface="Avenir Next"/>
                <a:cs typeface="Avenir Next"/>
              </a:defRPr>
            </a:lvl1pPr>
            <a:lvl2pPr algn="ctr">
              <a:defRPr sz="2175" b="1">
                <a:solidFill>
                  <a:srgbClr val="082C24"/>
                </a:solidFill>
                <a:latin typeface="Avenir Next"/>
                <a:ea typeface="Avenir Next"/>
                <a:cs typeface="Avenir Next"/>
              </a:defRPr>
            </a:lvl2pPr>
            <a:lvl3pPr algn="ctr">
              <a:defRPr sz="2175" b="1">
                <a:solidFill>
                  <a:srgbClr val="082C24"/>
                </a:solidFill>
                <a:latin typeface="Avenir Next"/>
                <a:ea typeface="Avenir Next"/>
                <a:cs typeface="Avenir Next"/>
              </a:defRPr>
            </a:lvl3pPr>
            <a:lvl4pPr algn="ctr">
              <a:defRPr sz="2175" b="1">
                <a:solidFill>
                  <a:srgbClr val="082C24"/>
                </a:solidFill>
                <a:latin typeface="Avenir Next"/>
                <a:ea typeface="Avenir Next"/>
                <a:cs typeface="Avenir Next"/>
              </a:defRPr>
            </a:lvl4pPr>
            <a:lvl5pPr algn="ctr">
              <a:defRPr sz="2175" b="1">
                <a:solidFill>
                  <a:srgbClr val="082C24"/>
                </a:solidFill>
                <a:latin typeface="Avenir Next"/>
                <a:ea typeface="Avenir Next"/>
                <a:cs typeface="Avenir Next"/>
              </a:defRPr>
            </a:lvl5pPr>
            <a:lvl6pPr algn="ctr">
              <a:defRPr sz="2175" b="1">
                <a:solidFill>
                  <a:srgbClr val="082C24"/>
                </a:solidFill>
                <a:latin typeface="Avenir Next"/>
                <a:ea typeface="Avenir Next"/>
                <a:cs typeface="Avenir Next"/>
              </a:defRPr>
            </a:lvl6pPr>
            <a:lvl7pPr algn="ctr">
              <a:defRPr sz="2175" b="1">
                <a:solidFill>
                  <a:srgbClr val="082C24"/>
                </a:solidFill>
                <a:latin typeface="Avenir Next"/>
                <a:ea typeface="Avenir Next"/>
                <a:cs typeface="Avenir Next"/>
              </a:defRPr>
            </a:lvl7pPr>
            <a:lvl8pPr algn="ctr">
              <a:defRPr sz="2175" b="1">
                <a:solidFill>
                  <a:srgbClr val="082C24"/>
                </a:solidFill>
                <a:latin typeface="Avenir Next"/>
                <a:ea typeface="Avenir Next"/>
                <a:cs typeface="Avenir Next"/>
              </a:defRPr>
            </a:lvl8pPr>
            <a:lvl9pPr algn="ctr">
              <a:defRPr sz="2175" b="1">
                <a:solidFill>
                  <a:srgbClr val="082C24"/>
                </a:solidFill>
                <a:latin typeface="Avenir Next"/>
                <a:ea typeface="Avenir Next"/>
                <a:cs typeface="Avenir Next"/>
              </a:defRPr>
            </a:lvl9pPr>
          </a:lstStyle>
          <a:p xmlns:a="http://schemas.openxmlformats.org/drawingml/2006/main">
            <a:pPr algn="ctr">
              <a:defRPr sz="2175" b="1">
                <a:solidFill>
                  <a:srgbClr val="082C24"/>
                </a:solidFill>
                <a:latin typeface="Avenir Next"/>
                <a:ea typeface="Avenir Next"/>
                <a:cs typeface="Avenir Next"/>
              </a:defRPr>
            </a:pPr>
            <a:r>
              <a:rPr sz="2175" b="1">
                <a:solidFill>
                  <a:srgbClr val="082C24"/>
                </a:solidFill>
                <a:latin typeface="Avenir Next"/>
                <a:ea typeface="Avenir Next"/>
                <a:cs typeface="Avenir Next"/>
              </a:rPr>
              <a:t>After play</a:t>
            </a:r>
          </a:p>
        </p:txBody>
      </p:sp>
      <p:sp>
        <p:nvSpPr>
          <p:cNvPr id="16" name="">
            <a:extLst xmlns:a="http://schemas.openxmlformats.org/drawingml/2006/main">
              <a:ext uri="{FF2B5EF4-FFF2-40B4-BE49-F238E27FC236}">
                <a16:creationId xmlns:a16="http://schemas.microsoft.com/office/drawing/2014/main" id="{529C240B-29C1-4A10-96B1-5F04747FE01D}"/>
              </a:ext>
            </a:extLst>
          </p:cNvPr>
          <p:cNvSpPr>
            <a:spLocks xmlns:a="http://schemas.openxmlformats.org/drawingml/2006/main" noGrp="1"/>
          </p:cNvSpPr>
          <p:nvPr/>
        </p:nvSpPr>
        <p:spPr>
          <a:xfrm xmlns:a="http://schemas.openxmlformats.org/drawingml/2006/main">
            <a:off x="8591550" y="3752850"/>
            <a:ext cx="32004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a:solidFill>
                  <a:srgbClr val="40564E"/>
                </a:solidFill>
                <a:latin typeface="Avenir Next"/>
                <a:ea typeface="Avenir Next"/>
                <a:cs typeface="Avenir Next"/>
              </a:defRPr>
            </a:defPPr>
            <a:lvl1pPr algn="ctr">
              <a:defRPr sz="1650" b="0">
                <a:solidFill>
                  <a:srgbClr val="40564E"/>
                </a:solidFill>
                <a:latin typeface="Avenir Next"/>
                <a:ea typeface="Avenir Next"/>
                <a:cs typeface="Avenir Next"/>
              </a:defRPr>
            </a:lvl1pPr>
            <a:lvl2pPr algn="ctr">
              <a:defRPr sz="1650" b="0">
                <a:solidFill>
                  <a:srgbClr val="40564E"/>
                </a:solidFill>
                <a:latin typeface="Avenir Next"/>
                <a:ea typeface="Avenir Next"/>
                <a:cs typeface="Avenir Next"/>
              </a:defRPr>
            </a:lvl2pPr>
            <a:lvl3pPr algn="ctr">
              <a:defRPr sz="1650" b="0">
                <a:solidFill>
                  <a:srgbClr val="40564E"/>
                </a:solidFill>
                <a:latin typeface="Avenir Next"/>
                <a:ea typeface="Avenir Next"/>
                <a:cs typeface="Avenir Next"/>
              </a:defRPr>
            </a:lvl3pPr>
            <a:lvl4pPr algn="ctr">
              <a:defRPr sz="1650" b="0">
                <a:solidFill>
                  <a:srgbClr val="40564E"/>
                </a:solidFill>
                <a:latin typeface="Avenir Next"/>
                <a:ea typeface="Avenir Next"/>
                <a:cs typeface="Avenir Next"/>
              </a:defRPr>
            </a:lvl4pPr>
            <a:lvl5pPr algn="ctr">
              <a:defRPr sz="1650" b="0">
                <a:solidFill>
                  <a:srgbClr val="40564E"/>
                </a:solidFill>
                <a:latin typeface="Avenir Next"/>
                <a:ea typeface="Avenir Next"/>
                <a:cs typeface="Avenir Next"/>
              </a:defRPr>
            </a:lvl5pPr>
            <a:lvl6pPr algn="ctr">
              <a:defRPr sz="1650" b="0">
                <a:solidFill>
                  <a:srgbClr val="40564E"/>
                </a:solidFill>
                <a:latin typeface="Avenir Next"/>
                <a:ea typeface="Avenir Next"/>
                <a:cs typeface="Avenir Next"/>
              </a:defRPr>
            </a:lvl6pPr>
            <a:lvl7pPr algn="ctr">
              <a:defRPr sz="1650" b="0">
                <a:solidFill>
                  <a:srgbClr val="40564E"/>
                </a:solidFill>
                <a:latin typeface="Avenir Next"/>
                <a:ea typeface="Avenir Next"/>
                <a:cs typeface="Avenir Next"/>
              </a:defRPr>
            </a:lvl7pPr>
            <a:lvl8pPr algn="ctr">
              <a:defRPr sz="1650" b="0">
                <a:solidFill>
                  <a:srgbClr val="40564E"/>
                </a:solidFill>
                <a:latin typeface="Avenir Next"/>
                <a:ea typeface="Avenir Next"/>
                <a:cs typeface="Avenir Next"/>
              </a:defRPr>
            </a:lvl8pPr>
            <a:lvl9pPr algn="ctr">
              <a:defRPr sz="1650" b="0">
                <a:solidFill>
                  <a:srgbClr val="40564E"/>
                </a:solidFill>
                <a:latin typeface="Avenir Next"/>
                <a:ea typeface="Avenir Next"/>
                <a:cs typeface="Avenir Next"/>
              </a:defRPr>
            </a:lvl9pPr>
          </a:lstStyle>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Keep or trade cards</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Review ticket activity</a:t>
            </a:r>
          </a:p>
          <a:p xmlns:a="http://schemas.openxmlformats.org/drawingml/2006/main">
            <a:pPr algn="ctr">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See contest settlement status</a:t>
            </a:r>
          </a:p>
        </p:txBody>
      </p:sp>
      <p:sp>
        <p:nvSpPr>
          <p:cNvPr id="17" name="">
            <a:extLst xmlns:a="http://schemas.openxmlformats.org/drawingml/2006/main">
              <a:ext uri="{FF2B5EF4-FFF2-40B4-BE49-F238E27FC236}">
                <a16:creationId xmlns:a16="http://schemas.microsoft.com/office/drawing/2014/main" id="{7D2DB283-7250-40CF-A5B5-C178341D8F57}"/>
              </a:ext>
            </a:extLst>
          </p:cNvPr>
          <p:cNvSpPr>
            <a:spLocks xmlns:a="http://schemas.openxmlformats.org/drawingml/2006/main" noGrp="1"/>
          </p:cNvSpPr>
          <p:nvPr/>
        </p:nvSpPr>
        <p:spPr>
          <a:xfrm xmlns:a="http://schemas.openxmlformats.org/drawingml/2006/main">
            <a:off x="1333500" y="54483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4523F"/>
                </a:solidFill>
                <a:latin typeface="Avenir Next"/>
                <a:ea typeface="Avenir Next"/>
                <a:cs typeface="Avenir Next"/>
              </a:defRPr>
            </a:defPPr>
            <a:lvl1pPr algn="ctr">
              <a:defRPr sz="1650" b="1">
                <a:solidFill>
                  <a:srgbClr val="14523F"/>
                </a:solidFill>
                <a:latin typeface="Avenir Next"/>
                <a:ea typeface="Avenir Next"/>
                <a:cs typeface="Avenir Next"/>
              </a:defRPr>
            </a:lvl1pPr>
            <a:lvl2pPr algn="ctr">
              <a:defRPr sz="1650" b="1">
                <a:solidFill>
                  <a:srgbClr val="14523F"/>
                </a:solidFill>
                <a:latin typeface="Avenir Next"/>
                <a:ea typeface="Avenir Next"/>
                <a:cs typeface="Avenir Next"/>
              </a:defRPr>
            </a:lvl2pPr>
            <a:lvl3pPr algn="ctr">
              <a:defRPr sz="1650" b="1">
                <a:solidFill>
                  <a:srgbClr val="14523F"/>
                </a:solidFill>
                <a:latin typeface="Avenir Next"/>
                <a:ea typeface="Avenir Next"/>
                <a:cs typeface="Avenir Next"/>
              </a:defRPr>
            </a:lvl3pPr>
            <a:lvl4pPr algn="ctr">
              <a:defRPr sz="1650" b="1">
                <a:solidFill>
                  <a:srgbClr val="14523F"/>
                </a:solidFill>
                <a:latin typeface="Avenir Next"/>
                <a:ea typeface="Avenir Next"/>
                <a:cs typeface="Avenir Next"/>
              </a:defRPr>
            </a:lvl4pPr>
            <a:lvl5pPr algn="ctr">
              <a:defRPr sz="1650" b="1">
                <a:solidFill>
                  <a:srgbClr val="14523F"/>
                </a:solidFill>
                <a:latin typeface="Avenir Next"/>
                <a:ea typeface="Avenir Next"/>
                <a:cs typeface="Avenir Next"/>
              </a:defRPr>
            </a:lvl5pPr>
            <a:lvl6pPr algn="ctr">
              <a:defRPr sz="1650" b="1">
                <a:solidFill>
                  <a:srgbClr val="14523F"/>
                </a:solidFill>
                <a:latin typeface="Avenir Next"/>
                <a:ea typeface="Avenir Next"/>
                <a:cs typeface="Avenir Next"/>
              </a:defRPr>
            </a:lvl6pPr>
            <a:lvl7pPr algn="ctr">
              <a:defRPr sz="1650" b="1">
                <a:solidFill>
                  <a:srgbClr val="14523F"/>
                </a:solidFill>
                <a:latin typeface="Avenir Next"/>
                <a:ea typeface="Avenir Next"/>
                <a:cs typeface="Avenir Next"/>
              </a:defRPr>
            </a:lvl7pPr>
            <a:lvl8pPr algn="ctr">
              <a:defRPr sz="1650" b="1">
                <a:solidFill>
                  <a:srgbClr val="14523F"/>
                </a:solidFill>
                <a:latin typeface="Avenir Next"/>
                <a:ea typeface="Avenir Next"/>
                <a:cs typeface="Avenir Next"/>
              </a:defRPr>
            </a:lvl8pPr>
            <a:lvl9pPr algn="ctr">
              <a:defRPr sz="1650" b="1">
                <a:solidFill>
                  <a:srgbClr val="14523F"/>
                </a:solidFill>
                <a:latin typeface="Avenir Next"/>
                <a:ea typeface="Avenir Next"/>
                <a:cs typeface="Avenir Next"/>
              </a:defRPr>
            </a:lvl9pPr>
          </a:lstStyle>
          <a:p xmlns:a="http://schemas.openxmlformats.org/drawingml/2006/main">
            <a:pPr algn="ctr">
              <a:defRPr sz="1650" b="1">
                <a:solidFill>
                  <a:srgbClr val="14523F"/>
                </a:solidFill>
                <a:latin typeface="Avenir Next"/>
                <a:ea typeface="Avenir Next"/>
                <a:cs typeface="Avenir Next"/>
              </a:defRPr>
            </a:pPr>
            <a:r>
              <a:rPr sz="1650" b="1">
                <a:solidFill>
                  <a:srgbClr val="14523F"/>
                </a:solidFill>
                <a:latin typeface="Avenir Next"/>
                <a:ea typeface="Avenir Next"/>
                <a:cs typeface="Avenir Next"/>
              </a:rPr>
              <a:t>The wallet is used when the fan chooses to buy, trade, vote or enter.</a:t>
            </a:r>
          </a:p>
        </p:txBody>
      </p:sp>
    </p:spTree>
    <p:extLst>
      <p:ext uri="{BB962C8B-B14F-4D97-AF65-F5344CB8AC3E}">
        <p14:creationId xmlns:p14="http://schemas.microsoft.com/office/powerpoint/2010/main" val="114313913"/>
      </p:ext>
    </p:extLst>
  </p:cSld>
</p:sld>
</file>

<file path=ppt/slides/slide5.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4CE2333-5D5F-43AB-BC9E-CBDF03BF79C1}"/>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HOW · MATCHDAY</a:t>
            </a:r>
          </a:p>
        </p:txBody>
      </p:sp>
      <p:sp>
        <p:nvSpPr>
          <p:cNvPr id="2" name="">
            <a:extLst xmlns:a="http://schemas.openxmlformats.org/drawingml/2006/main">
              <a:ext uri="{FF2B5EF4-FFF2-40B4-BE49-F238E27FC236}">
                <a16:creationId xmlns:a16="http://schemas.microsoft.com/office/drawing/2014/main" id="{7DF5047A-C8BF-4F09-AB34-9B471C3F0CCA}"/>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Matchday XI gives fans a role in the game</a:t>
            </a:r>
          </a:p>
        </p:txBody>
      </p:sp>
      <p:sp>
        <p:nvSpPr>
          <p:cNvPr id="3" name="">
            <a:extLst xmlns:a="http://schemas.openxmlformats.org/drawingml/2006/main">
              <a:ext uri="{FF2B5EF4-FFF2-40B4-BE49-F238E27FC236}">
                <a16:creationId xmlns:a16="http://schemas.microsoft.com/office/drawing/2014/main" id="{E44355F1-954F-4AF6-8E23-4F8AF1BCE073}"/>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The app turns a confirmed playing list into a squad the fan can shape.</a:t>
            </a:r>
          </a:p>
        </p:txBody>
      </p:sp>
      <p:sp>
        <p:nvSpPr>
          <p:cNvPr id="4" name="">
            <a:extLst xmlns:a="http://schemas.openxmlformats.org/drawingml/2006/main">
              <a:ext uri="{FF2B5EF4-FFF2-40B4-BE49-F238E27FC236}">
                <a16:creationId xmlns:a16="http://schemas.microsoft.com/office/drawing/2014/main" id="{F34D3955-BFE4-43B5-A715-21D0F0317D23}"/>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91E435-3F9A-4BB8-926F-98A6088182C3}"/>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C34C7878-5FF7-4BE6-A050-B5FF87FC005A}"/>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05</a:t>
            </a:r>
          </a:p>
        </p:txBody>
      </p:sp>
      <p:sp>
        <p:nvSpPr>
          <p:cNvPr id="7" name="">
            <a:extLst xmlns:a="http://schemas.openxmlformats.org/drawingml/2006/main">
              <a:ext uri="{FF2B5EF4-FFF2-40B4-BE49-F238E27FC236}">
                <a16:creationId xmlns:a16="http://schemas.microsoft.com/office/drawing/2014/main" id="{7780E7F3-41BB-44EC-9B59-E24C1855592D}"/>
              </a:ext>
            </a:extLst>
          </p:cNvPr>
          <p:cNvSpPr>
            <a:spLocks xmlns:a="http://schemas.openxmlformats.org/drawingml/2006/main" noGrp="1"/>
          </p:cNvSpPr>
          <p:nvPr/>
        </p:nvSpPr>
        <p:spPr>
          <a:xfrm xmlns:a="http://schemas.openxmlformats.org/drawingml/2006/main">
            <a:off x="1143000" y="24384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0" b="1">
                <a:solidFill>
                  <a:srgbClr val="E7B942"/>
                </a:solidFill>
                <a:latin typeface="Avenir Next"/>
                <a:ea typeface="Avenir Next"/>
                <a:cs typeface="Avenir Next"/>
              </a:defRPr>
            </a:defPPr>
            <a:lvl1pPr algn="ctr">
              <a:defRPr sz="8250" b="1">
                <a:solidFill>
                  <a:srgbClr val="E7B942"/>
                </a:solidFill>
                <a:latin typeface="Avenir Next"/>
                <a:ea typeface="Avenir Next"/>
                <a:cs typeface="Avenir Next"/>
              </a:defRPr>
            </a:lvl1pPr>
            <a:lvl2pPr algn="ctr">
              <a:defRPr sz="8250" b="1">
                <a:solidFill>
                  <a:srgbClr val="E7B942"/>
                </a:solidFill>
                <a:latin typeface="Avenir Next"/>
                <a:ea typeface="Avenir Next"/>
                <a:cs typeface="Avenir Next"/>
              </a:defRPr>
            </a:lvl2pPr>
            <a:lvl3pPr algn="ctr">
              <a:defRPr sz="8250" b="1">
                <a:solidFill>
                  <a:srgbClr val="E7B942"/>
                </a:solidFill>
                <a:latin typeface="Avenir Next"/>
                <a:ea typeface="Avenir Next"/>
                <a:cs typeface="Avenir Next"/>
              </a:defRPr>
            </a:lvl3pPr>
            <a:lvl4pPr algn="ctr">
              <a:defRPr sz="8250" b="1">
                <a:solidFill>
                  <a:srgbClr val="E7B942"/>
                </a:solidFill>
                <a:latin typeface="Avenir Next"/>
                <a:ea typeface="Avenir Next"/>
                <a:cs typeface="Avenir Next"/>
              </a:defRPr>
            </a:lvl4pPr>
            <a:lvl5pPr algn="ctr">
              <a:defRPr sz="8250" b="1">
                <a:solidFill>
                  <a:srgbClr val="E7B942"/>
                </a:solidFill>
                <a:latin typeface="Avenir Next"/>
                <a:ea typeface="Avenir Next"/>
                <a:cs typeface="Avenir Next"/>
              </a:defRPr>
            </a:lvl5pPr>
            <a:lvl6pPr algn="ctr">
              <a:defRPr sz="8250" b="1">
                <a:solidFill>
                  <a:srgbClr val="E7B942"/>
                </a:solidFill>
                <a:latin typeface="Avenir Next"/>
                <a:ea typeface="Avenir Next"/>
                <a:cs typeface="Avenir Next"/>
              </a:defRPr>
            </a:lvl6pPr>
            <a:lvl7pPr algn="ctr">
              <a:defRPr sz="8250" b="1">
                <a:solidFill>
                  <a:srgbClr val="E7B942"/>
                </a:solidFill>
                <a:latin typeface="Avenir Next"/>
                <a:ea typeface="Avenir Next"/>
                <a:cs typeface="Avenir Next"/>
              </a:defRPr>
            </a:lvl7pPr>
            <a:lvl8pPr algn="ctr">
              <a:defRPr sz="8250" b="1">
                <a:solidFill>
                  <a:srgbClr val="E7B942"/>
                </a:solidFill>
                <a:latin typeface="Avenir Next"/>
                <a:ea typeface="Avenir Next"/>
                <a:cs typeface="Avenir Next"/>
              </a:defRPr>
            </a:lvl8pPr>
            <a:lvl9pPr algn="ctr">
              <a:defRPr sz="8250" b="1">
                <a:solidFill>
                  <a:srgbClr val="E7B942"/>
                </a:solidFill>
                <a:latin typeface="Avenir Next"/>
                <a:ea typeface="Avenir Next"/>
                <a:cs typeface="Avenir Next"/>
              </a:defRPr>
            </a:lvl9pPr>
          </a:lstStyle>
          <a:p xmlns:a="http://schemas.openxmlformats.org/drawingml/2006/main">
            <a:pPr algn="ctr">
              <a:defRPr sz="8250" b="1">
                <a:solidFill>
                  <a:srgbClr val="E7B942"/>
                </a:solidFill>
                <a:latin typeface="Avenir Next"/>
                <a:ea typeface="Avenir Next"/>
                <a:cs typeface="Avenir Next"/>
              </a:defRPr>
            </a:pPr>
            <a:r>
              <a:rPr sz="8250" b="1">
                <a:solidFill>
                  <a:srgbClr val="E7B942"/>
                </a:solidFill>
                <a:latin typeface="Avenir Next"/>
                <a:ea typeface="Avenir Next"/>
                <a:cs typeface="Avenir Next"/>
              </a:rPr>
              <a:t>22</a:t>
            </a:r>
          </a:p>
        </p:txBody>
      </p:sp>
      <p:sp>
        <p:nvSpPr>
          <p:cNvPr id="8" name="">
            <a:extLst xmlns:a="http://schemas.openxmlformats.org/drawingml/2006/main">
              <a:ext uri="{FF2B5EF4-FFF2-40B4-BE49-F238E27FC236}">
                <a16:creationId xmlns:a16="http://schemas.microsoft.com/office/drawing/2014/main" id="{680DAAB2-BE3F-4EB1-839E-571565B484DD}"/>
              </a:ext>
            </a:extLst>
          </p:cNvPr>
          <p:cNvSpPr>
            <a:spLocks xmlns:a="http://schemas.openxmlformats.org/drawingml/2006/main" noGrp="1"/>
          </p:cNvSpPr>
          <p:nvPr/>
        </p:nvSpPr>
        <p:spPr>
          <a:xfrm xmlns:a="http://schemas.openxmlformats.org/drawingml/2006/main">
            <a:off x="1076325" y="3705225"/>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A9D9B9"/>
                </a:solidFill>
                <a:latin typeface="Avenir Next"/>
                <a:ea typeface="Avenir Next"/>
                <a:cs typeface="Avenir Next"/>
              </a:defRPr>
            </a:defPPr>
            <a:lvl1pPr algn="ctr">
              <a:defRPr sz="1725" b="1">
                <a:solidFill>
                  <a:srgbClr val="A9D9B9"/>
                </a:solidFill>
                <a:latin typeface="Avenir Next"/>
                <a:ea typeface="Avenir Next"/>
                <a:cs typeface="Avenir Next"/>
              </a:defRPr>
            </a:lvl1pPr>
            <a:lvl2pPr algn="ctr">
              <a:defRPr sz="1725" b="1">
                <a:solidFill>
                  <a:srgbClr val="A9D9B9"/>
                </a:solidFill>
                <a:latin typeface="Avenir Next"/>
                <a:ea typeface="Avenir Next"/>
                <a:cs typeface="Avenir Next"/>
              </a:defRPr>
            </a:lvl2pPr>
            <a:lvl3pPr algn="ctr">
              <a:defRPr sz="1725" b="1">
                <a:solidFill>
                  <a:srgbClr val="A9D9B9"/>
                </a:solidFill>
                <a:latin typeface="Avenir Next"/>
                <a:ea typeface="Avenir Next"/>
                <a:cs typeface="Avenir Next"/>
              </a:defRPr>
            </a:lvl3pPr>
            <a:lvl4pPr algn="ctr">
              <a:defRPr sz="1725" b="1">
                <a:solidFill>
                  <a:srgbClr val="A9D9B9"/>
                </a:solidFill>
                <a:latin typeface="Avenir Next"/>
                <a:ea typeface="Avenir Next"/>
                <a:cs typeface="Avenir Next"/>
              </a:defRPr>
            </a:lvl4pPr>
            <a:lvl5pPr algn="ctr">
              <a:defRPr sz="1725" b="1">
                <a:solidFill>
                  <a:srgbClr val="A9D9B9"/>
                </a:solidFill>
                <a:latin typeface="Avenir Next"/>
                <a:ea typeface="Avenir Next"/>
                <a:cs typeface="Avenir Next"/>
              </a:defRPr>
            </a:lvl5pPr>
            <a:lvl6pPr algn="ctr">
              <a:defRPr sz="1725" b="1">
                <a:solidFill>
                  <a:srgbClr val="A9D9B9"/>
                </a:solidFill>
                <a:latin typeface="Avenir Next"/>
                <a:ea typeface="Avenir Next"/>
                <a:cs typeface="Avenir Next"/>
              </a:defRPr>
            </a:lvl6pPr>
            <a:lvl7pPr algn="ctr">
              <a:defRPr sz="1725" b="1">
                <a:solidFill>
                  <a:srgbClr val="A9D9B9"/>
                </a:solidFill>
                <a:latin typeface="Avenir Next"/>
                <a:ea typeface="Avenir Next"/>
                <a:cs typeface="Avenir Next"/>
              </a:defRPr>
            </a:lvl7pPr>
            <a:lvl8pPr algn="ctr">
              <a:defRPr sz="1725" b="1">
                <a:solidFill>
                  <a:srgbClr val="A9D9B9"/>
                </a:solidFill>
                <a:latin typeface="Avenir Next"/>
                <a:ea typeface="Avenir Next"/>
                <a:cs typeface="Avenir Next"/>
              </a:defRPr>
            </a:lvl8pPr>
            <a:lvl9pPr algn="ctr">
              <a:defRPr sz="1725" b="1">
                <a:solidFill>
                  <a:srgbClr val="A9D9B9"/>
                </a:solidFill>
                <a:latin typeface="Avenir Next"/>
                <a:ea typeface="Avenir Next"/>
                <a:cs typeface="Avenir Next"/>
              </a:defRPr>
            </a:lvl9pPr>
          </a:lstStyle>
          <a:p xmlns:a="http://schemas.openxmlformats.org/drawingml/2006/main">
            <a:pPr algn="ctr">
              <a:defRPr sz="1725" b="1">
                <a:solidFill>
                  <a:srgbClr val="A9D9B9"/>
                </a:solidFill>
                <a:latin typeface="Avenir Next"/>
                <a:ea typeface="Avenir Next"/>
                <a:cs typeface="Avenir Next"/>
              </a:defRPr>
            </a:pPr>
            <a:r>
              <a:rPr sz="1725" b="1">
                <a:solidFill>
                  <a:srgbClr val="A9D9B9"/>
                </a:solidFill>
                <a:latin typeface="Avenir Next"/>
                <a:ea typeface="Avenir Next"/>
                <a:cs typeface="Avenir Next"/>
              </a:rPr>
              <a:t>confirmed players</a:t>
            </a:r>
          </a:p>
        </p:txBody>
      </p:sp>
      <p:sp>
        <p:nvSpPr>
          <p:cNvPr id="9" name="">
            <a:extLst xmlns:a="http://schemas.openxmlformats.org/drawingml/2006/main">
              <a:ext uri="{FF2B5EF4-FFF2-40B4-BE49-F238E27FC236}">
                <a16:creationId xmlns:a16="http://schemas.microsoft.com/office/drawing/2014/main" id="{97C33E54-42A0-4EFF-966B-52FF401C7AAC}"/>
              </a:ext>
            </a:extLst>
          </p:cNvPr>
          <p:cNvSpPr>
            <a:spLocks xmlns:a="http://schemas.openxmlformats.org/drawingml/2006/main" noGrp="1"/>
          </p:cNvSpPr>
          <p:nvPr/>
        </p:nvSpPr>
        <p:spPr>
          <a:xfrm xmlns:a="http://schemas.openxmlformats.org/drawingml/2006/main">
            <a:off x="4514850" y="2800350"/>
            <a:ext cx="114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086"/>
          </a:bodyPr>
          <a:lstStyle xmlns:a="http://schemas.openxmlformats.org/drawingml/2006/main">
            <a:defPPr algn="ctr">
              <a:defRPr sz="4650" b="0">
                <a:solidFill>
                  <a:srgbClr val="F5F2E8"/>
                </a:solidFill>
                <a:latin typeface="Avenir Next"/>
                <a:ea typeface="Avenir Next"/>
                <a:cs typeface="Avenir Next"/>
              </a:defRPr>
            </a:defPPr>
            <a:lvl1pPr algn="ctr">
              <a:defRPr sz="4650" b="0">
                <a:solidFill>
                  <a:srgbClr val="F5F2E8"/>
                </a:solidFill>
                <a:latin typeface="Avenir Next"/>
                <a:ea typeface="Avenir Next"/>
                <a:cs typeface="Avenir Next"/>
              </a:defRPr>
            </a:lvl1pPr>
            <a:lvl2pPr algn="ctr">
              <a:defRPr sz="4650" b="0">
                <a:solidFill>
                  <a:srgbClr val="F5F2E8"/>
                </a:solidFill>
                <a:latin typeface="Avenir Next"/>
                <a:ea typeface="Avenir Next"/>
                <a:cs typeface="Avenir Next"/>
              </a:defRPr>
            </a:lvl2pPr>
            <a:lvl3pPr algn="ctr">
              <a:defRPr sz="4650" b="0">
                <a:solidFill>
                  <a:srgbClr val="F5F2E8"/>
                </a:solidFill>
                <a:latin typeface="Avenir Next"/>
                <a:ea typeface="Avenir Next"/>
                <a:cs typeface="Avenir Next"/>
              </a:defRPr>
            </a:lvl3pPr>
            <a:lvl4pPr algn="ctr">
              <a:defRPr sz="4650" b="0">
                <a:solidFill>
                  <a:srgbClr val="F5F2E8"/>
                </a:solidFill>
                <a:latin typeface="Avenir Next"/>
                <a:ea typeface="Avenir Next"/>
                <a:cs typeface="Avenir Next"/>
              </a:defRPr>
            </a:lvl4pPr>
            <a:lvl5pPr algn="ctr">
              <a:defRPr sz="4650" b="0">
                <a:solidFill>
                  <a:srgbClr val="F5F2E8"/>
                </a:solidFill>
                <a:latin typeface="Avenir Next"/>
                <a:ea typeface="Avenir Next"/>
                <a:cs typeface="Avenir Next"/>
              </a:defRPr>
            </a:lvl5pPr>
            <a:lvl6pPr algn="ctr">
              <a:defRPr sz="4650" b="0">
                <a:solidFill>
                  <a:srgbClr val="F5F2E8"/>
                </a:solidFill>
                <a:latin typeface="Avenir Next"/>
                <a:ea typeface="Avenir Next"/>
                <a:cs typeface="Avenir Next"/>
              </a:defRPr>
            </a:lvl6pPr>
            <a:lvl7pPr algn="ctr">
              <a:defRPr sz="4650" b="0">
                <a:solidFill>
                  <a:srgbClr val="F5F2E8"/>
                </a:solidFill>
                <a:latin typeface="Avenir Next"/>
                <a:ea typeface="Avenir Next"/>
                <a:cs typeface="Avenir Next"/>
              </a:defRPr>
            </a:lvl7pPr>
            <a:lvl8pPr algn="ctr">
              <a:defRPr sz="4650" b="0">
                <a:solidFill>
                  <a:srgbClr val="F5F2E8"/>
                </a:solidFill>
                <a:latin typeface="Avenir Next"/>
                <a:ea typeface="Avenir Next"/>
                <a:cs typeface="Avenir Next"/>
              </a:defRPr>
            </a:lvl8pPr>
            <a:lvl9pPr algn="ctr">
              <a:defRPr sz="4650" b="0">
                <a:solidFill>
                  <a:srgbClr val="F5F2E8"/>
                </a:solidFill>
                <a:latin typeface="Avenir Next"/>
                <a:ea typeface="Avenir Next"/>
                <a:cs typeface="Avenir Next"/>
              </a:defRPr>
            </a:lvl9pPr>
          </a:lstStyle>
          <a:p xmlns:a="http://schemas.openxmlformats.org/drawingml/2006/main">
            <a:pPr algn="ctr">
              <a:defRPr sz="4650" b="0">
                <a:solidFill>
                  <a:srgbClr val="F5F2E8"/>
                </a:solidFill>
                <a:latin typeface="Avenir Next"/>
                <a:ea typeface="Avenir Next"/>
                <a:cs typeface="Avenir Next"/>
              </a:defRPr>
            </a:pPr>
            <a:r>
              <a:rPr sz="4650" b="0">
                <a:solidFill>
                  <a:srgbClr val="F5F2E8"/>
                </a:solidFill>
                <a:latin typeface="Avenir Next"/>
                <a:ea typeface="Avenir Next"/>
                <a:cs typeface="Avenir Next"/>
              </a:rPr>
              <a:t>→</a:t>
            </a:r>
          </a:p>
        </p:txBody>
      </p:sp>
      <p:sp>
        <p:nvSpPr>
          <p:cNvPr id="10" name="">
            <a:extLst xmlns:a="http://schemas.openxmlformats.org/drawingml/2006/main">
              <a:ext uri="{FF2B5EF4-FFF2-40B4-BE49-F238E27FC236}">
                <a16:creationId xmlns:a16="http://schemas.microsoft.com/office/drawing/2014/main" id="{B5A6771B-23A8-422D-B792-F705F03F1279}"/>
              </a:ext>
            </a:extLst>
          </p:cNvPr>
          <p:cNvSpPr>
            <a:spLocks xmlns:a="http://schemas.openxmlformats.org/drawingml/2006/main" noGrp="1"/>
          </p:cNvSpPr>
          <p:nvPr/>
        </p:nvSpPr>
        <p:spPr>
          <a:xfrm xmlns:a="http://schemas.openxmlformats.org/drawingml/2006/main">
            <a:off x="6191250" y="24384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0" b="1">
                <a:solidFill>
                  <a:srgbClr val="F5F2E8"/>
                </a:solidFill>
                <a:latin typeface="Avenir Next"/>
                <a:ea typeface="Avenir Next"/>
                <a:cs typeface="Avenir Next"/>
              </a:defRPr>
            </a:defPPr>
            <a:lvl1pPr algn="ctr">
              <a:defRPr sz="8250" b="1">
                <a:solidFill>
                  <a:srgbClr val="F5F2E8"/>
                </a:solidFill>
                <a:latin typeface="Avenir Next"/>
                <a:ea typeface="Avenir Next"/>
                <a:cs typeface="Avenir Next"/>
              </a:defRPr>
            </a:lvl1pPr>
            <a:lvl2pPr algn="ctr">
              <a:defRPr sz="8250" b="1">
                <a:solidFill>
                  <a:srgbClr val="F5F2E8"/>
                </a:solidFill>
                <a:latin typeface="Avenir Next"/>
                <a:ea typeface="Avenir Next"/>
                <a:cs typeface="Avenir Next"/>
              </a:defRPr>
            </a:lvl2pPr>
            <a:lvl3pPr algn="ctr">
              <a:defRPr sz="8250" b="1">
                <a:solidFill>
                  <a:srgbClr val="F5F2E8"/>
                </a:solidFill>
                <a:latin typeface="Avenir Next"/>
                <a:ea typeface="Avenir Next"/>
                <a:cs typeface="Avenir Next"/>
              </a:defRPr>
            </a:lvl3pPr>
            <a:lvl4pPr algn="ctr">
              <a:defRPr sz="8250" b="1">
                <a:solidFill>
                  <a:srgbClr val="F5F2E8"/>
                </a:solidFill>
                <a:latin typeface="Avenir Next"/>
                <a:ea typeface="Avenir Next"/>
                <a:cs typeface="Avenir Next"/>
              </a:defRPr>
            </a:lvl4pPr>
            <a:lvl5pPr algn="ctr">
              <a:defRPr sz="8250" b="1">
                <a:solidFill>
                  <a:srgbClr val="F5F2E8"/>
                </a:solidFill>
                <a:latin typeface="Avenir Next"/>
                <a:ea typeface="Avenir Next"/>
                <a:cs typeface="Avenir Next"/>
              </a:defRPr>
            </a:lvl5pPr>
            <a:lvl6pPr algn="ctr">
              <a:defRPr sz="8250" b="1">
                <a:solidFill>
                  <a:srgbClr val="F5F2E8"/>
                </a:solidFill>
                <a:latin typeface="Avenir Next"/>
                <a:ea typeface="Avenir Next"/>
                <a:cs typeface="Avenir Next"/>
              </a:defRPr>
            </a:lvl6pPr>
            <a:lvl7pPr algn="ctr">
              <a:defRPr sz="8250" b="1">
                <a:solidFill>
                  <a:srgbClr val="F5F2E8"/>
                </a:solidFill>
                <a:latin typeface="Avenir Next"/>
                <a:ea typeface="Avenir Next"/>
                <a:cs typeface="Avenir Next"/>
              </a:defRPr>
            </a:lvl7pPr>
            <a:lvl8pPr algn="ctr">
              <a:defRPr sz="8250" b="1">
                <a:solidFill>
                  <a:srgbClr val="F5F2E8"/>
                </a:solidFill>
                <a:latin typeface="Avenir Next"/>
                <a:ea typeface="Avenir Next"/>
                <a:cs typeface="Avenir Next"/>
              </a:defRPr>
            </a:lvl8pPr>
            <a:lvl9pPr algn="ctr">
              <a:defRPr sz="8250" b="1">
                <a:solidFill>
                  <a:srgbClr val="F5F2E8"/>
                </a:solidFill>
                <a:latin typeface="Avenir Next"/>
                <a:ea typeface="Avenir Next"/>
                <a:cs typeface="Avenir Next"/>
              </a:defRPr>
            </a:lvl9pPr>
          </a:lstStyle>
          <a:p xmlns:a="http://schemas.openxmlformats.org/drawingml/2006/main">
            <a:pPr algn="ctr">
              <a:defRPr sz="8250" b="1">
                <a:solidFill>
                  <a:srgbClr val="F5F2E8"/>
                </a:solidFill>
                <a:latin typeface="Avenir Next"/>
                <a:ea typeface="Avenir Next"/>
                <a:cs typeface="Avenir Next"/>
              </a:defRPr>
            </a:pPr>
            <a:r>
              <a:rPr sz="8250" b="1">
                <a:solidFill>
                  <a:srgbClr val="F5F2E8"/>
                </a:solidFill>
                <a:latin typeface="Avenir Next"/>
                <a:ea typeface="Avenir Next"/>
                <a:cs typeface="Avenir Next"/>
              </a:rPr>
              <a:t>11</a:t>
            </a:r>
          </a:p>
        </p:txBody>
      </p:sp>
      <p:sp>
        <p:nvSpPr>
          <p:cNvPr id="11" name="">
            <a:extLst xmlns:a="http://schemas.openxmlformats.org/drawingml/2006/main">
              <a:ext uri="{FF2B5EF4-FFF2-40B4-BE49-F238E27FC236}">
                <a16:creationId xmlns:a16="http://schemas.microsoft.com/office/drawing/2014/main" id="{B8E6A83A-0ED2-45E9-9B1D-BB05EF257089}"/>
              </a:ext>
            </a:extLst>
          </p:cNvPr>
          <p:cNvSpPr>
            <a:spLocks xmlns:a="http://schemas.openxmlformats.org/drawingml/2006/main" noGrp="1"/>
          </p:cNvSpPr>
          <p:nvPr/>
        </p:nvSpPr>
        <p:spPr>
          <a:xfrm xmlns:a="http://schemas.openxmlformats.org/drawingml/2006/main">
            <a:off x="6162675" y="3705225"/>
            <a:ext cx="260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E7B942"/>
                </a:solidFill>
                <a:latin typeface="Avenir Next"/>
                <a:ea typeface="Avenir Next"/>
                <a:cs typeface="Avenir Next"/>
              </a:defRPr>
            </a:defPPr>
            <a:lvl1pPr algn="ctr">
              <a:defRPr sz="1725" b="1">
                <a:solidFill>
                  <a:srgbClr val="E7B942"/>
                </a:solidFill>
                <a:latin typeface="Avenir Next"/>
                <a:ea typeface="Avenir Next"/>
                <a:cs typeface="Avenir Next"/>
              </a:defRPr>
            </a:lvl1pPr>
            <a:lvl2pPr algn="ctr">
              <a:defRPr sz="1725" b="1">
                <a:solidFill>
                  <a:srgbClr val="E7B942"/>
                </a:solidFill>
                <a:latin typeface="Avenir Next"/>
                <a:ea typeface="Avenir Next"/>
                <a:cs typeface="Avenir Next"/>
              </a:defRPr>
            </a:lvl2pPr>
            <a:lvl3pPr algn="ctr">
              <a:defRPr sz="1725" b="1">
                <a:solidFill>
                  <a:srgbClr val="E7B942"/>
                </a:solidFill>
                <a:latin typeface="Avenir Next"/>
                <a:ea typeface="Avenir Next"/>
                <a:cs typeface="Avenir Next"/>
              </a:defRPr>
            </a:lvl3pPr>
            <a:lvl4pPr algn="ctr">
              <a:defRPr sz="1725" b="1">
                <a:solidFill>
                  <a:srgbClr val="E7B942"/>
                </a:solidFill>
                <a:latin typeface="Avenir Next"/>
                <a:ea typeface="Avenir Next"/>
                <a:cs typeface="Avenir Next"/>
              </a:defRPr>
            </a:lvl4pPr>
            <a:lvl5pPr algn="ctr">
              <a:defRPr sz="1725" b="1">
                <a:solidFill>
                  <a:srgbClr val="E7B942"/>
                </a:solidFill>
                <a:latin typeface="Avenir Next"/>
                <a:ea typeface="Avenir Next"/>
                <a:cs typeface="Avenir Next"/>
              </a:defRPr>
            </a:lvl5pPr>
            <a:lvl6pPr algn="ctr">
              <a:defRPr sz="1725" b="1">
                <a:solidFill>
                  <a:srgbClr val="E7B942"/>
                </a:solidFill>
                <a:latin typeface="Avenir Next"/>
                <a:ea typeface="Avenir Next"/>
                <a:cs typeface="Avenir Next"/>
              </a:defRPr>
            </a:lvl6pPr>
            <a:lvl7pPr algn="ctr">
              <a:defRPr sz="1725" b="1">
                <a:solidFill>
                  <a:srgbClr val="E7B942"/>
                </a:solidFill>
                <a:latin typeface="Avenir Next"/>
                <a:ea typeface="Avenir Next"/>
                <a:cs typeface="Avenir Next"/>
              </a:defRPr>
            </a:lvl7pPr>
            <a:lvl8pPr algn="ctr">
              <a:defRPr sz="1725" b="1">
                <a:solidFill>
                  <a:srgbClr val="E7B942"/>
                </a:solidFill>
                <a:latin typeface="Avenir Next"/>
                <a:ea typeface="Avenir Next"/>
                <a:cs typeface="Avenir Next"/>
              </a:defRPr>
            </a:lvl8pPr>
            <a:lvl9pPr algn="ctr">
              <a:defRPr sz="1725" b="1">
                <a:solidFill>
                  <a:srgbClr val="E7B942"/>
                </a:solidFill>
                <a:latin typeface="Avenir Next"/>
                <a:ea typeface="Avenir Next"/>
                <a:cs typeface="Avenir Next"/>
              </a:defRPr>
            </a:lvl9pPr>
          </a:lstStyle>
          <a:p xmlns:a="http://schemas.openxmlformats.org/drawingml/2006/main">
            <a:pPr algn="ctr">
              <a:defRPr sz="1725" b="1">
                <a:solidFill>
                  <a:srgbClr val="E7B942"/>
                </a:solidFill>
                <a:latin typeface="Avenir Next"/>
                <a:ea typeface="Avenir Next"/>
                <a:cs typeface="Avenir Next"/>
              </a:defRPr>
            </a:pPr>
            <a:r>
              <a:rPr sz="1725" b="1">
                <a:solidFill>
                  <a:srgbClr val="E7B942"/>
                </a:solidFill>
                <a:latin typeface="Avenir Next"/>
                <a:ea typeface="Avenir Next"/>
                <a:cs typeface="Avenir Next"/>
              </a:rPr>
              <a:t>chosen by the fan</a:t>
            </a:r>
          </a:p>
        </p:txBody>
      </p:sp>
      <p:sp>
        <p:nvSpPr>
          <p:cNvPr id="12" name="">
            <a:extLst xmlns:a="http://schemas.openxmlformats.org/drawingml/2006/main">
              <a:ext uri="{FF2B5EF4-FFF2-40B4-BE49-F238E27FC236}">
                <a16:creationId xmlns:a16="http://schemas.microsoft.com/office/drawing/2014/main" id="{0989248E-F8B5-4EC9-914A-DEBFFFB06A5C}"/>
              </a:ext>
            </a:extLst>
          </p:cNvPr>
          <p:cNvSpPr>
            <a:spLocks xmlns:a="http://schemas.openxmlformats.org/drawingml/2006/main" noGrp="1"/>
          </p:cNvSpPr>
          <p:nvPr/>
        </p:nvSpPr>
        <p:spPr>
          <a:xfrm xmlns:a="http://schemas.openxmlformats.org/drawingml/2006/main">
            <a:off x="9334500" y="2247900"/>
            <a:ext cx="9525" cy="23812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C4FEFB0-400A-4389-9FDD-EE4FA00D28D5}"/>
              </a:ext>
            </a:extLst>
          </p:cNvPr>
          <p:cNvSpPr>
            <a:spLocks xmlns:a="http://schemas.openxmlformats.org/drawingml/2006/main" noGrp="1"/>
          </p:cNvSpPr>
          <p:nvPr/>
        </p:nvSpPr>
        <p:spPr>
          <a:xfrm xmlns:a="http://schemas.openxmlformats.org/drawingml/2006/main">
            <a:off x="9620250" y="2438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THE SELECTION RULES</a:t>
            </a:r>
          </a:p>
        </p:txBody>
      </p:sp>
      <p:sp>
        <p:nvSpPr>
          <p:cNvPr id="14" name="">
            <a:extLst xmlns:a="http://schemas.openxmlformats.org/drawingml/2006/main">
              <a:ext uri="{FF2B5EF4-FFF2-40B4-BE49-F238E27FC236}">
                <a16:creationId xmlns:a16="http://schemas.microsoft.com/office/drawing/2014/main" id="{9B0073B6-6F68-4DD1-B0B9-29A04BBC8E44}"/>
              </a:ext>
            </a:extLst>
          </p:cNvPr>
          <p:cNvSpPr>
            <a:spLocks xmlns:a="http://schemas.openxmlformats.org/drawingml/2006/main" noGrp="1"/>
          </p:cNvSpPr>
          <p:nvPr/>
        </p:nvSpPr>
        <p:spPr>
          <a:xfrm xmlns:a="http://schemas.openxmlformats.org/drawingml/2006/main">
            <a:off x="9620250" y="2857500"/>
            <a:ext cx="2095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A9D9B9"/>
                </a:solidFill>
                <a:latin typeface="Avenir Next"/>
                <a:ea typeface="Avenir Next"/>
                <a:cs typeface="Avenir Next"/>
              </a:defRPr>
            </a:defPPr>
            <a:lvl1pPr algn="l">
              <a:defRPr sz="1575" b="0">
                <a:solidFill>
                  <a:srgbClr val="A9D9B9"/>
                </a:solidFill>
                <a:latin typeface="Avenir Next"/>
                <a:ea typeface="Avenir Next"/>
                <a:cs typeface="Avenir Next"/>
              </a:defRPr>
            </a:lvl1pPr>
            <a:lvl2pPr algn="l">
              <a:defRPr sz="1575" b="0">
                <a:solidFill>
                  <a:srgbClr val="A9D9B9"/>
                </a:solidFill>
                <a:latin typeface="Avenir Next"/>
                <a:ea typeface="Avenir Next"/>
                <a:cs typeface="Avenir Next"/>
              </a:defRPr>
            </a:lvl2pPr>
            <a:lvl3pPr algn="l">
              <a:defRPr sz="1575" b="0">
                <a:solidFill>
                  <a:srgbClr val="A9D9B9"/>
                </a:solidFill>
                <a:latin typeface="Avenir Next"/>
                <a:ea typeface="Avenir Next"/>
                <a:cs typeface="Avenir Next"/>
              </a:defRPr>
            </a:lvl3pPr>
            <a:lvl4pPr algn="l">
              <a:defRPr sz="1575" b="0">
                <a:solidFill>
                  <a:srgbClr val="A9D9B9"/>
                </a:solidFill>
                <a:latin typeface="Avenir Next"/>
                <a:ea typeface="Avenir Next"/>
                <a:cs typeface="Avenir Next"/>
              </a:defRPr>
            </a:lvl4pPr>
            <a:lvl5pPr algn="l">
              <a:defRPr sz="1575" b="0">
                <a:solidFill>
                  <a:srgbClr val="A9D9B9"/>
                </a:solidFill>
                <a:latin typeface="Avenir Next"/>
                <a:ea typeface="Avenir Next"/>
                <a:cs typeface="Avenir Next"/>
              </a:defRPr>
            </a:lvl5pPr>
            <a:lvl6pPr algn="l">
              <a:defRPr sz="1575" b="0">
                <a:solidFill>
                  <a:srgbClr val="A9D9B9"/>
                </a:solidFill>
                <a:latin typeface="Avenir Next"/>
                <a:ea typeface="Avenir Next"/>
                <a:cs typeface="Avenir Next"/>
              </a:defRPr>
            </a:lvl6pPr>
            <a:lvl7pPr algn="l">
              <a:defRPr sz="1575" b="0">
                <a:solidFill>
                  <a:srgbClr val="A9D9B9"/>
                </a:solidFill>
                <a:latin typeface="Avenir Next"/>
                <a:ea typeface="Avenir Next"/>
                <a:cs typeface="Avenir Next"/>
              </a:defRPr>
            </a:lvl7pPr>
            <a:lvl8pPr algn="l">
              <a:defRPr sz="1575" b="0">
                <a:solidFill>
                  <a:srgbClr val="A9D9B9"/>
                </a:solidFill>
                <a:latin typeface="Avenir Next"/>
                <a:ea typeface="Avenir Next"/>
                <a:cs typeface="Avenir Next"/>
              </a:defRPr>
            </a:lvl8pPr>
            <a:lvl9pPr algn="l">
              <a:defRPr sz="1575" b="0">
                <a:solidFill>
                  <a:srgbClr val="A9D9B9"/>
                </a:solidFill>
                <a:latin typeface="Avenir Next"/>
                <a:ea typeface="Avenir Next"/>
                <a:cs typeface="Avenir Next"/>
              </a:defRPr>
            </a:lvl9pPr>
          </a:lstStyle>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Role balance</a:t>
            </a:r>
          </a:p>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Credit limit</a:t>
            </a:r>
          </a:p>
          <a:p xmlns:a="http://schemas.openxmlformats.org/drawingml/2006/main">
            <a:pPr algn="l">
              <a:defRPr sz="1575" b="0">
                <a:solidFill>
                  <a:srgbClr val="A9D9B9"/>
                </a:solidFill>
                <a:latin typeface="Avenir Next"/>
                <a:ea typeface="Avenir Next"/>
                <a:cs typeface="Avenir Next"/>
              </a:defRPr>
            </a:pPr>
            <a:r>
              <a:rPr sz="1575" b="0">
                <a:solidFill>
                  <a:srgbClr val="A9D9B9"/>
                </a:solidFill>
                <a:latin typeface="Avenir Next"/>
                <a:ea typeface="Avenir Next"/>
                <a:cs typeface="Avenir Next"/>
              </a:rPr>
              <a:t>Squad linked to contest entry</a:t>
            </a:r>
          </a:p>
        </p:txBody>
      </p:sp>
      <p:sp>
        <p:nvSpPr>
          <p:cNvPr id="15" name="">
            <a:extLst xmlns:a="http://schemas.openxmlformats.org/drawingml/2006/main">
              <a:ext uri="{FF2B5EF4-FFF2-40B4-BE49-F238E27FC236}">
                <a16:creationId xmlns:a16="http://schemas.microsoft.com/office/drawing/2014/main" id="{046D0C17-770A-4DCB-9C36-16BC5A66B05A}"/>
              </a:ext>
            </a:extLst>
          </p:cNvPr>
          <p:cNvSpPr>
            <a:spLocks xmlns:a="http://schemas.openxmlformats.org/drawingml/2006/main" noGrp="1"/>
          </p:cNvSpPr>
          <p:nvPr/>
        </p:nvSpPr>
        <p:spPr>
          <a:xfrm xmlns:a="http://schemas.openxmlformats.org/drawingml/2006/main">
            <a:off x="876300" y="4838700"/>
            <a:ext cx="104013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67988B-7D08-442B-8C00-82E9D6B07849}"/>
              </a:ext>
            </a:extLst>
          </p:cNvPr>
          <p:cNvSpPr>
            <a:spLocks xmlns:a="http://schemas.openxmlformats.org/drawingml/2006/main" noGrp="1"/>
          </p:cNvSpPr>
          <p:nvPr/>
        </p:nvSpPr>
        <p:spPr>
          <a:xfrm xmlns:a="http://schemas.openxmlformats.org/drawingml/2006/main">
            <a:off x="876300" y="5095875"/>
            <a:ext cx="1040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5F2E8"/>
                </a:solidFill>
                <a:latin typeface="Avenir Next"/>
                <a:ea typeface="Avenir Next"/>
                <a:cs typeface="Avenir Next"/>
              </a:defRPr>
            </a:defPPr>
            <a:lvl1pPr algn="l">
              <a:defRPr sz="1650" b="0">
                <a:solidFill>
                  <a:srgbClr val="F5F2E8"/>
                </a:solidFill>
                <a:latin typeface="Avenir Next"/>
                <a:ea typeface="Avenir Next"/>
                <a:cs typeface="Avenir Next"/>
              </a:defRPr>
            </a:lvl1pPr>
            <a:lvl2pPr algn="l">
              <a:defRPr sz="1650" b="0">
                <a:solidFill>
                  <a:srgbClr val="F5F2E8"/>
                </a:solidFill>
                <a:latin typeface="Avenir Next"/>
                <a:ea typeface="Avenir Next"/>
                <a:cs typeface="Avenir Next"/>
              </a:defRPr>
            </a:lvl2pPr>
            <a:lvl3pPr algn="l">
              <a:defRPr sz="1650" b="0">
                <a:solidFill>
                  <a:srgbClr val="F5F2E8"/>
                </a:solidFill>
                <a:latin typeface="Avenir Next"/>
                <a:ea typeface="Avenir Next"/>
                <a:cs typeface="Avenir Next"/>
              </a:defRPr>
            </a:lvl3pPr>
            <a:lvl4pPr algn="l">
              <a:defRPr sz="1650" b="0">
                <a:solidFill>
                  <a:srgbClr val="F5F2E8"/>
                </a:solidFill>
                <a:latin typeface="Avenir Next"/>
                <a:ea typeface="Avenir Next"/>
                <a:cs typeface="Avenir Next"/>
              </a:defRPr>
            </a:lvl4pPr>
            <a:lvl5pPr algn="l">
              <a:defRPr sz="1650" b="0">
                <a:solidFill>
                  <a:srgbClr val="F5F2E8"/>
                </a:solidFill>
                <a:latin typeface="Avenir Next"/>
                <a:ea typeface="Avenir Next"/>
                <a:cs typeface="Avenir Next"/>
              </a:defRPr>
            </a:lvl5pPr>
            <a:lvl6pPr algn="l">
              <a:defRPr sz="1650" b="0">
                <a:solidFill>
                  <a:srgbClr val="F5F2E8"/>
                </a:solidFill>
                <a:latin typeface="Avenir Next"/>
                <a:ea typeface="Avenir Next"/>
                <a:cs typeface="Avenir Next"/>
              </a:defRPr>
            </a:lvl6pPr>
            <a:lvl7pPr algn="l">
              <a:defRPr sz="1650" b="0">
                <a:solidFill>
                  <a:srgbClr val="F5F2E8"/>
                </a:solidFill>
                <a:latin typeface="Avenir Next"/>
                <a:ea typeface="Avenir Next"/>
                <a:cs typeface="Avenir Next"/>
              </a:defRPr>
            </a:lvl7pPr>
            <a:lvl8pPr algn="l">
              <a:defRPr sz="1650" b="0">
                <a:solidFill>
                  <a:srgbClr val="F5F2E8"/>
                </a:solidFill>
                <a:latin typeface="Avenir Next"/>
                <a:ea typeface="Avenir Next"/>
                <a:cs typeface="Avenir Next"/>
              </a:defRPr>
            </a:lvl8pPr>
            <a:lvl9pPr algn="l">
              <a:defRPr sz="1650" b="0">
                <a:solidFill>
                  <a:srgbClr val="F5F2E8"/>
                </a:solidFill>
                <a:latin typeface="Avenir Next"/>
                <a:ea typeface="Avenir Next"/>
                <a:cs typeface="Avenir Next"/>
              </a:defRPr>
            </a:lvl9pPr>
          </a:lstStyle>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The cricket API supplies the match, playing XI and points; the app refreshes points as the provider updates them.</a:t>
            </a:r>
          </a:p>
        </p:txBody>
      </p:sp>
    </p:spTree>
    <p:extLst>
      <p:ext uri="{BB962C8B-B14F-4D97-AF65-F5344CB8AC3E}">
        <p14:creationId xmlns:p14="http://schemas.microsoft.com/office/powerpoint/2010/main" val="1758020370"/>
      </p:ext>
    </p:extLst>
  </p:cSld>
</p:sld>
</file>

<file path=ppt/slides/slide6.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C406D71-298A-4EEB-AE17-24A2F287A627}"/>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HOW · DESIGN CHOICE</a:t>
            </a:r>
          </a:p>
        </p:txBody>
      </p:sp>
      <p:sp>
        <p:nvSpPr>
          <p:cNvPr id="2" name="">
            <a:extLst xmlns:a="http://schemas.openxmlformats.org/drawingml/2006/main">
              <a:ext uri="{FF2B5EF4-FFF2-40B4-BE49-F238E27FC236}">
                <a16:creationId xmlns:a16="http://schemas.microsoft.com/office/drawing/2014/main" id="{E749576D-5CC5-47D0-BA48-7D01A5A93226}"/>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hybrid design fits the two kinds of data</a:t>
            </a:r>
          </a:p>
        </p:txBody>
      </p:sp>
      <p:sp>
        <p:nvSpPr>
          <p:cNvPr id="3" name="">
            <a:extLst xmlns:a="http://schemas.openxmlformats.org/drawingml/2006/main">
              <a:ext uri="{FF2B5EF4-FFF2-40B4-BE49-F238E27FC236}">
                <a16:creationId xmlns:a16="http://schemas.microsoft.com/office/drawing/2014/main" id="{A0FDD12B-7B5C-4660-812D-675289442CBC}"/>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Match information changes quickly; ownership and transaction rules need a shared record.</a:t>
            </a:r>
          </a:p>
        </p:txBody>
      </p:sp>
      <p:sp>
        <p:nvSpPr>
          <p:cNvPr id="4" name="">
            <a:extLst xmlns:a="http://schemas.openxmlformats.org/drawingml/2006/main">
              <a:ext uri="{FF2B5EF4-FFF2-40B4-BE49-F238E27FC236}">
                <a16:creationId xmlns:a16="http://schemas.microsoft.com/office/drawing/2014/main" id="{9CA27997-FC12-49EA-A075-27848C195926}"/>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EE6A60-7C65-48E8-9531-8F616F6D953B}"/>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312139A2-8F73-4CA2-835D-2F90A50B1F06}"/>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06</a:t>
            </a:r>
          </a:p>
        </p:txBody>
      </p:sp>
      <p:sp>
        <p:nvSpPr>
          <p:cNvPr id="7" name="">
            <a:extLst xmlns:a="http://schemas.openxmlformats.org/drawingml/2006/main">
              <a:ext uri="{FF2B5EF4-FFF2-40B4-BE49-F238E27FC236}">
                <a16:creationId xmlns:a16="http://schemas.microsoft.com/office/drawing/2014/main" id="{512D57EA-A2D2-41C1-9ED1-D00B1081DD83}"/>
              </a:ext>
            </a:extLst>
          </p:cNvPr>
          <p:cNvSpPr>
            <a:spLocks xmlns:a="http://schemas.openxmlformats.org/drawingml/2006/main" noGrp="1"/>
          </p:cNvSpPr>
          <p:nvPr/>
        </p:nvSpPr>
        <p:spPr>
          <a:xfrm xmlns:a="http://schemas.openxmlformats.org/drawingml/2006/main">
            <a:off x="876300" y="23907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FROM THE CRICKET PROVIDER</a:t>
            </a:r>
          </a:p>
        </p:txBody>
      </p:sp>
      <p:sp>
        <p:nvSpPr>
          <p:cNvPr id="8" name="">
            <a:extLst xmlns:a="http://schemas.openxmlformats.org/drawingml/2006/main">
              <a:ext uri="{FF2B5EF4-FFF2-40B4-BE49-F238E27FC236}">
                <a16:creationId xmlns:a16="http://schemas.microsoft.com/office/drawing/2014/main" id="{F3AC063C-3D95-4067-BED4-1CE0BDE4E0F7}"/>
              </a:ext>
            </a:extLst>
          </p:cNvPr>
          <p:cNvSpPr>
            <a:spLocks xmlns:a="http://schemas.openxmlformats.org/drawingml/2006/main" noGrp="1"/>
          </p:cNvSpPr>
          <p:nvPr/>
        </p:nvSpPr>
        <p:spPr>
          <a:xfrm xmlns:a="http://schemas.openxmlformats.org/drawingml/2006/main">
            <a:off x="876300" y="2762250"/>
            <a:ext cx="4381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082C24"/>
                </a:solidFill>
                <a:latin typeface="Avenir Next"/>
                <a:ea typeface="Avenir Next"/>
                <a:cs typeface="Avenir Next"/>
              </a:defRPr>
            </a:defPPr>
            <a:lvl1pPr algn="l">
              <a:defRPr sz="2175" b="0">
                <a:solidFill>
                  <a:srgbClr val="082C24"/>
                </a:solidFill>
                <a:latin typeface="Avenir Next"/>
                <a:ea typeface="Avenir Next"/>
                <a:cs typeface="Avenir Next"/>
              </a:defRPr>
            </a:lvl1pPr>
            <a:lvl2pPr algn="l">
              <a:defRPr sz="2175" b="0">
                <a:solidFill>
                  <a:srgbClr val="082C24"/>
                </a:solidFill>
                <a:latin typeface="Avenir Next"/>
                <a:ea typeface="Avenir Next"/>
                <a:cs typeface="Avenir Next"/>
              </a:defRPr>
            </a:lvl2pPr>
            <a:lvl3pPr algn="l">
              <a:defRPr sz="2175" b="0">
                <a:solidFill>
                  <a:srgbClr val="082C24"/>
                </a:solidFill>
                <a:latin typeface="Avenir Next"/>
                <a:ea typeface="Avenir Next"/>
                <a:cs typeface="Avenir Next"/>
              </a:defRPr>
            </a:lvl3pPr>
            <a:lvl4pPr algn="l">
              <a:defRPr sz="2175" b="0">
                <a:solidFill>
                  <a:srgbClr val="082C24"/>
                </a:solidFill>
                <a:latin typeface="Avenir Next"/>
                <a:ea typeface="Avenir Next"/>
                <a:cs typeface="Avenir Next"/>
              </a:defRPr>
            </a:lvl4pPr>
            <a:lvl5pPr algn="l">
              <a:defRPr sz="2175" b="0">
                <a:solidFill>
                  <a:srgbClr val="082C24"/>
                </a:solidFill>
                <a:latin typeface="Avenir Next"/>
                <a:ea typeface="Avenir Next"/>
                <a:cs typeface="Avenir Next"/>
              </a:defRPr>
            </a:lvl5pPr>
            <a:lvl6pPr algn="l">
              <a:defRPr sz="2175" b="0">
                <a:solidFill>
                  <a:srgbClr val="082C24"/>
                </a:solidFill>
                <a:latin typeface="Avenir Next"/>
                <a:ea typeface="Avenir Next"/>
                <a:cs typeface="Avenir Next"/>
              </a:defRPr>
            </a:lvl6pPr>
            <a:lvl7pPr algn="l">
              <a:defRPr sz="2175" b="0">
                <a:solidFill>
                  <a:srgbClr val="082C24"/>
                </a:solidFill>
                <a:latin typeface="Avenir Next"/>
                <a:ea typeface="Avenir Next"/>
                <a:cs typeface="Avenir Next"/>
              </a:defRPr>
            </a:lvl7pPr>
            <a:lvl8pPr algn="l">
              <a:defRPr sz="2175" b="0">
                <a:solidFill>
                  <a:srgbClr val="082C24"/>
                </a:solidFill>
                <a:latin typeface="Avenir Next"/>
                <a:ea typeface="Avenir Next"/>
                <a:cs typeface="Avenir Next"/>
              </a:defRPr>
            </a:lvl8pPr>
            <a:lvl9pPr algn="l">
              <a:defRPr sz="2175" b="0">
                <a:solidFill>
                  <a:srgbClr val="082C24"/>
                </a:solidFill>
                <a:latin typeface="Avenir Next"/>
                <a:ea typeface="Avenir Next"/>
                <a:cs typeface="Avenir Next"/>
              </a:defRPr>
            </a:lvl9pPr>
          </a:lstStyle>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Today’s fixtures</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Confirmed playing XI</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Live match points</a:t>
            </a:r>
          </a:p>
        </p:txBody>
      </p:sp>
      <p:sp>
        <p:nvSpPr>
          <p:cNvPr id="9" name="">
            <a:extLst xmlns:a="http://schemas.openxmlformats.org/drawingml/2006/main">
              <a:ext uri="{FF2B5EF4-FFF2-40B4-BE49-F238E27FC236}">
                <a16:creationId xmlns:a16="http://schemas.microsoft.com/office/drawing/2014/main" id="{E20B7B59-5D81-4C89-A7C7-A9742E779CDC}"/>
              </a:ext>
            </a:extLst>
          </p:cNvPr>
          <p:cNvSpPr>
            <a:spLocks xmlns:a="http://schemas.openxmlformats.org/drawingml/2006/main" noGrp="1"/>
          </p:cNvSpPr>
          <p:nvPr/>
        </p:nvSpPr>
        <p:spPr>
          <a:xfrm xmlns:a="http://schemas.openxmlformats.org/drawingml/2006/main">
            <a:off x="876300" y="44577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6A50"/>
                </a:solidFill>
                <a:latin typeface="Avenir Next"/>
                <a:ea typeface="Avenir Next"/>
                <a:cs typeface="Avenir Next"/>
              </a:defRPr>
            </a:defPPr>
            <a:lvl1pPr algn="l">
              <a:defRPr sz="1575" b="1">
                <a:solidFill>
                  <a:srgbClr val="1D6A50"/>
                </a:solidFill>
                <a:latin typeface="Avenir Next"/>
                <a:ea typeface="Avenir Next"/>
                <a:cs typeface="Avenir Next"/>
              </a:defRPr>
            </a:lvl1pPr>
            <a:lvl2pPr algn="l">
              <a:defRPr sz="1575" b="1">
                <a:solidFill>
                  <a:srgbClr val="1D6A50"/>
                </a:solidFill>
                <a:latin typeface="Avenir Next"/>
                <a:ea typeface="Avenir Next"/>
                <a:cs typeface="Avenir Next"/>
              </a:defRPr>
            </a:lvl2pPr>
            <a:lvl3pPr algn="l">
              <a:defRPr sz="1575" b="1">
                <a:solidFill>
                  <a:srgbClr val="1D6A50"/>
                </a:solidFill>
                <a:latin typeface="Avenir Next"/>
                <a:ea typeface="Avenir Next"/>
                <a:cs typeface="Avenir Next"/>
              </a:defRPr>
            </a:lvl3pPr>
            <a:lvl4pPr algn="l">
              <a:defRPr sz="1575" b="1">
                <a:solidFill>
                  <a:srgbClr val="1D6A50"/>
                </a:solidFill>
                <a:latin typeface="Avenir Next"/>
                <a:ea typeface="Avenir Next"/>
                <a:cs typeface="Avenir Next"/>
              </a:defRPr>
            </a:lvl4pPr>
            <a:lvl5pPr algn="l">
              <a:defRPr sz="1575" b="1">
                <a:solidFill>
                  <a:srgbClr val="1D6A50"/>
                </a:solidFill>
                <a:latin typeface="Avenir Next"/>
                <a:ea typeface="Avenir Next"/>
                <a:cs typeface="Avenir Next"/>
              </a:defRPr>
            </a:lvl5pPr>
            <a:lvl6pPr algn="l">
              <a:defRPr sz="1575" b="1">
                <a:solidFill>
                  <a:srgbClr val="1D6A50"/>
                </a:solidFill>
                <a:latin typeface="Avenir Next"/>
                <a:ea typeface="Avenir Next"/>
                <a:cs typeface="Avenir Next"/>
              </a:defRPr>
            </a:lvl6pPr>
            <a:lvl7pPr algn="l">
              <a:defRPr sz="1575" b="1">
                <a:solidFill>
                  <a:srgbClr val="1D6A50"/>
                </a:solidFill>
                <a:latin typeface="Avenir Next"/>
                <a:ea typeface="Avenir Next"/>
                <a:cs typeface="Avenir Next"/>
              </a:defRPr>
            </a:lvl7pPr>
            <a:lvl8pPr algn="l">
              <a:defRPr sz="1575" b="1">
                <a:solidFill>
                  <a:srgbClr val="1D6A50"/>
                </a:solidFill>
                <a:latin typeface="Avenir Next"/>
                <a:ea typeface="Avenir Next"/>
                <a:cs typeface="Avenir Next"/>
              </a:defRPr>
            </a:lvl8pPr>
            <a:lvl9pPr algn="l">
              <a:defRPr sz="1575" b="1">
                <a:solidFill>
                  <a:srgbClr val="1D6A50"/>
                </a:solidFill>
                <a:latin typeface="Avenir Next"/>
                <a:ea typeface="Avenir Next"/>
                <a:cs typeface="Avenir Next"/>
              </a:defRPr>
            </a:lvl9pPr>
          </a:lstStyle>
          <a:p xmlns:a="http://schemas.openxmlformats.org/drawingml/2006/main">
            <a:pPr algn="l">
              <a:defRPr sz="1575" b="1">
                <a:solidFill>
                  <a:srgbClr val="1D6A50"/>
                </a:solidFill>
                <a:latin typeface="Avenir Next"/>
                <a:ea typeface="Avenir Next"/>
                <a:cs typeface="Avenir Next"/>
              </a:defRPr>
            </a:pPr>
            <a:r>
              <a:rPr sz="1575" b="1">
                <a:solidFill>
                  <a:srgbClr val="1D6A50"/>
                </a:solidFill>
                <a:latin typeface="Avenir Next"/>
                <a:ea typeface="Avenir Next"/>
                <a:cs typeface="Avenir Next"/>
              </a:rPr>
              <a:t>API + server cache</a:t>
            </a:r>
          </a:p>
        </p:txBody>
      </p:sp>
      <p:sp>
        <p:nvSpPr>
          <p:cNvPr id="10" name="">
            <a:extLst xmlns:a="http://schemas.openxmlformats.org/drawingml/2006/main">
              <a:ext uri="{FF2B5EF4-FFF2-40B4-BE49-F238E27FC236}">
                <a16:creationId xmlns:a16="http://schemas.microsoft.com/office/drawing/2014/main" id="{FAD0E31A-1F40-4F68-BA8F-0F775A874B23}"/>
              </a:ext>
            </a:extLst>
          </p:cNvPr>
          <p:cNvSpPr>
            <a:spLocks xmlns:a="http://schemas.openxmlformats.org/drawingml/2006/main" noGrp="1"/>
          </p:cNvSpPr>
          <p:nvPr/>
        </p:nvSpPr>
        <p:spPr>
          <a:xfrm xmlns:a="http://schemas.openxmlformats.org/drawingml/2006/main">
            <a:off x="5981700" y="2228850"/>
            <a:ext cx="19050" cy="3067050"/>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8649607-8D71-4102-863F-183D95C8ECFF}"/>
              </a:ext>
            </a:extLst>
          </p:cNvPr>
          <p:cNvSpPr>
            <a:spLocks xmlns:a="http://schemas.openxmlformats.org/drawingml/2006/main" noGrp="1"/>
          </p:cNvSpPr>
          <p:nvPr/>
        </p:nvSpPr>
        <p:spPr>
          <a:xfrm xmlns:a="http://schemas.openxmlformats.org/drawingml/2006/main">
            <a:off x="6572250" y="239077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FROM THE BLOCKCHAIN</a:t>
            </a:r>
          </a:p>
        </p:txBody>
      </p:sp>
      <p:sp>
        <p:nvSpPr>
          <p:cNvPr id="12" name="">
            <a:extLst xmlns:a="http://schemas.openxmlformats.org/drawingml/2006/main">
              <a:ext uri="{FF2B5EF4-FFF2-40B4-BE49-F238E27FC236}">
                <a16:creationId xmlns:a16="http://schemas.microsoft.com/office/drawing/2014/main" id="{84722432-D2E4-45CA-BA3E-D75CD3B9A0EB}"/>
              </a:ext>
            </a:extLst>
          </p:cNvPr>
          <p:cNvSpPr>
            <a:spLocks xmlns:a="http://schemas.openxmlformats.org/drawingml/2006/main" noGrp="1"/>
          </p:cNvSpPr>
          <p:nvPr/>
        </p:nvSpPr>
        <p:spPr>
          <a:xfrm xmlns:a="http://schemas.openxmlformats.org/drawingml/2006/main">
            <a:off x="6572250" y="2762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082C24"/>
                </a:solidFill>
                <a:latin typeface="Avenir Next"/>
                <a:ea typeface="Avenir Next"/>
                <a:cs typeface="Avenir Next"/>
              </a:defRPr>
            </a:defPPr>
            <a:lvl1pPr algn="l">
              <a:defRPr sz="2175" b="0">
                <a:solidFill>
                  <a:srgbClr val="082C24"/>
                </a:solidFill>
                <a:latin typeface="Avenir Next"/>
                <a:ea typeface="Avenir Next"/>
                <a:cs typeface="Avenir Next"/>
              </a:defRPr>
            </a:lvl1pPr>
            <a:lvl2pPr algn="l">
              <a:defRPr sz="2175" b="0">
                <a:solidFill>
                  <a:srgbClr val="082C24"/>
                </a:solidFill>
                <a:latin typeface="Avenir Next"/>
                <a:ea typeface="Avenir Next"/>
                <a:cs typeface="Avenir Next"/>
              </a:defRPr>
            </a:lvl2pPr>
            <a:lvl3pPr algn="l">
              <a:defRPr sz="2175" b="0">
                <a:solidFill>
                  <a:srgbClr val="082C24"/>
                </a:solidFill>
                <a:latin typeface="Avenir Next"/>
                <a:ea typeface="Avenir Next"/>
                <a:cs typeface="Avenir Next"/>
              </a:defRPr>
            </a:lvl3pPr>
            <a:lvl4pPr algn="l">
              <a:defRPr sz="2175" b="0">
                <a:solidFill>
                  <a:srgbClr val="082C24"/>
                </a:solidFill>
                <a:latin typeface="Avenir Next"/>
                <a:ea typeface="Avenir Next"/>
                <a:cs typeface="Avenir Next"/>
              </a:defRPr>
            </a:lvl4pPr>
            <a:lvl5pPr algn="l">
              <a:defRPr sz="2175" b="0">
                <a:solidFill>
                  <a:srgbClr val="082C24"/>
                </a:solidFill>
                <a:latin typeface="Avenir Next"/>
                <a:ea typeface="Avenir Next"/>
                <a:cs typeface="Avenir Next"/>
              </a:defRPr>
            </a:lvl5pPr>
            <a:lvl6pPr algn="l">
              <a:defRPr sz="2175" b="0">
                <a:solidFill>
                  <a:srgbClr val="082C24"/>
                </a:solidFill>
                <a:latin typeface="Avenir Next"/>
                <a:ea typeface="Avenir Next"/>
                <a:cs typeface="Avenir Next"/>
              </a:defRPr>
            </a:lvl6pPr>
            <a:lvl7pPr algn="l">
              <a:defRPr sz="2175" b="0">
                <a:solidFill>
                  <a:srgbClr val="082C24"/>
                </a:solidFill>
                <a:latin typeface="Avenir Next"/>
                <a:ea typeface="Avenir Next"/>
                <a:cs typeface="Avenir Next"/>
              </a:defRPr>
            </a:lvl7pPr>
            <a:lvl8pPr algn="l">
              <a:defRPr sz="2175" b="0">
                <a:solidFill>
                  <a:srgbClr val="082C24"/>
                </a:solidFill>
                <a:latin typeface="Avenir Next"/>
                <a:ea typeface="Avenir Next"/>
                <a:cs typeface="Avenir Next"/>
              </a:defRPr>
            </a:lvl8pPr>
            <a:lvl9pPr algn="l">
              <a:defRPr sz="2175" b="0">
                <a:solidFill>
                  <a:srgbClr val="082C24"/>
                </a:solidFill>
                <a:latin typeface="Avenir Next"/>
                <a:ea typeface="Avenir Next"/>
                <a:cs typeface="Avenir Next"/>
              </a:defRPr>
            </a:lvl9pPr>
          </a:lstStyle>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Card and ticket ownership</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Wallet-signed purchases and votes</a:t>
            </a:r>
          </a:p>
          <a:p xmlns:a="http://schemas.openxmlformats.org/drawingml/2006/main">
            <a:pPr algn="l">
              <a:defRPr sz="2175" b="0">
                <a:solidFill>
                  <a:srgbClr val="082C24"/>
                </a:solidFill>
                <a:latin typeface="Avenir Next"/>
                <a:ea typeface="Avenir Next"/>
                <a:cs typeface="Avenir Next"/>
              </a:defRPr>
            </a:pPr>
            <a:r>
              <a:rPr sz="2175" b="0">
                <a:solidFill>
                  <a:srgbClr val="082C24"/>
                </a:solidFill>
                <a:latin typeface="Avenir Next"/>
                <a:ea typeface="Avenir Next"/>
                <a:cs typeface="Avenir Next"/>
              </a:rPr>
              <a:t>Escrow and ticket rules</a:t>
            </a:r>
          </a:p>
        </p:txBody>
      </p:sp>
      <p:sp>
        <p:nvSpPr>
          <p:cNvPr id="13" name="">
            <a:extLst xmlns:a="http://schemas.openxmlformats.org/drawingml/2006/main">
              <a:ext uri="{FF2B5EF4-FFF2-40B4-BE49-F238E27FC236}">
                <a16:creationId xmlns:a16="http://schemas.microsoft.com/office/drawing/2014/main" id="{AE352BF9-1F66-4176-8D24-DF6A1DC3C550}"/>
              </a:ext>
            </a:extLst>
          </p:cNvPr>
          <p:cNvSpPr>
            <a:spLocks xmlns:a="http://schemas.openxmlformats.org/drawingml/2006/main" noGrp="1"/>
          </p:cNvSpPr>
          <p:nvPr/>
        </p:nvSpPr>
        <p:spPr>
          <a:xfrm xmlns:a="http://schemas.openxmlformats.org/drawingml/2006/main">
            <a:off x="6572250" y="445770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D6A50"/>
                </a:solidFill>
                <a:latin typeface="Avenir Next"/>
                <a:ea typeface="Avenir Next"/>
                <a:cs typeface="Avenir Next"/>
              </a:defRPr>
            </a:defPPr>
            <a:lvl1pPr algn="l">
              <a:defRPr sz="1575" b="1">
                <a:solidFill>
                  <a:srgbClr val="1D6A50"/>
                </a:solidFill>
                <a:latin typeface="Avenir Next"/>
                <a:ea typeface="Avenir Next"/>
                <a:cs typeface="Avenir Next"/>
              </a:defRPr>
            </a:lvl1pPr>
            <a:lvl2pPr algn="l">
              <a:defRPr sz="1575" b="1">
                <a:solidFill>
                  <a:srgbClr val="1D6A50"/>
                </a:solidFill>
                <a:latin typeface="Avenir Next"/>
                <a:ea typeface="Avenir Next"/>
                <a:cs typeface="Avenir Next"/>
              </a:defRPr>
            </a:lvl2pPr>
            <a:lvl3pPr algn="l">
              <a:defRPr sz="1575" b="1">
                <a:solidFill>
                  <a:srgbClr val="1D6A50"/>
                </a:solidFill>
                <a:latin typeface="Avenir Next"/>
                <a:ea typeface="Avenir Next"/>
                <a:cs typeface="Avenir Next"/>
              </a:defRPr>
            </a:lvl3pPr>
            <a:lvl4pPr algn="l">
              <a:defRPr sz="1575" b="1">
                <a:solidFill>
                  <a:srgbClr val="1D6A50"/>
                </a:solidFill>
                <a:latin typeface="Avenir Next"/>
                <a:ea typeface="Avenir Next"/>
                <a:cs typeface="Avenir Next"/>
              </a:defRPr>
            </a:lvl4pPr>
            <a:lvl5pPr algn="l">
              <a:defRPr sz="1575" b="1">
                <a:solidFill>
                  <a:srgbClr val="1D6A50"/>
                </a:solidFill>
                <a:latin typeface="Avenir Next"/>
                <a:ea typeface="Avenir Next"/>
                <a:cs typeface="Avenir Next"/>
              </a:defRPr>
            </a:lvl5pPr>
            <a:lvl6pPr algn="l">
              <a:defRPr sz="1575" b="1">
                <a:solidFill>
                  <a:srgbClr val="1D6A50"/>
                </a:solidFill>
                <a:latin typeface="Avenir Next"/>
                <a:ea typeface="Avenir Next"/>
                <a:cs typeface="Avenir Next"/>
              </a:defRPr>
            </a:lvl6pPr>
            <a:lvl7pPr algn="l">
              <a:defRPr sz="1575" b="1">
                <a:solidFill>
                  <a:srgbClr val="1D6A50"/>
                </a:solidFill>
                <a:latin typeface="Avenir Next"/>
                <a:ea typeface="Avenir Next"/>
                <a:cs typeface="Avenir Next"/>
              </a:defRPr>
            </a:lvl7pPr>
            <a:lvl8pPr algn="l">
              <a:defRPr sz="1575" b="1">
                <a:solidFill>
                  <a:srgbClr val="1D6A50"/>
                </a:solidFill>
                <a:latin typeface="Avenir Next"/>
                <a:ea typeface="Avenir Next"/>
                <a:cs typeface="Avenir Next"/>
              </a:defRPr>
            </a:lvl8pPr>
            <a:lvl9pPr algn="l">
              <a:defRPr sz="1575" b="1">
                <a:solidFill>
                  <a:srgbClr val="1D6A50"/>
                </a:solidFill>
                <a:latin typeface="Avenir Next"/>
                <a:ea typeface="Avenir Next"/>
                <a:cs typeface="Avenir Next"/>
              </a:defRPr>
            </a:lvl9pPr>
          </a:lstStyle>
          <a:p xmlns:a="http://schemas.openxmlformats.org/drawingml/2006/main">
            <a:pPr algn="l">
              <a:defRPr sz="1575" b="1">
                <a:solidFill>
                  <a:srgbClr val="1D6A50"/>
                </a:solidFill>
                <a:latin typeface="Avenir Next"/>
                <a:ea typeface="Avenir Next"/>
                <a:cs typeface="Avenir Next"/>
              </a:defRPr>
            </a:pPr>
            <a:r>
              <a:rPr sz="1575" b="1">
                <a:solidFill>
                  <a:srgbClr val="1D6A50"/>
                </a:solidFill>
                <a:latin typeface="Avenir Next"/>
                <a:ea typeface="Avenir Next"/>
                <a:cs typeface="Avenir Next"/>
              </a:rPr>
              <a:t>Wallet + smart contracts</a:t>
            </a:r>
          </a:p>
        </p:txBody>
      </p:sp>
      <p:sp>
        <p:nvSpPr>
          <p:cNvPr id="14" name="">
            <a:extLst xmlns:a="http://schemas.openxmlformats.org/drawingml/2006/main">
              <a:ext uri="{FF2B5EF4-FFF2-40B4-BE49-F238E27FC236}">
                <a16:creationId xmlns:a16="http://schemas.microsoft.com/office/drawing/2014/main" id="{D1D203B0-2C64-44BF-9FC8-A8671E1C518E}"/>
              </a:ext>
            </a:extLst>
          </p:cNvPr>
          <p:cNvSpPr>
            <a:spLocks xmlns:a="http://schemas.openxmlformats.org/drawingml/2006/main" noGrp="1"/>
          </p:cNvSpPr>
          <p:nvPr/>
        </p:nvSpPr>
        <p:spPr>
          <a:xfrm xmlns:a="http://schemas.openxmlformats.org/drawingml/2006/main">
            <a:off x="876300" y="5314950"/>
            <a:ext cx="10439400" cy="533400"/>
          </a:xfrm>
          <a:prstGeom xmlns:a="http://schemas.openxmlformats.org/drawingml/2006/main" prst="roundRect">
            <a:avLst>
              <a:gd name="adj" fmla="val 21429"/>
            </a:avLst>
          </a:prstGeom>
          <a:solidFill xmlns:a="http://schemas.openxmlformats.org/drawingml/2006/main">
            <a:srgbClr val="F5E6B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C03E33F-AF78-4C6F-9448-AB7F471D8A61}"/>
              </a:ext>
            </a:extLst>
          </p:cNvPr>
          <p:cNvSpPr>
            <a:spLocks xmlns:a="http://schemas.openxmlformats.org/drawingml/2006/main" noGrp="1"/>
          </p:cNvSpPr>
          <p:nvPr/>
        </p:nvSpPr>
        <p:spPr>
          <a:xfrm xmlns:a="http://schemas.openxmlformats.org/drawingml/2006/main">
            <a:off x="1076325" y="5372100"/>
            <a:ext cx="1005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Blockchain records assets and enforces coded rules; it does not make a cricket score trustworthy by itself.</a:t>
            </a:r>
          </a:p>
        </p:txBody>
      </p:sp>
    </p:spTree>
    <p:extLst>
      <p:ext uri="{BB962C8B-B14F-4D97-AF65-F5344CB8AC3E}">
        <p14:creationId xmlns:p14="http://schemas.microsoft.com/office/powerpoint/2010/main" val="537065627"/>
      </p:ext>
    </p:extLst>
  </p:cSld>
</p:sld>
</file>

<file path=ppt/slides/slide7.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D05A281-E852-4DF1-AB6C-C0E4099E5560}"/>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HOW · FAN FEATURES</a:t>
            </a:r>
          </a:p>
        </p:txBody>
      </p:sp>
      <p:sp>
        <p:nvSpPr>
          <p:cNvPr id="2" name="">
            <a:extLst xmlns:a="http://schemas.openxmlformats.org/drawingml/2006/main">
              <a:ext uri="{FF2B5EF4-FFF2-40B4-BE49-F238E27FC236}">
                <a16:creationId xmlns:a16="http://schemas.microsoft.com/office/drawing/2014/main" id="{1517B5A2-8B66-4414-B9A0-8BDA41A4EA73}"/>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Blockchain-backed fan features</a:t>
            </a:r>
          </a:p>
        </p:txBody>
      </p:sp>
      <p:sp>
        <p:nvSpPr>
          <p:cNvPr id="3" name="">
            <a:extLst xmlns:a="http://schemas.openxmlformats.org/drawingml/2006/main">
              <a:ext uri="{FF2B5EF4-FFF2-40B4-BE49-F238E27FC236}">
                <a16:creationId xmlns:a16="http://schemas.microsoft.com/office/drawing/2014/main" id="{0AF3F92E-E470-4381-937B-12184A3DF2B3}"/>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Contracts matter when a fan needs ownership, a transaction record or a rule they can inspect.</a:t>
            </a:r>
          </a:p>
        </p:txBody>
      </p:sp>
      <p:sp>
        <p:nvSpPr>
          <p:cNvPr id="4" name="">
            <a:extLst xmlns:a="http://schemas.openxmlformats.org/drawingml/2006/main">
              <a:ext uri="{FF2B5EF4-FFF2-40B4-BE49-F238E27FC236}">
                <a16:creationId xmlns:a16="http://schemas.microsoft.com/office/drawing/2014/main" id="{A3A160CC-8227-4F2B-8AE6-6F30052A0D1C}"/>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0455B4-4514-4CA2-A3AD-4CD49DD24178}"/>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6E978F83-9E2C-4446-B166-0F5642D9FBFF}"/>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07</a:t>
            </a:r>
          </a:p>
        </p:txBody>
      </p:sp>
      <p:sp>
        <p:nvSpPr>
          <p:cNvPr id="7" name="">
            <a:extLst xmlns:a="http://schemas.openxmlformats.org/drawingml/2006/main">
              <a:ext uri="{FF2B5EF4-FFF2-40B4-BE49-F238E27FC236}">
                <a16:creationId xmlns:a16="http://schemas.microsoft.com/office/drawing/2014/main" id="{097791A6-721B-4E52-A3B0-1BD6556D5B75}"/>
              </a:ext>
            </a:extLst>
          </p:cNvPr>
          <p:cNvSpPr>
            <a:spLocks xmlns:a="http://schemas.openxmlformats.org/drawingml/2006/main" noGrp="1"/>
          </p:cNvSpPr>
          <p:nvPr/>
        </p:nvSpPr>
        <p:spPr>
          <a:xfrm xmlns:a="http://schemas.openxmlformats.org/drawingml/2006/main">
            <a:off x="876300" y="2476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Player cards</a:t>
            </a:r>
          </a:p>
        </p:txBody>
      </p:sp>
      <p:sp>
        <p:nvSpPr>
          <p:cNvPr id="8" name="">
            <a:extLst xmlns:a="http://schemas.openxmlformats.org/drawingml/2006/main">
              <a:ext uri="{FF2B5EF4-FFF2-40B4-BE49-F238E27FC236}">
                <a16:creationId xmlns:a16="http://schemas.microsoft.com/office/drawing/2014/main" id="{D38DB2FF-A965-4BE3-B926-AA82CD4197E3}"/>
              </a:ext>
            </a:extLst>
          </p:cNvPr>
          <p:cNvSpPr>
            <a:spLocks xmlns:a="http://schemas.openxmlformats.org/drawingml/2006/main" noGrp="1"/>
          </p:cNvSpPr>
          <p:nvPr/>
        </p:nvSpPr>
        <p:spPr>
          <a:xfrm xmlns:a="http://schemas.openxmlformats.org/drawingml/2006/main">
            <a:off x="3667125" y="247650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Owned by a wallet; can be collected or traded</a:t>
            </a:r>
          </a:p>
        </p:txBody>
      </p:sp>
      <p:sp>
        <p:nvSpPr>
          <p:cNvPr id="9" name="">
            <a:extLst xmlns:a="http://schemas.openxmlformats.org/drawingml/2006/main">
              <a:ext uri="{FF2B5EF4-FFF2-40B4-BE49-F238E27FC236}">
                <a16:creationId xmlns:a16="http://schemas.microsoft.com/office/drawing/2014/main" id="{49CBF5BE-82B2-45D6-BCB8-3E467AC8816D}"/>
              </a:ext>
            </a:extLst>
          </p:cNvPr>
          <p:cNvSpPr>
            <a:spLocks xmlns:a="http://schemas.openxmlformats.org/drawingml/2006/main" noGrp="1"/>
          </p:cNvSpPr>
          <p:nvPr/>
        </p:nvSpPr>
        <p:spPr>
          <a:xfrm xmlns:a="http://schemas.openxmlformats.org/drawingml/2006/main">
            <a:off x="876300" y="3028950"/>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A49B9-6A82-4ADE-AC41-8943FE5D0AAC}"/>
              </a:ext>
            </a:extLst>
          </p:cNvPr>
          <p:cNvSpPr>
            <a:spLocks xmlns:a="http://schemas.openxmlformats.org/drawingml/2006/main" noGrp="1"/>
          </p:cNvSpPr>
          <p:nvPr/>
        </p:nvSpPr>
        <p:spPr>
          <a:xfrm xmlns:a="http://schemas.openxmlformats.org/drawingml/2006/main">
            <a:off x="876300" y="32099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CRIC test token</a:t>
            </a:r>
          </a:p>
        </p:txBody>
      </p:sp>
      <p:sp>
        <p:nvSpPr>
          <p:cNvPr id="11" name="">
            <a:extLst xmlns:a="http://schemas.openxmlformats.org/drawingml/2006/main">
              <a:ext uri="{FF2B5EF4-FFF2-40B4-BE49-F238E27FC236}">
                <a16:creationId xmlns:a16="http://schemas.microsoft.com/office/drawing/2014/main" id="{A3083A2C-D500-4B1A-BAFC-D8B2539292B6}"/>
              </a:ext>
            </a:extLst>
          </p:cNvPr>
          <p:cNvSpPr>
            <a:spLocks xmlns:a="http://schemas.openxmlformats.org/drawingml/2006/main" noGrp="1"/>
          </p:cNvSpPr>
          <p:nvPr/>
        </p:nvSpPr>
        <p:spPr>
          <a:xfrm xmlns:a="http://schemas.openxmlformats.org/drawingml/2006/main">
            <a:off x="3667125" y="32099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Used for demo purchases and contest entry</a:t>
            </a:r>
          </a:p>
        </p:txBody>
      </p:sp>
      <p:sp>
        <p:nvSpPr>
          <p:cNvPr id="12" name="">
            <a:extLst xmlns:a="http://schemas.openxmlformats.org/drawingml/2006/main">
              <a:ext uri="{FF2B5EF4-FFF2-40B4-BE49-F238E27FC236}">
                <a16:creationId xmlns:a16="http://schemas.microsoft.com/office/drawing/2014/main" id="{8C9D37EB-0867-44B8-9DF9-3E4EB763D642}"/>
              </a:ext>
            </a:extLst>
          </p:cNvPr>
          <p:cNvSpPr>
            <a:spLocks xmlns:a="http://schemas.openxmlformats.org/drawingml/2006/main" noGrp="1"/>
          </p:cNvSpPr>
          <p:nvPr/>
        </p:nvSpPr>
        <p:spPr>
          <a:xfrm xmlns:a="http://schemas.openxmlformats.org/drawingml/2006/main">
            <a:off x="876300" y="3762375"/>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BC26E6-4D00-4CD4-830D-07C16727ECDC}"/>
              </a:ext>
            </a:extLst>
          </p:cNvPr>
          <p:cNvSpPr>
            <a:spLocks xmlns:a="http://schemas.openxmlformats.org/drawingml/2006/main" noGrp="1"/>
          </p:cNvSpPr>
          <p:nvPr/>
        </p:nvSpPr>
        <p:spPr>
          <a:xfrm xmlns:a="http://schemas.openxmlformats.org/drawingml/2006/main">
            <a:off x="876300" y="39433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Tickets</a:t>
            </a:r>
          </a:p>
        </p:txBody>
      </p:sp>
      <p:sp>
        <p:nvSpPr>
          <p:cNvPr id="14" name="">
            <a:extLst xmlns:a="http://schemas.openxmlformats.org/drawingml/2006/main">
              <a:ext uri="{FF2B5EF4-FFF2-40B4-BE49-F238E27FC236}">
                <a16:creationId xmlns:a16="http://schemas.microsoft.com/office/drawing/2014/main" id="{E9C57DC4-044A-4B15-B6D3-4B2C1F9944FF}"/>
              </a:ext>
            </a:extLst>
          </p:cNvPr>
          <p:cNvSpPr>
            <a:spLocks xmlns:a="http://schemas.openxmlformats.org/drawingml/2006/main" noGrp="1"/>
          </p:cNvSpPr>
          <p:nvPr/>
        </p:nvSpPr>
        <p:spPr>
          <a:xfrm xmlns:a="http://schemas.openxmlformats.org/drawingml/2006/main">
            <a:off x="3667125" y="394335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Resale limit and one-time redemption enforced by contract</a:t>
            </a:r>
          </a:p>
        </p:txBody>
      </p:sp>
      <p:sp>
        <p:nvSpPr>
          <p:cNvPr id="15" name="">
            <a:extLst xmlns:a="http://schemas.openxmlformats.org/drawingml/2006/main">
              <a:ext uri="{FF2B5EF4-FFF2-40B4-BE49-F238E27FC236}">
                <a16:creationId xmlns:a16="http://schemas.microsoft.com/office/drawing/2014/main" id="{7AC16ECC-A7E0-4953-8E89-DC29C6D27794}"/>
              </a:ext>
            </a:extLst>
          </p:cNvPr>
          <p:cNvSpPr>
            <a:spLocks xmlns:a="http://schemas.openxmlformats.org/drawingml/2006/main" noGrp="1"/>
          </p:cNvSpPr>
          <p:nvPr/>
        </p:nvSpPr>
        <p:spPr>
          <a:xfrm xmlns:a="http://schemas.openxmlformats.org/drawingml/2006/main">
            <a:off x="876300" y="4495800"/>
            <a:ext cx="1038225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991EB8D-6E51-4B27-BFD0-1BB97261A3F7}"/>
              </a:ext>
            </a:extLst>
          </p:cNvPr>
          <p:cNvSpPr>
            <a:spLocks xmlns:a="http://schemas.openxmlformats.org/drawingml/2006/main" noGrp="1"/>
          </p:cNvSpPr>
          <p:nvPr/>
        </p:nvSpPr>
        <p:spPr>
          <a:xfrm xmlns:a="http://schemas.openxmlformats.org/drawingml/2006/main">
            <a:off x="876300" y="46767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F5F2E8"/>
                </a:solidFill>
                <a:latin typeface="Avenir Next"/>
                <a:ea typeface="Avenir Next"/>
                <a:cs typeface="Avenir Next"/>
              </a:defRPr>
            </a:defPPr>
            <a:lvl1pPr algn="l">
              <a:defRPr sz="1875" b="1">
                <a:solidFill>
                  <a:srgbClr val="F5F2E8"/>
                </a:solidFill>
                <a:latin typeface="Avenir Next"/>
                <a:ea typeface="Avenir Next"/>
                <a:cs typeface="Avenir Next"/>
              </a:defRPr>
            </a:lvl1pPr>
            <a:lvl2pPr algn="l">
              <a:defRPr sz="1875" b="1">
                <a:solidFill>
                  <a:srgbClr val="F5F2E8"/>
                </a:solidFill>
                <a:latin typeface="Avenir Next"/>
                <a:ea typeface="Avenir Next"/>
                <a:cs typeface="Avenir Next"/>
              </a:defRPr>
            </a:lvl2pPr>
            <a:lvl3pPr algn="l">
              <a:defRPr sz="1875" b="1">
                <a:solidFill>
                  <a:srgbClr val="F5F2E8"/>
                </a:solidFill>
                <a:latin typeface="Avenir Next"/>
                <a:ea typeface="Avenir Next"/>
                <a:cs typeface="Avenir Next"/>
              </a:defRPr>
            </a:lvl3pPr>
            <a:lvl4pPr algn="l">
              <a:defRPr sz="1875" b="1">
                <a:solidFill>
                  <a:srgbClr val="F5F2E8"/>
                </a:solidFill>
                <a:latin typeface="Avenir Next"/>
                <a:ea typeface="Avenir Next"/>
                <a:cs typeface="Avenir Next"/>
              </a:defRPr>
            </a:lvl4pPr>
            <a:lvl5pPr algn="l">
              <a:defRPr sz="1875" b="1">
                <a:solidFill>
                  <a:srgbClr val="F5F2E8"/>
                </a:solidFill>
                <a:latin typeface="Avenir Next"/>
                <a:ea typeface="Avenir Next"/>
                <a:cs typeface="Avenir Next"/>
              </a:defRPr>
            </a:lvl5pPr>
            <a:lvl6pPr algn="l">
              <a:defRPr sz="1875" b="1">
                <a:solidFill>
                  <a:srgbClr val="F5F2E8"/>
                </a:solidFill>
                <a:latin typeface="Avenir Next"/>
                <a:ea typeface="Avenir Next"/>
                <a:cs typeface="Avenir Next"/>
              </a:defRPr>
            </a:lvl6pPr>
            <a:lvl7pPr algn="l">
              <a:defRPr sz="1875" b="1">
                <a:solidFill>
                  <a:srgbClr val="F5F2E8"/>
                </a:solidFill>
                <a:latin typeface="Avenir Next"/>
                <a:ea typeface="Avenir Next"/>
                <a:cs typeface="Avenir Next"/>
              </a:defRPr>
            </a:lvl7pPr>
            <a:lvl8pPr algn="l">
              <a:defRPr sz="1875" b="1">
                <a:solidFill>
                  <a:srgbClr val="F5F2E8"/>
                </a:solidFill>
                <a:latin typeface="Avenir Next"/>
                <a:ea typeface="Avenir Next"/>
                <a:cs typeface="Avenir Next"/>
              </a:defRPr>
            </a:lvl8pPr>
            <a:lvl9pPr algn="l">
              <a:defRPr sz="1875" b="1">
                <a:solidFill>
                  <a:srgbClr val="F5F2E8"/>
                </a:solidFill>
                <a:latin typeface="Avenir Next"/>
                <a:ea typeface="Avenir Next"/>
                <a:cs typeface="Avenir Next"/>
              </a:defRPr>
            </a:lvl9pPr>
          </a:lstStyle>
          <a:p xmlns:a="http://schemas.openxmlformats.org/drawingml/2006/main">
            <a:pPr algn="l">
              <a:defRPr sz="1875" b="1">
                <a:solidFill>
                  <a:srgbClr val="F5F2E8"/>
                </a:solidFill>
                <a:latin typeface="Avenir Next"/>
                <a:ea typeface="Avenir Next"/>
                <a:cs typeface="Avenir Next"/>
              </a:defRPr>
            </a:pPr>
            <a:r>
              <a:rPr sz="1875" b="1">
                <a:solidFill>
                  <a:srgbClr val="F5F2E8"/>
                </a:solidFill>
                <a:latin typeface="Avenir Next"/>
                <a:ea typeface="Avenir Next"/>
                <a:cs typeface="Avenir Next"/>
              </a:rPr>
              <a:t>Polls and contests</a:t>
            </a:r>
          </a:p>
        </p:txBody>
      </p:sp>
      <p:sp>
        <p:nvSpPr>
          <p:cNvPr id="17" name="">
            <a:extLst xmlns:a="http://schemas.openxmlformats.org/drawingml/2006/main">
              <a:ext uri="{FF2B5EF4-FFF2-40B4-BE49-F238E27FC236}">
                <a16:creationId xmlns:a16="http://schemas.microsoft.com/office/drawing/2014/main" id="{5807B4D5-6CFE-422E-A3FE-55ACB38D8117}"/>
              </a:ext>
            </a:extLst>
          </p:cNvPr>
          <p:cNvSpPr>
            <a:spLocks xmlns:a="http://schemas.openxmlformats.org/drawingml/2006/main" noGrp="1"/>
          </p:cNvSpPr>
          <p:nvPr/>
        </p:nvSpPr>
        <p:spPr>
          <a:xfrm xmlns:a="http://schemas.openxmlformats.org/drawingml/2006/main">
            <a:off x="3667125" y="467677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Votes and entry funds recorded; prize settlement still needs an organizer</a:t>
            </a:r>
          </a:p>
        </p:txBody>
      </p:sp>
      <p:sp>
        <p:nvSpPr>
          <p:cNvPr id="18" name="">
            <a:extLst xmlns:a="http://schemas.openxmlformats.org/drawingml/2006/main">
              <a:ext uri="{FF2B5EF4-FFF2-40B4-BE49-F238E27FC236}">
                <a16:creationId xmlns:a16="http://schemas.microsoft.com/office/drawing/2014/main" id="{15D71D1F-A81D-499D-8C84-546F4B5667AE}"/>
              </a:ext>
            </a:extLst>
          </p:cNvPr>
          <p:cNvSpPr>
            <a:spLocks xmlns:a="http://schemas.openxmlformats.org/drawingml/2006/main" noGrp="1"/>
          </p:cNvSpPr>
          <p:nvPr/>
        </p:nvSpPr>
        <p:spPr>
          <a:xfrm xmlns:a="http://schemas.openxmlformats.org/drawingml/2006/main">
            <a:off x="876300" y="55626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7B942"/>
                </a:solidFill>
                <a:latin typeface="Avenir Next"/>
                <a:ea typeface="Avenir Next"/>
                <a:cs typeface="Avenir Next"/>
              </a:defRPr>
            </a:defPPr>
            <a:lvl1pPr algn="l">
              <a:defRPr sz="1350" b="1">
                <a:solidFill>
                  <a:srgbClr val="E7B942"/>
                </a:solidFill>
                <a:latin typeface="Avenir Next"/>
                <a:ea typeface="Avenir Next"/>
                <a:cs typeface="Avenir Next"/>
              </a:defRPr>
            </a:lvl1pPr>
            <a:lvl2pPr algn="l">
              <a:defRPr sz="1350" b="1">
                <a:solidFill>
                  <a:srgbClr val="E7B942"/>
                </a:solidFill>
                <a:latin typeface="Avenir Next"/>
                <a:ea typeface="Avenir Next"/>
                <a:cs typeface="Avenir Next"/>
              </a:defRPr>
            </a:lvl2pPr>
            <a:lvl3pPr algn="l">
              <a:defRPr sz="1350" b="1">
                <a:solidFill>
                  <a:srgbClr val="E7B942"/>
                </a:solidFill>
                <a:latin typeface="Avenir Next"/>
                <a:ea typeface="Avenir Next"/>
                <a:cs typeface="Avenir Next"/>
              </a:defRPr>
            </a:lvl3pPr>
            <a:lvl4pPr algn="l">
              <a:defRPr sz="1350" b="1">
                <a:solidFill>
                  <a:srgbClr val="E7B942"/>
                </a:solidFill>
                <a:latin typeface="Avenir Next"/>
                <a:ea typeface="Avenir Next"/>
                <a:cs typeface="Avenir Next"/>
              </a:defRPr>
            </a:lvl4pPr>
            <a:lvl5pPr algn="l">
              <a:defRPr sz="1350" b="1">
                <a:solidFill>
                  <a:srgbClr val="E7B942"/>
                </a:solidFill>
                <a:latin typeface="Avenir Next"/>
                <a:ea typeface="Avenir Next"/>
                <a:cs typeface="Avenir Next"/>
              </a:defRPr>
            </a:lvl5pPr>
            <a:lvl6pPr algn="l">
              <a:defRPr sz="1350" b="1">
                <a:solidFill>
                  <a:srgbClr val="E7B942"/>
                </a:solidFill>
                <a:latin typeface="Avenir Next"/>
                <a:ea typeface="Avenir Next"/>
                <a:cs typeface="Avenir Next"/>
              </a:defRPr>
            </a:lvl6pPr>
            <a:lvl7pPr algn="l">
              <a:defRPr sz="1350" b="1">
                <a:solidFill>
                  <a:srgbClr val="E7B942"/>
                </a:solidFill>
                <a:latin typeface="Avenir Next"/>
                <a:ea typeface="Avenir Next"/>
                <a:cs typeface="Avenir Next"/>
              </a:defRPr>
            </a:lvl7pPr>
            <a:lvl8pPr algn="l">
              <a:defRPr sz="1350" b="1">
                <a:solidFill>
                  <a:srgbClr val="E7B942"/>
                </a:solidFill>
                <a:latin typeface="Avenir Next"/>
                <a:ea typeface="Avenir Next"/>
                <a:cs typeface="Avenir Next"/>
              </a:defRPr>
            </a:lvl8pPr>
            <a:lvl9pPr algn="l">
              <a:defRPr sz="1350" b="1">
                <a:solidFill>
                  <a:srgbClr val="E7B942"/>
                </a:solidFill>
                <a:latin typeface="Avenir Next"/>
                <a:ea typeface="Avenir Next"/>
                <a:cs typeface="Avenir Next"/>
              </a:defRPr>
            </a:lvl9pPr>
          </a:lstStyle>
          <a:p xmlns:a="http://schemas.openxmlformats.org/drawingml/2006/main">
            <a:pPr algn="l">
              <a:defRPr sz="1350" b="1">
                <a:solidFill>
                  <a:srgbClr val="E7B942"/>
                </a:solidFill>
                <a:latin typeface="Avenir Next"/>
                <a:ea typeface="Avenir Next"/>
                <a:cs typeface="Avenir Next"/>
              </a:defRPr>
            </a:pPr>
            <a:r>
              <a:rPr sz="1350" b="1">
                <a:solidFill>
                  <a:srgbClr val="E7B942"/>
                </a:solidFill>
                <a:latin typeface="Avenir Next"/>
                <a:ea typeface="Avenir Next"/>
                <a:cs typeface="Avenir Next"/>
              </a:rPr>
              <a:t>The 50,000 CRIC faucet is a local test feature, not a real-money reward.</a:t>
            </a:r>
          </a:p>
        </p:txBody>
      </p:sp>
    </p:spTree>
    <p:extLst>
      <p:ext uri="{BB962C8B-B14F-4D97-AF65-F5344CB8AC3E}">
        <p14:creationId xmlns:p14="http://schemas.microsoft.com/office/powerpoint/2010/main" val="1266322694"/>
      </p:ext>
    </p:extLst>
  </p:cSld>
</p:sld>
</file>

<file path=ppt/slides/slide8.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2F78BFE-3574-4D64-811D-AB107F2FCD58}"/>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HOW · IMPLEMENTATION</a:t>
            </a:r>
          </a:p>
        </p:txBody>
      </p:sp>
      <p:sp>
        <p:nvSpPr>
          <p:cNvPr id="2" name="">
            <a:extLst xmlns:a="http://schemas.openxmlformats.org/drawingml/2006/main">
              <a:ext uri="{FF2B5EF4-FFF2-40B4-BE49-F238E27FC236}">
                <a16:creationId xmlns:a16="http://schemas.microsoft.com/office/drawing/2014/main" id="{7F3504FD-9F46-4148-80BC-9D4D6845E1D2}"/>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The app joins cricket data to wallet actions</a:t>
            </a:r>
          </a:p>
        </p:txBody>
      </p:sp>
      <p:sp>
        <p:nvSpPr>
          <p:cNvPr id="3" name="">
            <a:extLst xmlns:a="http://schemas.openxmlformats.org/drawingml/2006/main">
              <a:ext uri="{FF2B5EF4-FFF2-40B4-BE49-F238E27FC236}">
                <a16:creationId xmlns:a16="http://schemas.microsoft.com/office/drawing/2014/main" id="{C8674BE3-696E-4C69-B671-AC706BF88B2C}"/>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Two paths meet in the browser: one reads the match feed; the other asks the fan’s wallet to sign.</a:t>
            </a:r>
          </a:p>
        </p:txBody>
      </p:sp>
      <p:sp>
        <p:nvSpPr>
          <p:cNvPr id="4" name="">
            <a:extLst xmlns:a="http://schemas.openxmlformats.org/drawingml/2006/main">
              <a:ext uri="{FF2B5EF4-FFF2-40B4-BE49-F238E27FC236}">
                <a16:creationId xmlns:a16="http://schemas.microsoft.com/office/drawing/2014/main" id="{76D4AD53-6576-4151-9C0D-3A1FA53D3DE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339429-42A3-482F-9910-23CCFDB5B7C5}"/>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CA687879-5BC5-4012-AD40-6B78F33CAA15}"/>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08</a:t>
            </a:r>
          </a:p>
        </p:txBody>
      </p:sp>
      <p:sp>
        <p:nvSpPr>
          <p:cNvPr id="7" name="">
            <a:extLst xmlns:a="http://schemas.openxmlformats.org/drawingml/2006/main">
              <a:ext uri="{FF2B5EF4-FFF2-40B4-BE49-F238E27FC236}">
                <a16:creationId xmlns:a16="http://schemas.microsoft.com/office/drawing/2014/main" id="{53B4730B-EDDC-4722-B58E-FB9361A778F8}"/>
              </a:ext>
            </a:extLst>
          </p:cNvPr>
          <p:cNvSpPr>
            <a:spLocks xmlns:a="http://schemas.openxmlformats.org/drawingml/2006/main" noGrp="1"/>
          </p:cNvSpPr>
          <p:nvPr/>
        </p:nvSpPr>
        <p:spPr>
          <a:xfrm xmlns:a="http://schemas.openxmlformats.org/drawingml/2006/main">
            <a:off x="876300" y="2286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MATCH DATA PATH</a:t>
            </a:r>
          </a:p>
        </p:txBody>
      </p:sp>
      <p:sp>
        <p:nvSpPr>
          <p:cNvPr id="8" name="">
            <a:extLst xmlns:a="http://schemas.openxmlformats.org/drawingml/2006/main">
              <a:ext uri="{FF2B5EF4-FFF2-40B4-BE49-F238E27FC236}">
                <a16:creationId xmlns:a16="http://schemas.microsoft.com/office/drawing/2014/main" id="{A5D57B3E-FD40-49EC-A8DF-97084B80B444}"/>
              </a:ext>
            </a:extLst>
          </p:cNvPr>
          <p:cNvSpPr>
            <a:spLocks xmlns:a="http://schemas.openxmlformats.org/drawingml/2006/main" noGrp="1"/>
          </p:cNvSpPr>
          <p:nvPr/>
        </p:nvSpPr>
        <p:spPr>
          <a:xfrm xmlns:a="http://schemas.openxmlformats.org/drawingml/2006/main">
            <a:off x="876300" y="2724150"/>
            <a:ext cx="238125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9" name="">
            <a:extLst xmlns:a="http://schemas.openxmlformats.org/drawingml/2006/main">
              <a:ext uri="{FF2B5EF4-FFF2-40B4-BE49-F238E27FC236}">
                <a16:creationId xmlns:a16="http://schemas.microsoft.com/office/drawing/2014/main" id="{0D9D2896-035E-4CF5-927C-1B0B4108C600}"/>
              </a:ext>
            </a:extLst>
          </p:cNvPr>
          <p:cNvSpPr>
            <a:spLocks xmlns:a="http://schemas.openxmlformats.org/drawingml/2006/main" noGrp="1"/>
          </p:cNvSpPr>
          <p:nvPr/>
        </p:nvSpPr>
        <p:spPr>
          <a:xfrm xmlns:a="http://schemas.openxmlformats.org/drawingml/2006/main">
            <a:off x="1047750" y="28575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Cricket provider</a:t>
            </a:r>
          </a:p>
        </p:txBody>
      </p:sp>
      <p:sp>
        <p:nvSpPr>
          <p:cNvPr id="10" name="">
            <a:extLst xmlns:a="http://schemas.openxmlformats.org/drawingml/2006/main">
              <a:ext uri="{FF2B5EF4-FFF2-40B4-BE49-F238E27FC236}">
                <a16:creationId xmlns:a16="http://schemas.microsoft.com/office/drawing/2014/main" id="{8300258B-4532-403C-870F-D780DDB0AC11}"/>
              </a:ext>
            </a:extLst>
          </p:cNvPr>
          <p:cNvSpPr>
            <a:spLocks xmlns:a="http://schemas.openxmlformats.org/drawingml/2006/main" noGrp="1"/>
          </p:cNvSpPr>
          <p:nvPr/>
        </p:nvSpPr>
        <p:spPr>
          <a:xfrm xmlns:a="http://schemas.openxmlformats.org/drawingml/2006/main">
            <a:off x="1047750" y="3257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Fixtures · playing XI · points</a:t>
            </a:r>
          </a:p>
        </p:txBody>
      </p:sp>
      <p:sp>
        <p:nvSpPr>
          <p:cNvPr id="11" name="">
            <a:extLst xmlns:a="http://schemas.openxmlformats.org/drawingml/2006/main">
              <a:ext uri="{FF2B5EF4-FFF2-40B4-BE49-F238E27FC236}">
                <a16:creationId xmlns:a16="http://schemas.microsoft.com/office/drawing/2014/main" id="{380F1105-3A46-4EE0-A4D4-7E23B170394A}"/>
              </a:ext>
            </a:extLst>
          </p:cNvPr>
          <p:cNvSpPr>
            <a:spLocks xmlns:a="http://schemas.openxmlformats.org/drawingml/2006/main" noGrp="1"/>
          </p:cNvSpPr>
          <p:nvPr/>
        </p:nvSpPr>
        <p:spPr>
          <a:xfrm xmlns:a="http://schemas.openxmlformats.org/drawingml/2006/main">
            <a:off x="4762500" y="2724150"/>
            <a:ext cx="266700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12" name="">
            <a:extLst xmlns:a="http://schemas.openxmlformats.org/drawingml/2006/main">
              <a:ext uri="{FF2B5EF4-FFF2-40B4-BE49-F238E27FC236}">
                <a16:creationId xmlns:a16="http://schemas.microsoft.com/office/drawing/2014/main" id="{2FAC41A6-1731-4F60-B0DB-E5DA56240614}"/>
              </a:ext>
            </a:extLst>
          </p:cNvPr>
          <p:cNvSpPr>
            <a:spLocks xmlns:a="http://schemas.openxmlformats.org/drawingml/2006/main" noGrp="1"/>
          </p:cNvSpPr>
          <p:nvPr/>
        </p:nvSpPr>
        <p:spPr>
          <a:xfrm xmlns:a="http://schemas.openxmlformats.org/drawingml/2006/main">
            <a:off x="4933950" y="2857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Express API</a:t>
            </a:r>
          </a:p>
        </p:txBody>
      </p:sp>
      <p:sp>
        <p:nvSpPr>
          <p:cNvPr id="13" name="">
            <a:extLst xmlns:a="http://schemas.openxmlformats.org/drawingml/2006/main">
              <a:ext uri="{FF2B5EF4-FFF2-40B4-BE49-F238E27FC236}">
                <a16:creationId xmlns:a16="http://schemas.microsoft.com/office/drawing/2014/main" id="{BB555AB9-208E-43A8-9918-6B1079387C4B}"/>
              </a:ext>
            </a:extLst>
          </p:cNvPr>
          <p:cNvSpPr>
            <a:spLocks xmlns:a="http://schemas.openxmlformats.org/drawingml/2006/main" noGrp="1"/>
          </p:cNvSpPr>
          <p:nvPr/>
        </p:nvSpPr>
        <p:spPr>
          <a:xfrm xmlns:a="http://schemas.openxmlformats.org/drawingml/2006/main">
            <a:off x="4933950" y="325755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Normalises data · short cache</a:t>
            </a:r>
          </a:p>
        </p:txBody>
      </p:sp>
      <p:sp>
        <p:nvSpPr>
          <p:cNvPr id="14" name="">
            <a:extLst xmlns:a="http://schemas.openxmlformats.org/drawingml/2006/main">
              <a:ext uri="{FF2B5EF4-FFF2-40B4-BE49-F238E27FC236}">
                <a16:creationId xmlns:a16="http://schemas.microsoft.com/office/drawing/2014/main" id="{B13C0824-CFC6-4ECF-8A8E-14D766857E9A}"/>
              </a:ext>
            </a:extLst>
          </p:cNvPr>
          <p:cNvSpPr>
            <a:spLocks xmlns:a="http://schemas.openxmlformats.org/drawingml/2006/main" noGrp="1"/>
          </p:cNvSpPr>
          <p:nvPr/>
        </p:nvSpPr>
        <p:spPr>
          <a:xfrm xmlns:a="http://schemas.openxmlformats.org/drawingml/2006/main">
            <a:off x="8934450" y="2724150"/>
            <a:ext cx="2381250" cy="1009650"/>
          </a:xfrm>
          <a:prstGeom xmlns:a="http://schemas.openxmlformats.org/drawingml/2006/main" prst="rect">
            <a:avLst/>
          </a:prstGeom>
          <a:solidFill xmlns:a="http://schemas.openxmlformats.org/drawingml/2006/main">
            <a:srgbClr val="FCFBF7"/>
          </a:solidFill>
          <a:ln xmlns:a="http://schemas.openxmlformats.org/drawingml/2006/main" w="9525">
            <a:solidFill>
              <a:srgbClr val="D7DED5"/>
            </a:solidFill>
            <a:prstDash val="solid"/>
          </a:ln>
        </p:spPr>
      </p:sp>
      <p:sp>
        <p:nvSpPr>
          <p:cNvPr id="15" name="">
            <a:extLst xmlns:a="http://schemas.openxmlformats.org/drawingml/2006/main">
              <a:ext uri="{FF2B5EF4-FFF2-40B4-BE49-F238E27FC236}">
                <a16:creationId xmlns:a16="http://schemas.microsoft.com/office/drawing/2014/main" id="{9CAABB63-ED80-4872-9B5C-A8524E0CBDB9}"/>
              </a:ext>
            </a:extLst>
          </p:cNvPr>
          <p:cNvSpPr>
            <a:spLocks xmlns:a="http://schemas.openxmlformats.org/drawingml/2006/main" noGrp="1"/>
          </p:cNvSpPr>
          <p:nvPr/>
        </p:nvSpPr>
        <p:spPr>
          <a:xfrm xmlns:a="http://schemas.openxmlformats.org/drawingml/2006/main">
            <a:off x="9105900" y="285750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082C24"/>
                </a:solidFill>
                <a:latin typeface="Avenir Next"/>
                <a:ea typeface="Avenir Next"/>
                <a:cs typeface="Avenir Next"/>
              </a:defRPr>
            </a:defPPr>
            <a:lvl1pPr algn="l">
              <a:defRPr sz="1800" b="1">
                <a:solidFill>
                  <a:srgbClr val="082C24"/>
                </a:solidFill>
                <a:latin typeface="Avenir Next"/>
                <a:ea typeface="Avenir Next"/>
                <a:cs typeface="Avenir Next"/>
              </a:defRPr>
            </a:lvl1pPr>
            <a:lvl2pPr algn="l">
              <a:defRPr sz="1800" b="1">
                <a:solidFill>
                  <a:srgbClr val="082C24"/>
                </a:solidFill>
                <a:latin typeface="Avenir Next"/>
                <a:ea typeface="Avenir Next"/>
                <a:cs typeface="Avenir Next"/>
              </a:defRPr>
            </a:lvl2pPr>
            <a:lvl3pPr algn="l">
              <a:defRPr sz="1800" b="1">
                <a:solidFill>
                  <a:srgbClr val="082C24"/>
                </a:solidFill>
                <a:latin typeface="Avenir Next"/>
                <a:ea typeface="Avenir Next"/>
                <a:cs typeface="Avenir Next"/>
              </a:defRPr>
            </a:lvl3pPr>
            <a:lvl4pPr algn="l">
              <a:defRPr sz="1800" b="1">
                <a:solidFill>
                  <a:srgbClr val="082C24"/>
                </a:solidFill>
                <a:latin typeface="Avenir Next"/>
                <a:ea typeface="Avenir Next"/>
                <a:cs typeface="Avenir Next"/>
              </a:defRPr>
            </a:lvl4pPr>
            <a:lvl5pPr algn="l">
              <a:defRPr sz="1800" b="1">
                <a:solidFill>
                  <a:srgbClr val="082C24"/>
                </a:solidFill>
                <a:latin typeface="Avenir Next"/>
                <a:ea typeface="Avenir Next"/>
                <a:cs typeface="Avenir Next"/>
              </a:defRPr>
            </a:lvl5pPr>
            <a:lvl6pPr algn="l">
              <a:defRPr sz="1800" b="1">
                <a:solidFill>
                  <a:srgbClr val="082C24"/>
                </a:solidFill>
                <a:latin typeface="Avenir Next"/>
                <a:ea typeface="Avenir Next"/>
                <a:cs typeface="Avenir Next"/>
              </a:defRPr>
            </a:lvl6pPr>
            <a:lvl7pPr algn="l">
              <a:defRPr sz="1800" b="1">
                <a:solidFill>
                  <a:srgbClr val="082C24"/>
                </a:solidFill>
                <a:latin typeface="Avenir Next"/>
                <a:ea typeface="Avenir Next"/>
                <a:cs typeface="Avenir Next"/>
              </a:defRPr>
            </a:lvl7pPr>
            <a:lvl8pPr algn="l">
              <a:defRPr sz="1800" b="1">
                <a:solidFill>
                  <a:srgbClr val="082C24"/>
                </a:solidFill>
                <a:latin typeface="Avenir Next"/>
                <a:ea typeface="Avenir Next"/>
                <a:cs typeface="Avenir Next"/>
              </a:defRPr>
            </a:lvl8pPr>
            <a:lvl9pPr algn="l">
              <a:defRPr sz="1800" b="1">
                <a:solidFill>
                  <a:srgbClr val="082C24"/>
                </a:solidFill>
                <a:latin typeface="Avenir Next"/>
                <a:ea typeface="Avenir Next"/>
                <a:cs typeface="Avenir Next"/>
              </a:defRPr>
            </a:lvl9pPr>
          </a:lstStyle>
          <a:p xmlns:a="http://schemas.openxmlformats.org/drawingml/2006/main">
            <a:pPr algn="l">
              <a:defRPr sz="1800" b="1">
                <a:solidFill>
                  <a:srgbClr val="082C24"/>
                </a:solidFill>
                <a:latin typeface="Avenir Next"/>
                <a:ea typeface="Avenir Next"/>
                <a:cs typeface="Avenir Next"/>
              </a:defRPr>
            </a:pPr>
            <a:r>
              <a:rPr sz="1800" b="1">
                <a:solidFill>
                  <a:srgbClr val="082C24"/>
                </a:solidFill>
                <a:latin typeface="Avenir Next"/>
                <a:ea typeface="Avenir Next"/>
                <a:cs typeface="Avenir Next"/>
              </a:rPr>
              <a:t>Web app</a:t>
            </a:r>
          </a:p>
        </p:txBody>
      </p:sp>
      <p:sp>
        <p:nvSpPr>
          <p:cNvPr id="16" name="">
            <a:extLst xmlns:a="http://schemas.openxmlformats.org/drawingml/2006/main">
              <a:ext uri="{FF2B5EF4-FFF2-40B4-BE49-F238E27FC236}">
                <a16:creationId xmlns:a16="http://schemas.microsoft.com/office/drawing/2014/main" id="{9D9E574E-F06E-447B-92DC-339BEBA30215}"/>
              </a:ext>
            </a:extLst>
          </p:cNvPr>
          <p:cNvSpPr>
            <a:spLocks xmlns:a="http://schemas.openxmlformats.org/drawingml/2006/main" noGrp="1"/>
          </p:cNvSpPr>
          <p:nvPr/>
        </p:nvSpPr>
        <p:spPr>
          <a:xfrm xmlns:a="http://schemas.openxmlformats.org/drawingml/2006/main">
            <a:off x="9105900" y="3257550"/>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Builds XI · shows points</a:t>
            </a:r>
          </a:p>
        </p:txBody>
      </p:sp>
      <p:sp>
        <p:nvSpPr>
          <p:cNvPr id="17" name="">
            <a:extLst xmlns:a="http://schemas.openxmlformats.org/drawingml/2006/main">
              <a:ext uri="{FF2B5EF4-FFF2-40B4-BE49-F238E27FC236}">
                <a16:creationId xmlns:a16="http://schemas.microsoft.com/office/drawing/2014/main" id="{84EAAECB-AFF5-40EC-BC2F-D55CA595132A}"/>
              </a:ext>
            </a:extLst>
          </p:cNvPr>
          <p:cNvSpPr>
            <a:spLocks xmlns:a="http://schemas.openxmlformats.org/drawingml/2006/main" noGrp="1"/>
          </p:cNvSpPr>
          <p:nvPr/>
        </p:nvSpPr>
        <p:spPr>
          <a:xfrm xmlns:a="http://schemas.openxmlformats.org/drawingml/2006/main">
            <a:off x="3581400" y="2962275"/>
            <a:ext cx="87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302"/>
          </a:bodyPr>
          <a:lstStyle xmlns:a="http://schemas.openxmlformats.org/drawingml/2006/main">
            <a:defPPr algn="ctr">
              <a:defRPr sz="3150" b="0">
                <a:solidFill>
                  <a:srgbClr val="E7B942"/>
                </a:solidFill>
                <a:latin typeface="Avenir Next"/>
                <a:ea typeface="Avenir Next"/>
                <a:cs typeface="Avenir Next"/>
              </a:defRPr>
            </a:defPPr>
            <a:lvl1pPr algn="ctr">
              <a:defRPr sz="3150" b="0">
                <a:solidFill>
                  <a:srgbClr val="E7B942"/>
                </a:solidFill>
                <a:latin typeface="Avenir Next"/>
                <a:ea typeface="Avenir Next"/>
                <a:cs typeface="Avenir Next"/>
              </a:defRPr>
            </a:lvl1pPr>
            <a:lvl2pPr algn="ctr">
              <a:defRPr sz="3150" b="0">
                <a:solidFill>
                  <a:srgbClr val="E7B942"/>
                </a:solidFill>
                <a:latin typeface="Avenir Next"/>
                <a:ea typeface="Avenir Next"/>
                <a:cs typeface="Avenir Next"/>
              </a:defRPr>
            </a:lvl2pPr>
            <a:lvl3pPr algn="ctr">
              <a:defRPr sz="3150" b="0">
                <a:solidFill>
                  <a:srgbClr val="E7B942"/>
                </a:solidFill>
                <a:latin typeface="Avenir Next"/>
                <a:ea typeface="Avenir Next"/>
                <a:cs typeface="Avenir Next"/>
              </a:defRPr>
            </a:lvl3pPr>
            <a:lvl4pPr algn="ctr">
              <a:defRPr sz="3150" b="0">
                <a:solidFill>
                  <a:srgbClr val="E7B942"/>
                </a:solidFill>
                <a:latin typeface="Avenir Next"/>
                <a:ea typeface="Avenir Next"/>
                <a:cs typeface="Avenir Next"/>
              </a:defRPr>
            </a:lvl4pPr>
            <a:lvl5pPr algn="ctr">
              <a:defRPr sz="3150" b="0">
                <a:solidFill>
                  <a:srgbClr val="E7B942"/>
                </a:solidFill>
                <a:latin typeface="Avenir Next"/>
                <a:ea typeface="Avenir Next"/>
                <a:cs typeface="Avenir Next"/>
              </a:defRPr>
            </a:lvl5pPr>
            <a:lvl6pPr algn="ctr">
              <a:defRPr sz="3150" b="0">
                <a:solidFill>
                  <a:srgbClr val="E7B942"/>
                </a:solidFill>
                <a:latin typeface="Avenir Next"/>
                <a:ea typeface="Avenir Next"/>
                <a:cs typeface="Avenir Next"/>
              </a:defRPr>
            </a:lvl6pPr>
            <a:lvl7pPr algn="ctr">
              <a:defRPr sz="3150" b="0">
                <a:solidFill>
                  <a:srgbClr val="E7B942"/>
                </a:solidFill>
                <a:latin typeface="Avenir Next"/>
                <a:ea typeface="Avenir Next"/>
                <a:cs typeface="Avenir Next"/>
              </a:defRPr>
            </a:lvl7pPr>
            <a:lvl8pPr algn="ctr">
              <a:defRPr sz="3150" b="0">
                <a:solidFill>
                  <a:srgbClr val="E7B942"/>
                </a:solidFill>
                <a:latin typeface="Avenir Next"/>
                <a:ea typeface="Avenir Next"/>
                <a:cs typeface="Avenir Next"/>
              </a:defRPr>
            </a:lvl8pPr>
            <a:lvl9pPr algn="ctr">
              <a:defRPr sz="3150" b="0">
                <a:solidFill>
                  <a:srgbClr val="E7B942"/>
                </a:solidFill>
                <a:latin typeface="Avenir Next"/>
                <a:ea typeface="Avenir Next"/>
                <a:cs typeface="Avenir Next"/>
              </a:defRPr>
            </a:lvl9pPr>
          </a:lstStyle>
          <a:p xmlns:a="http://schemas.openxmlformats.org/drawingml/2006/main">
            <a:pPr algn="ctr">
              <a:defRPr sz="3150" b="0">
                <a:solidFill>
                  <a:srgbClr val="E7B942"/>
                </a:solidFill>
                <a:latin typeface="Avenir Next"/>
                <a:ea typeface="Avenir Next"/>
                <a:cs typeface="Avenir Next"/>
              </a:defRPr>
            </a:pPr>
            <a:r>
              <a:rPr sz="3150" b="0">
                <a:solidFill>
                  <a:srgbClr val="E7B942"/>
                </a:solidFill>
                <a:latin typeface="Avenir Next"/>
                <a:ea typeface="Avenir Next"/>
                <a:cs typeface="Avenir Next"/>
              </a:rPr>
              <a:t>→</a:t>
            </a:r>
          </a:p>
        </p:txBody>
      </p:sp>
      <p:sp>
        <p:nvSpPr>
          <p:cNvPr id="18" name="">
            <a:extLst xmlns:a="http://schemas.openxmlformats.org/drawingml/2006/main">
              <a:ext uri="{FF2B5EF4-FFF2-40B4-BE49-F238E27FC236}">
                <a16:creationId xmlns:a16="http://schemas.microsoft.com/office/drawing/2014/main" id="{F9B38F99-BA23-482F-8D67-2C8FBDA38E11}"/>
              </a:ext>
            </a:extLst>
          </p:cNvPr>
          <p:cNvSpPr>
            <a:spLocks xmlns:a="http://schemas.openxmlformats.org/drawingml/2006/main" noGrp="1"/>
          </p:cNvSpPr>
          <p:nvPr/>
        </p:nvSpPr>
        <p:spPr>
          <a:xfrm xmlns:a="http://schemas.openxmlformats.org/drawingml/2006/main">
            <a:off x="7810500" y="2962275"/>
            <a:ext cx="876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302"/>
          </a:bodyPr>
          <a:lstStyle xmlns:a="http://schemas.openxmlformats.org/drawingml/2006/main">
            <a:defPPr algn="ctr">
              <a:defRPr sz="3150" b="0">
                <a:solidFill>
                  <a:srgbClr val="E7B942"/>
                </a:solidFill>
                <a:latin typeface="Avenir Next"/>
                <a:ea typeface="Avenir Next"/>
                <a:cs typeface="Avenir Next"/>
              </a:defRPr>
            </a:defPPr>
            <a:lvl1pPr algn="ctr">
              <a:defRPr sz="3150" b="0">
                <a:solidFill>
                  <a:srgbClr val="E7B942"/>
                </a:solidFill>
                <a:latin typeface="Avenir Next"/>
                <a:ea typeface="Avenir Next"/>
                <a:cs typeface="Avenir Next"/>
              </a:defRPr>
            </a:lvl1pPr>
            <a:lvl2pPr algn="ctr">
              <a:defRPr sz="3150" b="0">
                <a:solidFill>
                  <a:srgbClr val="E7B942"/>
                </a:solidFill>
                <a:latin typeface="Avenir Next"/>
                <a:ea typeface="Avenir Next"/>
                <a:cs typeface="Avenir Next"/>
              </a:defRPr>
            </a:lvl2pPr>
            <a:lvl3pPr algn="ctr">
              <a:defRPr sz="3150" b="0">
                <a:solidFill>
                  <a:srgbClr val="E7B942"/>
                </a:solidFill>
                <a:latin typeface="Avenir Next"/>
                <a:ea typeface="Avenir Next"/>
                <a:cs typeface="Avenir Next"/>
              </a:defRPr>
            </a:lvl3pPr>
            <a:lvl4pPr algn="ctr">
              <a:defRPr sz="3150" b="0">
                <a:solidFill>
                  <a:srgbClr val="E7B942"/>
                </a:solidFill>
                <a:latin typeface="Avenir Next"/>
                <a:ea typeface="Avenir Next"/>
                <a:cs typeface="Avenir Next"/>
              </a:defRPr>
            </a:lvl4pPr>
            <a:lvl5pPr algn="ctr">
              <a:defRPr sz="3150" b="0">
                <a:solidFill>
                  <a:srgbClr val="E7B942"/>
                </a:solidFill>
                <a:latin typeface="Avenir Next"/>
                <a:ea typeface="Avenir Next"/>
                <a:cs typeface="Avenir Next"/>
              </a:defRPr>
            </a:lvl5pPr>
            <a:lvl6pPr algn="ctr">
              <a:defRPr sz="3150" b="0">
                <a:solidFill>
                  <a:srgbClr val="E7B942"/>
                </a:solidFill>
                <a:latin typeface="Avenir Next"/>
                <a:ea typeface="Avenir Next"/>
                <a:cs typeface="Avenir Next"/>
              </a:defRPr>
            </a:lvl6pPr>
            <a:lvl7pPr algn="ctr">
              <a:defRPr sz="3150" b="0">
                <a:solidFill>
                  <a:srgbClr val="E7B942"/>
                </a:solidFill>
                <a:latin typeface="Avenir Next"/>
                <a:ea typeface="Avenir Next"/>
                <a:cs typeface="Avenir Next"/>
              </a:defRPr>
            </a:lvl7pPr>
            <a:lvl8pPr algn="ctr">
              <a:defRPr sz="3150" b="0">
                <a:solidFill>
                  <a:srgbClr val="E7B942"/>
                </a:solidFill>
                <a:latin typeface="Avenir Next"/>
                <a:ea typeface="Avenir Next"/>
                <a:cs typeface="Avenir Next"/>
              </a:defRPr>
            </a:lvl8pPr>
            <a:lvl9pPr algn="ctr">
              <a:defRPr sz="3150" b="0">
                <a:solidFill>
                  <a:srgbClr val="E7B942"/>
                </a:solidFill>
                <a:latin typeface="Avenir Next"/>
                <a:ea typeface="Avenir Next"/>
                <a:cs typeface="Avenir Next"/>
              </a:defRPr>
            </a:lvl9pPr>
          </a:lstStyle>
          <a:p xmlns:a="http://schemas.openxmlformats.org/drawingml/2006/main">
            <a:pPr algn="ctr">
              <a:defRPr sz="3150" b="0">
                <a:solidFill>
                  <a:srgbClr val="E7B942"/>
                </a:solidFill>
                <a:latin typeface="Avenir Next"/>
                <a:ea typeface="Avenir Next"/>
                <a:cs typeface="Avenir Next"/>
              </a:defRPr>
            </a:pPr>
            <a:r>
              <a:rPr sz="3150" b="0">
                <a:solidFill>
                  <a:srgbClr val="E7B942"/>
                </a:solidFill>
                <a:latin typeface="Avenir Next"/>
                <a:ea typeface="Avenir Next"/>
                <a:cs typeface="Avenir Next"/>
              </a:rPr>
              <a:t>→</a:t>
            </a:r>
          </a:p>
        </p:txBody>
      </p:sp>
      <p:sp>
        <p:nvSpPr>
          <p:cNvPr id="19" name="">
            <a:extLst xmlns:a="http://schemas.openxmlformats.org/drawingml/2006/main">
              <a:ext uri="{FF2B5EF4-FFF2-40B4-BE49-F238E27FC236}">
                <a16:creationId xmlns:a16="http://schemas.microsoft.com/office/drawing/2014/main" id="{373E94D2-5FED-49FB-B97E-45634310DC88}"/>
              </a:ext>
            </a:extLst>
          </p:cNvPr>
          <p:cNvSpPr>
            <a:spLocks xmlns:a="http://schemas.openxmlformats.org/drawingml/2006/main" noGrp="1"/>
          </p:cNvSpPr>
          <p:nvPr/>
        </p:nvSpPr>
        <p:spPr>
          <a:xfrm xmlns:a="http://schemas.openxmlformats.org/drawingml/2006/main">
            <a:off x="876300" y="4133850"/>
            <a:ext cx="10439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A03A533-5EA2-4A77-BAFB-A5A3CBDA2070}"/>
              </a:ext>
            </a:extLst>
          </p:cNvPr>
          <p:cNvSpPr>
            <a:spLocks xmlns:a="http://schemas.openxmlformats.org/drawingml/2006/main" noGrp="1"/>
          </p:cNvSpPr>
          <p:nvPr/>
        </p:nvSpPr>
        <p:spPr>
          <a:xfrm xmlns:a="http://schemas.openxmlformats.org/drawingml/2006/main">
            <a:off x="876300" y="44386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WALLET TRANSACTION PATH</a:t>
            </a:r>
          </a:p>
        </p:txBody>
      </p:sp>
      <p:sp>
        <p:nvSpPr>
          <p:cNvPr id="21" name="">
            <a:extLst xmlns:a="http://schemas.openxmlformats.org/drawingml/2006/main">
              <a:ext uri="{FF2B5EF4-FFF2-40B4-BE49-F238E27FC236}">
                <a16:creationId xmlns:a16="http://schemas.microsoft.com/office/drawing/2014/main" id="{B1ED7701-B35E-4C4D-B379-3CE442FD9EE8}"/>
              </a:ext>
            </a:extLst>
          </p:cNvPr>
          <p:cNvSpPr>
            <a:spLocks xmlns:a="http://schemas.openxmlformats.org/drawingml/2006/main" noGrp="1"/>
          </p:cNvSpPr>
          <p:nvPr/>
        </p:nvSpPr>
        <p:spPr>
          <a:xfrm xmlns:a="http://schemas.openxmlformats.org/drawingml/2006/main">
            <a:off x="876300" y="4810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82C24"/>
                </a:solidFill>
                <a:latin typeface="Avenir Next"/>
                <a:ea typeface="Avenir Next"/>
                <a:cs typeface="Avenir Next"/>
              </a:defRPr>
            </a:defPPr>
            <a:lvl1pPr algn="l">
              <a:defRPr sz="1875" b="1">
                <a:solidFill>
                  <a:srgbClr val="082C24"/>
                </a:solidFill>
                <a:latin typeface="Avenir Next"/>
                <a:ea typeface="Avenir Next"/>
                <a:cs typeface="Avenir Next"/>
              </a:defRPr>
            </a:lvl1pPr>
            <a:lvl2pPr algn="l">
              <a:defRPr sz="1875" b="1">
                <a:solidFill>
                  <a:srgbClr val="082C24"/>
                </a:solidFill>
                <a:latin typeface="Avenir Next"/>
                <a:ea typeface="Avenir Next"/>
                <a:cs typeface="Avenir Next"/>
              </a:defRPr>
            </a:lvl2pPr>
            <a:lvl3pPr algn="l">
              <a:defRPr sz="1875" b="1">
                <a:solidFill>
                  <a:srgbClr val="082C24"/>
                </a:solidFill>
                <a:latin typeface="Avenir Next"/>
                <a:ea typeface="Avenir Next"/>
                <a:cs typeface="Avenir Next"/>
              </a:defRPr>
            </a:lvl3pPr>
            <a:lvl4pPr algn="l">
              <a:defRPr sz="1875" b="1">
                <a:solidFill>
                  <a:srgbClr val="082C24"/>
                </a:solidFill>
                <a:latin typeface="Avenir Next"/>
                <a:ea typeface="Avenir Next"/>
                <a:cs typeface="Avenir Next"/>
              </a:defRPr>
            </a:lvl4pPr>
            <a:lvl5pPr algn="l">
              <a:defRPr sz="1875" b="1">
                <a:solidFill>
                  <a:srgbClr val="082C24"/>
                </a:solidFill>
                <a:latin typeface="Avenir Next"/>
                <a:ea typeface="Avenir Next"/>
                <a:cs typeface="Avenir Next"/>
              </a:defRPr>
            </a:lvl5pPr>
            <a:lvl6pPr algn="l">
              <a:defRPr sz="1875" b="1">
                <a:solidFill>
                  <a:srgbClr val="082C24"/>
                </a:solidFill>
                <a:latin typeface="Avenir Next"/>
                <a:ea typeface="Avenir Next"/>
                <a:cs typeface="Avenir Next"/>
              </a:defRPr>
            </a:lvl6pPr>
            <a:lvl7pPr algn="l">
              <a:defRPr sz="1875" b="1">
                <a:solidFill>
                  <a:srgbClr val="082C24"/>
                </a:solidFill>
                <a:latin typeface="Avenir Next"/>
                <a:ea typeface="Avenir Next"/>
                <a:cs typeface="Avenir Next"/>
              </a:defRPr>
            </a:lvl7pPr>
            <a:lvl8pPr algn="l">
              <a:defRPr sz="1875" b="1">
                <a:solidFill>
                  <a:srgbClr val="082C24"/>
                </a:solidFill>
                <a:latin typeface="Avenir Next"/>
                <a:ea typeface="Avenir Next"/>
                <a:cs typeface="Avenir Next"/>
              </a:defRPr>
            </a:lvl8pPr>
            <a:lvl9pPr algn="l">
              <a:defRPr sz="1875" b="1">
                <a:solidFill>
                  <a:srgbClr val="082C24"/>
                </a:solidFill>
                <a:latin typeface="Avenir Next"/>
                <a:ea typeface="Avenir Next"/>
                <a:cs typeface="Avenir Next"/>
              </a:defRPr>
            </a:lvl9pPr>
          </a:lstStyle>
          <a:p xmlns:a="http://schemas.openxmlformats.org/drawingml/2006/main">
            <a:pPr algn="l">
              <a:defRPr sz="1875" b="1">
                <a:solidFill>
                  <a:srgbClr val="082C24"/>
                </a:solidFill>
                <a:latin typeface="Avenir Next"/>
                <a:ea typeface="Avenir Next"/>
                <a:cs typeface="Avenir Next"/>
              </a:defRPr>
            </a:pPr>
            <a:r>
              <a:rPr sz="1875" b="1">
                <a:solidFill>
                  <a:srgbClr val="082C24"/>
                </a:solidFill>
                <a:latin typeface="Avenir Next"/>
                <a:ea typeface="Avenir Next"/>
                <a:cs typeface="Avenir Next"/>
              </a:rPr>
              <a:t>Fan’s wallet</a:t>
            </a:r>
          </a:p>
        </p:txBody>
      </p:sp>
      <p:sp>
        <p:nvSpPr>
          <p:cNvPr id="22" name="">
            <a:extLst xmlns:a="http://schemas.openxmlformats.org/drawingml/2006/main">
              <a:ext uri="{FF2B5EF4-FFF2-40B4-BE49-F238E27FC236}">
                <a16:creationId xmlns:a16="http://schemas.microsoft.com/office/drawing/2014/main" id="{6830AF1C-8C91-48CC-8DAC-12D8CBF869AB}"/>
              </a:ext>
            </a:extLst>
          </p:cNvPr>
          <p:cNvSpPr>
            <a:spLocks xmlns:a="http://schemas.openxmlformats.org/drawingml/2006/main" noGrp="1"/>
          </p:cNvSpPr>
          <p:nvPr/>
        </p:nvSpPr>
        <p:spPr>
          <a:xfrm xmlns:a="http://schemas.openxmlformats.org/drawingml/2006/main">
            <a:off x="3705225" y="4810125"/>
            <a:ext cx="1104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40564E"/>
                </a:solidFill>
                <a:latin typeface="Avenir Next"/>
                <a:ea typeface="Avenir Next"/>
                <a:cs typeface="Avenir Next"/>
              </a:defRPr>
            </a:defPPr>
            <a:lvl1pPr algn="ctr">
              <a:defRPr sz="1500" b="0">
                <a:solidFill>
                  <a:srgbClr val="40564E"/>
                </a:solidFill>
                <a:latin typeface="Avenir Next"/>
                <a:ea typeface="Avenir Next"/>
                <a:cs typeface="Avenir Next"/>
              </a:defRPr>
            </a:lvl1pPr>
            <a:lvl2pPr algn="ctr">
              <a:defRPr sz="1500" b="0">
                <a:solidFill>
                  <a:srgbClr val="40564E"/>
                </a:solidFill>
                <a:latin typeface="Avenir Next"/>
                <a:ea typeface="Avenir Next"/>
                <a:cs typeface="Avenir Next"/>
              </a:defRPr>
            </a:lvl2pPr>
            <a:lvl3pPr algn="ctr">
              <a:defRPr sz="1500" b="0">
                <a:solidFill>
                  <a:srgbClr val="40564E"/>
                </a:solidFill>
                <a:latin typeface="Avenir Next"/>
                <a:ea typeface="Avenir Next"/>
                <a:cs typeface="Avenir Next"/>
              </a:defRPr>
            </a:lvl3pPr>
            <a:lvl4pPr algn="ctr">
              <a:defRPr sz="1500" b="0">
                <a:solidFill>
                  <a:srgbClr val="40564E"/>
                </a:solidFill>
                <a:latin typeface="Avenir Next"/>
                <a:ea typeface="Avenir Next"/>
                <a:cs typeface="Avenir Next"/>
              </a:defRPr>
            </a:lvl4pPr>
            <a:lvl5pPr algn="ctr">
              <a:defRPr sz="1500" b="0">
                <a:solidFill>
                  <a:srgbClr val="40564E"/>
                </a:solidFill>
                <a:latin typeface="Avenir Next"/>
                <a:ea typeface="Avenir Next"/>
                <a:cs typeface="Avenir Next"/>
              </a:defRPr>
            </a:lvl5pPr>
            <a:lvl6pPr algn="ctr">
              <a:defRPr sz="1500" b="0">
                <a:solidFill>
                  <a:srgbClr val="40564E"/>
                </a:solidFill>
                <a:latin typeface="Avenir Next"/>
                <a:ea typeface="Avenir Next"/>
                <a:cs typeface="Avenir Next"/>
              </a:defRPr>
            </a:lvl6pPr>
            <a:lvl7pPr algn="ctr">
              <a:defRPr sz="1500" b="0">
                <a:solidFill>
                  <a:srgbClr val="40564E"/>
                </a:solidFill>
                <a:latin typeface="Avenir Next"/>
                <a:ea typeface="Avenir Next"/>
                <a:cs typeface="Avenir Next"/>
              </a:defRPr>
            </a:lvl7pPr>
            <a:lvl8pPr algn="ctr">
              <a:defRPr sz="1500" b="0">
                <a:solidFill>
                  <a:srgbClr val="40564E"/>
                </a:solidFill>
                <a:latin typeface="Avenir Next"/>
                <a:ea typeface="Avenir Next"/>
                <a:cs typeface="Avenir Next"/>
              </a:defRPr>
            </a:lvl8pPr>
            <a:lvl9pPr algn="ctr">
              <a:defRPr sz="1500" b="0">
                <a:solidFill>
                  <a:srgbClr val="40564E"/>
                </a:solidFill>
                <a:latin typeface="Avenir Next"/>
                <a:ea typeface="Avenir Next"/>
                <a:cs typeface="Avenir Next"/>
              </a:defRPr>
            </a:lvl9pPr>
          </a:lstStyle>
          <a:p xmlns:a="http://schemas.openxmlformats.org/drawingml/2006/main">
            <a:pPr algn="ctr">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signs</a:t>
            </a:r>
          </a:p>
        </p:txBody>
      </p:sp>
      <p:sp>
        <p:nvSpPr>
          <p:cNvPr id="23" name="">
            <a:extLst xmlns:a="http://schemas.openxmlformats.org/drawingml/2006/main">
              <a:ext uri="{FF2B5EF4-FFF2-40B4-BE49-F238E27FC236}">
                <a16:creationId xmlns:a16="http://schemas.microsoft.com/office/drawing/2014/main" id="{3F8B3B12-50DE-4161-8569-C495D95B8697}"/>
              </a:ext>
            </a:extLst>
          </p:cNvPr>
          <p:cNvSpPr>
            <a:spLocks xmlns:a="http://schemas.openxmlformats.org/drawingml/2006/main" noGrp="1"/>
          </p:cNvSpPr>
          <p:nvPr/>
        </p:nvSpPr>
        <p:spPr>
          <a:xfrm xmlns:a="http://schemas.openxmlformats.org/drawingml/2006/main">
            <a:off x="5162550" y="4810125"/>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82C24"/>
                </a:solidFill>
                <a:latin typeface="Avenir Next"/>
                <a:ea typeface="Avenir Next"/>
                <a:cs typeface="Avenir Next"/>
              </a:defRPr>
            </a:defPPr>
            <a:lvl1pPr algn="l">
              <a:defRPr sz="1875" b="1">
                <a:solidFill>
                  <a:srgbClr val="082C24"/>
                </a:solidFill>
                <a:latin typeface="Avenir Next"/>
                <a:ea typeface="Avenir Next"/>
                <a:cs typeface="Avenir Next"/>
              </a:defRPr>
            </a:lvl1pPr>
            <a:lvl2pPr algn="l">
              <a:defRPr sz="1875" b="1">
                <a:solidFill>
                  <a:srgbClr val="082C24"/>
                </a:solidFill>
                <a:latin typeface="Avenir Next"/>
                <a:ea typeface="Avenir Next"/>
                <a:cs typeface="Avenir Next"/>
              </a:defRPr>
            </a:lvl2pPr>
            <a:lvl3pPr algn="l">
              <a:defRPr sz="1875" b="1">
                <a:solidFill>
                  <a:srgbClr val="082C24"/>
                </a:solidFill>
                <a:latin typeface="Avenir Next"/>
                <a:ea typeface="Avenir Next"/>
                <a:cs typeface="Avenir Next"/>
              </a:defRPr>
            </a:lvl3pPr>
            <a:lvl4pPr algn="l">
              <a:defRPr sz="1875" b="1">
                <a:solidFill>
                  <a:srgbClr val="082C24"/>
                </a:solidFill>
                <a:latin typeface="Avenir Next"/>
                <a:ea typeface="Avenir Next"/>
                <a:cs typeface="Avenir Next"/>
              </a:defRPr>
            </a:lvl4pPr>
            <a:lvl5pPr algn="l">
              <a:defRPr sz="1875" b="1">
                <a:solidFill>
                  <a:srgbClr val="082C24"/>
                </a:solidFill>
                <a:latin typeface="Avenir Next"/>
                <a:ea typeface="Avenir Next"/>
                <a:cs typeface="Avenir Next"/>
              </a:defRPr>
            </a:lvl5pPr>
            <a:lvl6pPr algn="l">
              <a:defRPr sz="1875" b="1">
                <a:solidFill>
                  <a:srgbClr val="082C24"/>
                </a:solidFill>
                <a:latin typeface="Avenir Next"/>
                <a:ea typeface="Avenir Next"/>
                <a:cs typeface="Avenir Next"/>
              </a:defRPr>
            </a:lvl6pPr>
            <a:lvl7pPr algn="l">
              <a:defRPr sz="1875" b="1">
                <a:solidFill>
                  <a:srgbClr val="082C24"/>
                </a:solidFill>
                <a:latin typeface="Avenir Next"/>
                <a:ea typeface="Avenir Next"/>
                <a:cs typeface="Avenir Next"/>
              </a:defRPr>
            </a:lvl7pPr>
            <a:lvl8pPr algn="l">
              <a:defRPr sz="1875" b="1">
                <a:solidFill>
                  <a:srgbClr val="082C24"/>
                </a:solidFill>
                <a:latin typeface="Avenir Next"/>
                <a:ea typeface="Avenir Next"/>
                <a:cs typeface="Avenir Next"/>
              </a:defRPr>
            </a:lvl8pPr>
            <a:lvl9pPr algn="l">
              <a:defRPr sz="1875" b="1">
                <a:solidFill>
                  <a:srgbClr val="082C24"/>
                </a:solidFill>
                <a:latin typeface="Avenir Next"/>
                <a:ea typeface="Avenir Next"/>
                <a:cs typeface="Avenir Next"/>
              </a:defRPr>
            </a:lvl9pPr>
          </a:lstStyle>
          <a:p xmlns:a="http://schemas.openxmlformats.org/drawingml/2006/main">
            <a:pPr algn="l">
              <a:defRPr sz="1875" b="1">
                <a:solidFill>
                  <a:srgbClr val="082C24"/>
                </a:solidFill>
                <a:latin typeface="Avenir Next"/>
                <a:ea typeface="Avenir Next"/>
                <a:cs typeface="Avenir Next"/>
              </a:defRPr>
            </a:pPr>
            <a:r>
              <a:rPr sz="1875" b="1">
                <a:solidFill>
                  <a:srgbClr val="082C24"/>
                </a:solidFill>
                <a:latin typeface="Avenir Next"/>
                <a:ea typeface="Avenir Next"/>
                <a:cs typeface="Avenir Next"/>
              </a:rPr>
              <a:t>Local Hardhat contracts</a:t>
            </a:r>
          </a:p>
        </p:txBody>
      </p:sp>
      <p:sp>
        <p:nvSpPr>
          <p:cNvPr id="24" name="">
            <a:extLst xmlns:a="http://schemas.openxmlformats.org/drawingml/2006/main">
              <a:ext uri="{FF2B5EF4-FFF2-40B4-BE49-F238E27FC236}">
                <a16:creationId xmlns:a16="http://schemas.microsoft.com/office/drawing/2014/main" id="{817A21F8-C74D-4107-B8F7-1C4BA861E96A}"/>
              </a:ext>
            </a:extLst>
          </p:cNvPr>
          <p:cNvSpPr>
            <a:spLocks xmlns:a="http://schemas.openxmlformats.org/drawingml/2006/main" noGrp="1"/>
          </p:cNvSpPr>
          <p:nvPr/>
        </p:nvSpPr>
        <p:spPr>
          <a:xfrm xmlns:a="http://schemas.openxmlformats.org/drawingml/2006/main">
            <a:off x="8591550" y="4810125"/>
            <a:ext cx="2724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40564E"/>
                </a:solidFill>
                <a:latin typeface="Avenir Next"/>
                <a:ea typeface="Avenir Next"/>
                <a:cs typeface="Avenir Next"/>
              </a:defRPr>
            </a:defPPr>
            <a:lvl1pPr algn="l">
              <a:defRPr sz="1350" b="0">
                <a:solidFill>
                  <a:srgbClr val="40564E"/>
                </a:solidFill>
                <a:latin typeface="Avenir Next"/>
                <a:ea typeface="Avenir Next"/>
                <a:cs typeface="Avenir Next"/>
              </a:defRPr>
            </a:lvl1pPr>
            <a:lvl2pPr algn="l">
              <a:defRPr sz="1350" b="0">
                <a:solidFill>
                  <a:srgbClr val="40564E"/>
                </a:solidFill>
                <a:latin typeface="Avenir Next"/>
                <a:ea typeface="Avenir Next"/>
                <a:cs typeface="Avenir Next"/>
              </a:defRPr>
            </a:lvl2pPr>
            <a:lvl3pPr algn="l">
              <a:defRPr sz="1350" b="0">
                <a:solidFill>
                  <a:srgbClr val="40564E"/>
                </a:solidFill>
                <a:latin typeface="Avenir Next"/>
                <a:ea typeface="Avenir Next"/>
                <a:cs typeface="Avenir Next"/>
              </a:defRPr>
            </a:lvl3pPr>
            <a:lvl4pPr algn="l">
              <a:defRPr sz="1350" b="0">
                <a:solidFill>
                  <a:srgbClr val="40564E"/>
                </a:solidFill>
                <a:latin typeface="Avenir Next"/>
                <a:ea typeface="Avenir Next"/>
                <a:cs typeface="Avenir Next"/>
              </a:defRPr>
            </a:lvl4pPr>
            <a:lvl5pPr algn="l">
              <a:defRPr sz="1350" b="0">
                <a:solidFill>
                  <a:srgbClr val="40564E"/>
                </a:solidFill>
                <a:latin typeface="Avenir Next"/>
                <a:ea typeface="Avenir Next"/>
                <a:cs typeface="Avenir Next"/>
              </a:defRPr>
            </a:lvl5pPr>
            <a:lvl6pPr algn="l">
              <a:defRPr sz="1350" b="0">
                <a:solidFill>
                  <a:srgbClr val="40564E"/>
                </a:solidFill>
                <a:latin typeface="Avenir Next"/>
                <a:ea typeface="Avenir Next"/>
                <a:cs typeface="Avenir Next"/>
              </a:defRPr>
            </a:lvl6pPr>
            <a:lvl7pPr algn="l">
              <a:defRPr sz="1350" b="0">
                <a:solidFill>
                  <a:srgbClr val="40564E"/>
                </a:solidFill>
                <a:latin typeface="Avenir Next"/>
                <a:ea typeface="Avenir Next"/>
                <a:cs typeface="Avenir Next"/>
              </a:defRPr>
            </a:lvl7pPr>
            <a:lvl8pPr algn="l">
              <a:defRPr sz="1350" b="0">
                <a:solidFill>
                  <a:srgbClr val="40564E"/>
                </a:solidFill>
                <a:latin typeface="Avenir Next"/>
                <a:ea typeface="Avenir Next"/>
                <a:cs typeface="Avenir Next"/>
              </a:defRPr>
            </a:lvl8pPr>
            <a:lvl9pPr algn="l">
              <a:defRPr sz="1350" b="0">
                <a:solidFill>
                  <a:srgbClr val="40564E"/>
                </a:solidFill>
                <a:latin typeface="Avenir Next"/>
                <a:ea typeface="Avenir Next"/>
                <a:cs typeface="Avenir Next"/>
              </a:defRPr>
            </a:lvl9pPr>
          </a:lstStyle>
          <a:p xmlns:a="http://schemas.openxmlformats.org/drawingml/2006/main">
            <a:pPr algn="l">
              <a:defRPr sz="1350" b="0">
                <a:solidFill>
                  <a:srgbClr val="40564E"/>
                </a:solidFill>
                <a:latin typeface="Avenir Next"/>
                <a:ea typeface="Avenir Next"/>
                <a:cs typeface="Avenir Next"/>
              </a:defRPr>
            </a:pPr>
            <a:r>
              <a:rPr sz="1350" b="0">
                <a:solidFill>
                  <a:srgbClr val="40564E"/>
                </a:solidFill>
                <a:latin typeface="Avenir Next"/>
                <a:ea typeface="Avenir Next"/>
                <a:cs typeface="Avenir Next"/>
              </a:rPr>
              <a:t>Cards · CRIC · tickets · escrow · polls</a:t>
            </a:r>
          </a:p>
        </p:txBody>
      </p:sp>
      <p:sp>
        <p:nvSpPr>
          <p:cNvPr id="25" name="">
            <a:extLst xmlns:a="http://schemas.openxmlformats.org/drawingml/2006/main">
              <a:ext uri="{FF2B5EF4-FFF2-40B4-BE49-F238E27FC236}">
                <a16:creationId xmlns:a16="http://schemas.microsoft.com/office/drawing/2014/main" id="{E8EF37FA-A918-4CC4-B549-343E1147F33F}"/>
              </a:ext>
            </a:extLst>
          </p:cNvPr>
          <p:cNvSpPr>
            <a:spLocks xmlns:a="http://schemas.openxmlformats.org/drawingml/2006/main" noGrp="1"/>
          </p:cNvSpPr>
          <p:nvPr/>
        </p:nvSpPr>
        <p:spPr>
          <a:xfrm xmlns:a="http://schemas.openxmlformats.org/drawingml/2006/main">
            <a:off x="876300" y="563880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47B55"/>
                </a:solidFill>
                <a:latin typeface="Avenir Next"/>
                <a:ea typeface="Avenir Next"/>
                <a:cs typeface="Avenir Next"/>
              </a:defRPr>
            </a:defPPr>
            <a:lvl1pPr algn="l">
              <a:defRPr sz="1350" b="1">
                <a:solidFill>
                  <a:srgbClr val="E47B55"/>
                </a:solidFill>
                <a:latin typeface="Avenir Next"/>
                <a:ea typeface="Avenir Next"/>
                <a:cs typeface="Avenir Next"/>
              </a:defRPr>
            </a:lvl1pPr>
            <a:lvl2pPr algn="l">
              <a:defRPr sz="1350" b="1">
                <a:solidFill>
                  <a:srgbClr val="E47B55"/>
                </a:solidFill>
                <a:latin typeface="Avenir Next"/>
                <a:ea typeface="Avenir Next"/>
                <a:cs typeface="Avenir Next"/>
              </a:defRPr>
            </a:lvl2pPr>
            <a:lvl3pPr algn="l">
              <a:defRPr sz="1350" b="1">
                <a:solidFill>
                  <a:srgbClr val="E47B55"/>
                </a:solidFill>
                <a:latin typeface="Avenir Next"/>
                <a:ea typeface="Avenir Next"/>
                <a:cs typeface="Avenir Next"/>
              </a:defRPr>
            </a:lvl3pPr>
            <a:lvl4pPr algn="l">
              <a:defRPr sz="1350" b="1">
                <a:solidFill>
                  <a:srgbClr val="E47B55"/>
                </a:solidFill>
                <a:latin typeface="Avenir Next"/>
                <a:ea typeface="Avenir Next"/>
                <a:cs typeface="Avenir Next"/>
              </a:defRPr>
            </a:lvl4pPr>
            <a:lvl5pPr algn="l">
              <a:defRPr sz="1350" b="1">
                <a:solidFill>
                  <a:srgbClr val="E47B55"/>
                </a:solidFill>
                <a:latin typeface="Avenir Next"/>
                <a:ea typeface="Avenir Next"/>
                <a:cs typeface="Avenir Next"/>
              </a:defRPr>
            </a:lvl5pPr>
            <a:lvl6pPr algn="l">
              <a:defRPr sz="1350" b="1">
                <a:solidFill>
                  <a:srgbClr val="E47B55"/>
                </a:solidFill>
                <a:latin typeface="Avenir Next"/>
                <a:ea typeface="Avenir Next"/>
                <a:cs typeface="Avenir Next"/>
              </a:defRPr>
            </a:lvl6pPr>
            <a:lvl7pPr algn="l">
              <a:defRPr sz="1350" b="1">
                <a:solidFill>
                  <a:srgbClr val="E47B55"/>
                </a:solidFill>
                <a:latin typeface="Avenir Next"/>
                <a:ea typeface="Avenir Next"/>
                <a:cs typeface="Avenir Next"/>
              </a:defRPr>
            </a:lvl7pPr>
            <a:lvl8pPr algn="l">
              <a:defRPr sz="1350" b="1">
                <a:solidFill>
                  <a:srgbClr val="E47B55"/>
                </a:solidFill>
                <a:latin typeface="Avenir Next"/>
                <a:ea typeface="Avenir Next"/>
                <a:cs typeface="Avenir Next"/>
              </a:defRPr>
            </a:lvl8pPr>
            <a:lvl9pPr algn="l">
              <a:defRPr sz="1350" b="1">
                <a:solidFill>
                  <a:srgbClr val="E47B55"/>
                </a:solidFill>
                <a:latin typeface="Avenir Next"/>
                <a:ea typeface="Avenir Next"/>
                <a:cs typeface="Avenir Next"/>
              </a:defRPr>
            </a:lvl9pPr>
          </a:lstStyle>
          <a:p xmlns:a="http://schemas.openxmlformats.org/drawingml/2006/main">
            <a:pPr algn="l">
              <a:defRPr sz="1350" b="1">
                <a:solidFill>
                  <a:srgbClr val="E47B55"/>
                </a:solidFill>
                <a:latin typeface="Avenir Next"/>
                <a:ea typeface="Avenir Next"/>
                <a:cs typeface="Avenir Next"/>
              </a:defRPr>
            </a:pPr>
            <a:r>
              <a:rPr sz="1350" b="1">
                <a:solidFill>
                  <a:srgbClr val="E47B55"/>
                </a:solidFill>
                <a:latin typeface="Avenir Next"/>
                <a:ea typeface="Avenir Next"/>
                <a:cs typeface="Avenir Next"/>
              </a:rPr>
              <a:t>The current contract deployment is local to the developer’s computer.</a:t>
            </a:r>
          </a:p>
        </p:txBody>
      </p:sp>
    </p:spTree>
    <p:extLst>
      <p:ext uri="{BB962C8B-B14F-4D97-AF65-F5344CB8AC3E}">
        <p14:creationId xmlns:p14="http://schemas.microsoft.com/office/powerpoint/2010/main" val="1985120313"/>
      </p:ext>
    </p:extLst>
  </p:cSld>
</p:sld>
</file>

<file path=ppt/slides/slide9.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E7DAD14-1DC6-4EF9-9673-A98ADAD3953E}"/>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IMPACT</a:t>
            </a:r>
          </a:p>
        </p:txBody>
      </p:sp>
      <p:sp>
        <p:nvSpPr>
          <p:cNvPr id="2" name="">
            <a:extLst xmlns:a="http://schemas.openxmlformats.org/drawingml/2006/main">
              <a:ext uri="{FF2B5EF4-FFF2-40B4-BE49-F238E27FC236}">
                <a16:creationId xmlns:a16="http://schemas.microsoft.com/office/drawing/2014/main" id="{8E1C7042-1CCC-4B44-ABB5-F8B986A6A3A2}"/>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Expected value should be tested with fans</a:t>
            </a:r>
          </a:p>
        </p:txBody>
      </p:sp>
      <p:sp>
        <p:nvSpPr>
          <p:cNvPr id="3" name="">
            <a:extLst xmlns:a="http://schemas.openxmlformats.org/drawingml/2006/main">
              <a:ext uri="{FF2B5EF4-FFF2-40B4-BE49-F238E27FC236}">
                <a16:creationId xmlns:a16="http://schemas.microsoft.com/office/drawing/2014/main" id="{136E053C-CBCE-4CD8-A539-D24F14D67269}"/>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These are outcomes to evaluate, not results claimed by the current prototype.</a:t>
            </a:r>
          </a:p>
        </p:txBody>
      </p:sp>
      <p:sp>
        <p:nvSpPr>
          <p:cNvPr id="4" name="">
            <a:extLst xmlns:a="http://schemas.openxmlformats.org/drawingml/2006/main">
              <a:ext uri="{FF2B5EF4-FFF2-40B4-BE49-F238E27FC236}">
                <a16:creationId xmlns:a16="http://schemas.microsoft.com/office/drawing/2014/main" id="{75E49085-3E14-4001-85B7-DD33D303CA64}"/>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AA6442-4B18-4295-A8BE-7343A5C98E78}"/>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27A1F21C-6ACF-46E6-BEC9-0357BD4444EB}"/>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09</a:t>
            </a:r>
          </a:p>
        </p:txBody>
      </p:sp>
      <p:sp>
        <p:nvSpPr>
          <p:cNvPr id="7" name="">
            <a:extLst xmlns:a="http://schemas.openxmlformats.org/drawingml/2006/main">
              <a:ext uri="{FF2B5EF4-FFF2-40B4-BE49-F238E27FC236}">
                <a16:creationId xmlns:a16="http://schemas.microsoft.com/office/drawing/2014/main" id="{C271E843-E386-4868-B116-90128A28B495}"/>
              </a:ext>
            </a:extLst>
          </p:cNvPr>
          <p:cNvSpPr>
            <a:spLocks xmlns:a="http://schemas.openxmlformats.org/drawingml/2006/main" noGrp="1"/>
          </p:cNvSpPr>
          <p:nvPr/>
        </p:nvSpPr>
        <p:spPr>
          <a:xfrm xmlns:a="http://schemas.openxmlformats.org/drawingml/2006/main">
            <a:off x="87630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82C24"/>
                </a:solidFill>
                <a:latin typeface="Avenir Next"/>
                <a:ea typeface="Avenir Next"/>
                <a:cs typeface="Avenir Next"/>
              </a:defRPr>
            </a:defPPr>
            <a:lvl1pPr algn="l">
              <a:defRPr sz="2325" b="1">
                <a:solidFill>
                  <a:srgbClr val="082C24"/>
                </a:solidFill>
                <a:latin typeface="Avenir Next"/>
                <a:ea typeface="Avenir Next"/>
                <a:cs typeface="Avenir Next"/>
              </a:defRPr>
            </a:lvl1pPr>
            <a:lvl2pPr algn="l">
              <a:defRPr sz="2325" b="1">
                <a:solidFill>
                  <a:srgbClr val="082C24"/>
                </a:solidFill>
                <a:latin typeface="Avenir Next"/>
                <a:ea typeface="Avenir Next"/>
                <a:cs typeface="Avenir Next"/>
              </a:defRPr>
            </a:lvl2pPr>
            <a:lvl3pPr algn="l">
              <a:defRPr sz="2325" b="1">
                <a:solidFill>
                  <a:srgbClr val="082C24"/>
                </a:solidFill>
                <a:latin typeface="Avenir Next"/>
                <a:ea typeface="Avenir Next"/>
                <a:cs typeface="Avenir Next"/>
              </a:defRPr>
            </a:lvl3pPr>
            <a:lvl4pPr algn="l">
              <a:defRPr sz="2325" b="1">
                <a:solidFill>
                  <a:srgbClr val="082C24"/>
                </a:solidFill>
                <a:latin typeface="Avenir Next"/>
                <a:ea typeface="Avenir Next"/>
                <a:cs typeface="Avenir Next"/>
              </a:defRPr>
            </a:lvl4pPr>
            <a:lvl5pPr algn="l">
              <a:defRPr sz="2325" b="1">
                <a:solidFill>
                  <a:srgbClr val="082C24"/>
                </a:solidFill>
                <a:latin typeface="Avenir Next"/>
                <a:ea typeface="Avenir Next"/>
                <a:cs typeface="Avenir Next"/>
              </a:defRPr>
            </a:lvl5pPr>
            <a:lvl6pPr algn="l">
              <a:defRPr sz="2325" b="1">
                <a:solidFill>
                  <a:srgbClr val="082C24"/>
                </a:solidFill>
                <a:latin typeface="Avenir Next"/>
                <a:ea typeface="Avenir Next"/>
                <a:cs typeface="Avenir Next"/>
              </a:defRPr>
            </a:lvl6pPr>
            <a:lvl7pPr algn="l">
              <a:defRPr sz="2325" b="1">
                <a:solidFill>
                  <a:srgbClr val="082C24"/>
                </a:solidFill>
                <a:latin typeface="Avenir Next"/>
                <a:ea typeface="Avenir Next"/>
                <a:cs typeface="Avenir Next"/>
              </a:defRPr>
            </a:lvl7pPr>
            <a:lvl8pPr algn="l">
              <a:defRPr sz="2325" b="1">
                <a:solidFill>
                  <a:srgbClr val="082C24"/>
                </a:solidFill>
                <a:latin typeface="Avenir Next"/>
                <a:ea typeface="Avenir Next"/>
                <a:cs typeface="Avenir Next"/>
              </a:defRPr>
            </a:lvl8pPr>
            <a:lvl9pPr algn="l">
              <a:defRPr sz="2325" b="1">
                <a:solidFill>
                  <a:srgbClr val="082C24"/>
                </a:solidFill>
                <a:latin typeface="Avenir Next"/>
                <a:ea typeface="Avenir Next"/>
                <a:cs typeface="Avenir Next"/>
              </a:defRPr>
            </a:lvl9pPr>
          </a:lstStyle>
          <a:p xmlns:a="http://schemas.openxmlformats.org/drawingml/2006/main">
            <a:pPr algn="l">
              <a:defRPr sz="2325" b="1">
                <a:solidFill>
                  <a:srgbClr val="082C24"/>
                </a:solidFill>
                <a:latin typeface="Avenir Next"/>
                <a:ea typeface="Avenir Next"/>
                <a:cs typeface="Avenir Next"/>
              </a:defRPr>
            </a:pPr>
            <a:r>
              <a:rPr sz="2325" b="1">
                <a:solidFill>
                  <a:srgbClr val="082C24"/>
                </a:solidFill>
                <a:latin typeface="Avenir Next"/>
                <a:ea typeface="Avenir Next"/>
                <a:cs typeface="Avenir Next"/>
              </a:rPr>
              <a:t>Agency</a:t>
            </a:r>
          </a:p>
        </p:txBody>
      </p:sp>
      <p:sp>
        <p:nvSpPr>
          <p:cNvPr id="8" name="">
            <a:extLst xmlns:a="http://schemas.openxmlformats.org/drawingml/2006/main">
              <a:ext uri="{FF2B5EF4-FFF2-40B4-BE49-F238E27FC236}">
                <a16:creationId xmlns:a16="http://schemas.microsoft.com/office/drawing/2014/main" id="{CAC149DD-A6A6-4993-937F-2B7E6AF36C54}"/>
              </a:ext>
            </a:extLst>
          </p:cNvPr>
          <p:cNvSpPr>
            <a:spLocks xmlns:a="http://schemas.openxmlformats.org/drawingml/2006/main" noGrp="1"/>
          </p:cNvSpPr>
          <p:nvPr/>
        </p:nvSpPr>
        <p:spPr>
          <a:xfrm xmlns:a="http://schemas.openxmlformats.org/drawingml/2006/main">
            <a:off x="876300" y="3209925"/>
            <a:ext cx="291465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91A909-DBA0-4A4A-852A-97DB67A9664E}"/>
              </a:ext>
            </a:extLst>
          </p:cNvPr>
          <p:cNvSpPr>
            <a:spLocks xmlns:a="http://schemas.openxmlformats.org/drawingml/2006/main" noGrp="1"/>
          </p:cNvSpPr>
          <p:nvPr/>
        </p:nvSpPr>
        <p:spPr>
          <a:xfrm xmlns:a="http://schemas.openxmlformats.org/drawingml/2006/main">
            <a:off x="87630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build an XI and manage a player card without help?</a:t>
            </a:r>
          </a:p>
        </p:txBody>
      </p:sp>
      <p:sp>
        <p:nvSpPr>
          <p:cNvPr id="10" name="">
            <a:extLst xmlns:a="http://schemas.openxmlformats.org/drawingml/2006/main">
              <a:ext uri="{FF2B5EF4-FFF2-40B4-BE49-F238E27FC236}">
                <a16:creationId xmlns:a16="http://schemas.microsoft.com/office/drawing/2014/main" id="{A7BFE8E6-44A9-404B-B311-A89252674EA4}"/>
              </a:ext>
            </a:extLst>
          </p:cNvPr>
          <p:cNvSpPr>
            <a:spLocks xmlns:a="http://schemas.openxmlformats.org/drawingml/2006/main" noGrp="1"/>
          </p:cNvSpPr>
          <p:nvPr/>
        </p:nvSpPr>
        <p:spPr>
          <a:xfrm xmlns:a="http://schemas.openxmlformats.org/drawingml/2006/main">
            <a:off x="447675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4523F"/>
                </a:solidFill>
                <a:latin typeface="Avenir Next"/>
                <a:ea typeface="Avenir Next"/>
                <a:cs typeface="Avenir Next"/>
              </a:defRPr>
            </a:defPPr>
            <a:lvl1pPr algn="l">
              <a:defRPr sz="2325" b="1">
                <a:solidFill>
                  <a:srgbClr val="14523F"/>
                </a:solidFill>
                <a:latin typeface="Avenir Next"/>
                <a:ea typeface="Avenir Next"/>
                <a:cs typeface="Avenir Next"/>
              </a:defRPr>
            </a:lvl1pPr>
            <a:lvl2pPr algn="l">
              <a:defRPr sz="2325" b="1">
                <a:solidFill>
                  <a:srgbClr val="14523F"/>
                </a:solidFill>
                <a:latin typeface="Avenir Next"/>
                <a:ea typeface="Avenir Next"/>
                <a:cs typeface="Avenir Next"/>
              </a:defRPr>
            </a:lvl2pPr>
            <a:lvl3pPr algn="l">
              <a:defRPr sz="2325" b="1">
                <a:solidFill>
                  <a:srgbClr val="14523F"/>
                </a:solidFill>
                <a:latin typeface="Avenir Next"/>
                <a:ea typeface="Avenir Next"/>
                <a:cs typeface="Avenir Next"/>
              </a:defRPr>
            </a:lvl3pPr>
            <a:lvl4pPr algn="l">
              <a:defRPr sz="2325" b="1">
                <a:solidFill>
                  <a:srgbClr val="14523F"/>
                </a:solidFill>
                <a:latin typeface="Avenir Next"/>
                <a:ea typeface="Avenir Next"/>
                <a:cs typeface="Avenir Next"/>
              </a:defRPr>
            </a:lvl4pPr>
            <a:lvl5pPr algn="l">
              <a:defRPr sz="2325" b="1">
                <a:solidFill>
                  <a:srgbClr val="14523F"/>
                </a:solidFill>
                <a:latin typeface="Avenir Next"/>
                <a:ea typeface="Avenir Next"/>
                <a:cs typeface="Avenir Next"/>
              </a:defRPr>
            </a:lvl5pPr>
            <a:lvl6pPr algn="l">
              <a:defRPr sz="2325" b="1">
                <a:solidFill>
                  <a:srgbClr val="14523F"/>
                </a:solidFill>
                <a:latin typeface="Avenir Next"/>
                <a:ea typeface="Avenir Next"/>
                <a:cs typeface="Avenir Next"/>
              </a:defRPr>
            </a:lvl6pPr>
            <a:lvl7pPr algn="l">
              <a:defRPr sz="2325" b="1">
                <a:solidFill>
                  <a:srgbClr val="14523F"/>
                </a:solidFill>
                <a:latin typeface="Avenir Next"/>
                <a:ea typeface="Avenir Next"/>
                <a:cs typeface="Avenir Next"/>
              </a:defRPr>
            </a:lvl7pPr>
            <a:lvl8pPr algn="l">
              <a:defRPr sz="2325" b="1">
                <a:solidFill>
                  <a:srgbClr val="14523F"/>
                </a:solidFill>
                <a:latin typeface="Avenir Next"/>
                <a:ea typeface="Avenir Next"/>
                <a:cs typeface="Avenir Next"/>
              </a:defRPr>
            </a:lvl8pPr>
            <a:lvl9pPr algn="l">
              <a:defRPr sz="2325" b="1">
                <a:solidFill>
                  <a:srgbClr val="14523F"/>
                </a:solidFill>
                <a:latin typeface="Avenir Next"/>
                <a:ea typeface="Avenir Next"/>
                <a:cs typeface="Avenir Next"/>
              </a:defRPr>
            </a:lvl9pPr>
          </a:lstStyle>
          <a:p xmlns:a="http://schemas.openxmlformats.org/drawingml/2006/main">
            <a:pPr algn="l">
              <a:defRPr sz="2325" b="1">
                <a:solidFill>
                  <a:srgbClr val="14523F"/>
                </a:solidFill>
                <a:latin typeface="Avenir Next"/>
                <a:ea typeface="Avenir Next"/>
                <a:cs typeface="Avenir Next"/>
              </a:defRPr>
            </a:pPr>
            <a:r>
              <a:rPr sz="2325" b="1">
                <a:solidFill>
                  <a:srgbClr val="14523F"/>
                </a:solidFill>
                <a:latin typeface="Avenir Next"/>
                <a:ea typeface="Avenir Next"/>
                <a:cs typeface="Avenir Next"/>
              </a:rPr>
              <a:t>Clarity</a:t>
            </a:r>
          </a:p>
        </p:txBody>
      </p:sp>
      <p:sp>
        <p:nvSpPr>
          <p:cNvPr id="11" name="">
            <a:extLst xmlns:a="http://schemas.openxmlformats.org/drawingml/2006/main">
              <a:ext uri="{FF2B5EF4-FFF2-40B4-BE49-F238E27FC236}">
                <a16:creationId xmlns:a16="http://schemas.microsoft.com/office/drawing/2014/main" id="{795362B8-9D51-471C-A634-7FB1CEB9C973}"/>
              </a:ext>
            </a:extLst>
          </p:cNvPr>
          <p:cNvSpPr>
            <a:spLocks xmlns:a="http://schemas.openxmlformats.org/drawingml/2006/main" noGrp="1"/>
          </p:cNvSpPr>
          <p:nvPr/>
        </p:nvSpPr>
        <p:spPr>
          <a:xfrm xmlns:a="http://schemas.openxmlformats.org/drawingml/2006/main">
            <a:off x="4476750" y="3209925"/>
            <a:ext cx="2914650" cy="28575"/>
          </a:xfrm>
          <a:prstGeom xmlns:a="http://schemas.openxmlformats.org/drawingml/2006/main" prst="rect">
            <a:avLst/>
          </a:prstGeom>
          <a:solidFill xmlns:a="http://schemas.openxmlformats.org/drawingml/2006/main">
            <a:srgbClr val="E7B94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C161CB-48EB-434E-862D-40D358D79471}"/>
              </a:ext>
            </a:extLst>
          </p:cNvPr>
          <p:cNvSpPr>
            <a:spLocks xmlns:a="http://schemas.openxmlformats.org/drawingml/2006/main" noGrp="1"/>
          </p:cNvSpPr>
          <p:nvPr/>
        </p:nvSpPr>
        <p:spPr>
          <a:xfrm xmlns:a="http://schemas.openxmlformats.org/drawingml/2006/main">
            <a:off x="447675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understand what is recorded on-chain and what comes from the API?</a:t>
            </a:r>
          </a:p>
        </p:txBody>
      </p:sp>
      <p:sp>
        <p:nvSpPr>
          <p:cNvPr id="13" name="">
            <a:extLst xmlns:a="http://schemas.openxmlformats.org/drawingml/2006/main">
              <a:ext uri="{FF2B5EF4-FFF2-40B4-BE49-F238E27FC236}">
                <a16:creationId xmlns:a16="http://schemas.microsoft.com/office/drawing/2014/main" id="{E47A51CF-61CF-483E-BC0A-928A16BD8A98}"/>
              </a:ext>
            </a:extLst>
          </p:cNvPr>
          <p:cNvSpPr>
            <a:spLocks xmlns:a="http://schemas.openxmlformats.org/drawingml/2006/main" noGrp="1"/>
          </p:cNvSpPr>
          <p:nvPr/>
        </p:nvSpPr>
        <p:spPr>
          <a:xfrm xmlns:a="http://schemas.openxmlformats.org/drawingml/2006/main">
            <a:off x="8077200" y="26670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082C24"/>
                </a:solidFill>
                <a:latin typeface="Avenir Next"/>
                <a:ea typeface="Avenir Next"/>
                <a:cs typeface="Avenir Next"/>
              </a:defRPr>
            </a:defPPr>
            <a:lvl1pPr algn="l">
              <a:defRPr sz="2325" b="1">
                <a:solidFill>
                  <a:srgbClr val="082C24"/>
                </a:solidFill>
                <a:latin typeface="Avenir Next"/>
                <a:ea typeface="Avenir Next"/>
                <a:cs typeface="Avenir Next"/>
              </a:defRPr>
            </a:lvl1pPr>
            <a:lvl2pPr algn="l">
              <a:defRPr sz="2325" b="1">
                <a:solidFill>
                  <a:srgbClr val="082C24"/>
                </a:solidFill>
                <a:latin typeface="Avenir Next"/>
                <a:ea typeface="Avenir Next"/>
                <a:cs typeface="Avenir Next"/>
              </a:defRPr>
            </a:lvl2pPr>
            <a:lvl3pPr algn="l">
              <a:defRPr sz="2325" b="1">
                <a:solidFill>
                  <a:srgbClr val="082C24"/>
                </a:solidFill>
                <a:latin typeface="Avenir Next"/>
                <a:ea typeface="Avenir Next"/>
                <a:cs typeface="Avenir Next"/>
              </a:defRPr>
            </a:lvl3pPr>
            <a:lvl4pPr algn="l">
              <a:defRPr sz="2325" b="1">
                <a:solidFill>
                  <a:srgbClr val="082C24"/>
                </a:solidFill>
                <a:latin typeface="Avenir Next"/>
                <a:ea typeface="Avenir Next"/>
                <a:cs typeface="Avenir Next"/>
              </a:defRPr>
            </a:lvl4pPr>
            <a:lvl5pPr algn="l">
              <a:defRPr sz="2325" b="1">
                <a:solidFill>
                  <a:srgbClr val="082C24"/>
                </a:solidFill>
                <a:latin typeface="Avenir Next"/>
                <a:ea typeface="Avenir Next"/>
                <a:cs typeface="Avenir Next"/>
              </a:defRPr>
            </a:lvl5pPr>
            <a:lvl6pPr algn="l">
              <a:defRPr sz="2325" b="1">
                <a:solidFill>
                  <a:srgbClr val="082C24"/>
                </a:solidFill>
                <a:latin typeface="Avenir Next"/>
                <a:ea typeface="Avenir Next"/>
                <a:cs typeface="Avenir Next"/>
              </a:defRPr>
            </a:lvl6pPr>
            <a:lvl7pPr algn="l">
              <a:defRPr sz="2325" b="1">
                <a:solidFill>
                  <a:srgbClr val="082C24"/>
                </a:solidFill>
                <a:latin typeface="Avenir Next"/>
                <a:ea typeface="Avenir Next"/>
                <a:cs typeface="Avenir Next"/>
              </a:defRPr>
            </a:lvl7pPr>
            <a:lvl8pPr algn="l">
              <a:defRPr sz="2325" b="1">
                <a:solidFill>
                  <a:srgbClr val="082C24"/>
                </a:solidFill>
                <a:latin typeface="Avenir Next"/>
                <a:ea typeface="Avenir Next"/>
                <a:cs typeface="Avenir Next"/>
              </a:defRPr>
            </a:lvl8pPr>
            <a:lvl9pPr algn="l">
              <a:defRPr sz="2325" b="1">
                <a:solidFill>
                  <a:srgbClr val="082C24"/>
                </a:solidFill>
                <a:latin typeface="Avenir Next"/>
                <a:ea typeface="Avenir Next"/>
                <a:cs typeface="Avenir Next"/>
              </a:defRPr>
            </a:lvl9pPr>
          </a:lstStyle>
          <a:p xmlns:a="http://schemas.openxmlformats.org/drawingml/2006/main">
            <a:pPr algn="l">
              <a:defRPr sz="2325" b="1">
                <a:solidFill>
                  <a:srgbClr val="082C24"/>
                </a:solidFill>
                <a:latin typeface="Avenir Next"/>
                <a:ea typeface="Avenir Next"/>
                <a:cs typeface="Avenir Next"/>
              </a:defRPr>
            </a:pPr>
            <a:r>
              <a:rPr sz="2325" b="1">
                <a:solidFill>
                  <a:srgbClr val="082C24"/>
                </a:solidFill>
                <a:latin typeface="Avenir Next"/>
                <a:ea typeface="Avenir Next"/>
                <a:cs typeface="Avenir Next"/>
              </a:rPr>
              <a:t>Confidence</a:t>
            </a:r>
          </a:p>
        </p:txBody>
      </p:sp>
      <p:sp>
        <p:nvSpPr>
          <p:cNvPr id="14" name="">
            <a:extLst xmlns:a="http://schemas.openxmlformats.org/drawingml/2006/main">
              <a:ext uri="{FF2B5EF4-FFF2-40B4-BE49-F238E27FC236}">
                <a16:creationId xmlns:a16="http://schemas.microsoft.com/office/drawing/2014/main" id="{327014E5-D700-4022-BC5E-CBB897F2873D}"/>
              </a:ext>
            </a:extLst>
          </p:cNvPr>
          <p:cNvSpPr>
            <a:spLocks xmlns:a="http://schemas.openxmlformats.org/drawingml/2006/main" noGrp="1"/>
          </p:cNvSpPr>
          <p:nvPr/>
        </p:nvSpPr>
        <p:spPr>
          <a:xfrm xmlns:a="http://schemas.openxmlformats.org/drawingml/2006/main">
            <a:off x="8077200" y="3209925"/>
            <a:ext cx="2914650" cy="2857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C9204C-FE13-4C0A-8B0A-A22A936C1D92}"/>
              </a:ext>
            </a:extLst>
          </p:cNvPr>
          <p:cNvSpPr>
            <a:spLocks xmlns:a="http://schemas.openxmlformats.org/drawingml/2006/main" noGrp="1"/>
          </p:cNvSpPr>
          <p:nvPr/>
        </p:nvSpPr>
        <p:spPr>
          <a:xfrm xmlns:a="http://schemas.openxmlformats.org/drawingml/2006/main">
            <a:off x="8077200" y="3495675"/>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Can fans verify ticket rules, votes and contest-fund activity?</a:t>
            </a:r>
          </a:p>
        </p:txBody>
      </p:sp>
      <p:sp>
        <p:nvSpPr>
          <p:cNvPr id="16" name="">
            <a:extLst xmlns:a="http://schemas.openxmlformats.org/drawingml/2006/main">
              <a:ext uri="{FF2B5EF4-FFF2-40B4-BE49-F238E27FC236}">
                <a16:creationId xmlns:a16="http://schemas.microsoft.com/office/drawing/2014/main" id="{1C768FF9-1660-4AA7-96A6-1B3C93458187}"/>
              </a:ext>
            </a:extLst>
          </p:cNvPr>
          <p:cNvSpPr>
            <a:spLocks xmlns:a="http://schemas.openxmlformats.org/drawingml/2006/main" noGrp="1"/>
          </p:cNvSpPr>
          <p:nvPr/>
        </p:nvSpPr>
        <p:spPr>
          <a:xfrm xmlns:a="http://schemas.openxmlformats.org/drawingml/2006/main">
            <a:off x="876300" y="5219700"/>
            <a:ext cx="10439400" cy="666750"/>
          </a:xfrm>
          <a:prstGeom xmlns:a="http://schemas.openxmlformats.org/drawingml/2006/main" prst="roundRect">
            <a:avLst>
              <a:gd name="adj" fmla="val 17143"/>
            </a:avLst>
          </a:prstGeom>
          <a:solidFill xmlns:a="http://schemas.openxmlformats.org/drawingml/2006/main">
            <a:srgbClr val="DDEBE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A0065C-48F5-4F0D-80D9-7EF190504E94}"/>
              </a:ext>
            </a:extLst>
          </p:cNvPr>
          <p:cNvSpPr>
            <a:spLocks xmlns:a="http://schemas.openxmlformats.org/drawingml/2006/main" noGrp="1"/>
          </p:cNvSpPr>
          <p:nvPr/>
        </p:nvSpPr>
        <p:spPr>
          <a:xfrm xmlns:a="http://schemas.openxmlformats.org/drawingml/2006/main">
            <a:off x="1085850" y="5334000"/>
            <a:ext cx="10039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082C24"/>
                </a:solidFill>
                <a:latin typeface="Avenir Next"/>
                <a:ea typeface="Avenir Next"/>
                <a:cs typeface="Avenir Next"/>
              </a:defRPr>
            </a:defPPr>
            <a:lvl1pPr algn="l">
              <a:defRPr sz="1575" b="1">
                <a:solidFill>
                  <a:srgbClr val="082C24"/>
                </a:solidFill>
                <a:latin typeface="Avenir Next"/>
                <a:ea typeface="Avenir Next"/>
                <a:cs typeface="Avenir Next"/>
              </a:defRPr>
            </a:lvl1pPr>
            <a:lvl2pPr algn="l">
              <a:defRPr sz="1575" b="1">
                <a:solidFill>
                  <a:srgbClr val="082C24"/>
                </a:solidFill>
                <a:latin typeface="Avenir Next"/>
                <a:ea typeface="Avenir Next"/>
                <a:cs typeface="Avenir Next"/>
              </a:defRPr>
            </a:lvl2pPr>
            <a:lvl3pPr algn="l">
              <a:defRPr sz="1575" b="1">
                <a:solidFill>
                  <a:srgbClr val="082C24"/>
                </a:solidFill>
                <a:latin typeface="Avenir Next"/>
                <a:ea typeface="Avenir Next"/>
                <a:cs typeface="Avenir Next"/>
              </a:defRPr>
            </a:lvl3pPr>
            <a:lvl4pPr algn="l">
              <a:defRPr sz="1575" b="1">
                <a:solidFill>
                  <a:srgbClr val="082C24"/>
                </a:solidFill>
                <a:latin typeface="Avenir Next"/>
                <a:ea typeface="Avenir Next"/>
                <a:cs typeface="Avenir Next"/>
              </a:defRPr>
            </a:lvl4pPr>
            <a:lvl5pPr algn="l">
              <a:defRPr sz="1575" b="1">
                <a:solidFill>
                  <a:srgbClr val="082C24"/>
                </a:solidFill>
                <a:latin typeface="Avenir Next"/>
                <a:ea typeface="Avenir Next"/>
                <a:cs typeface="Avenir Next"/>
              </a:defRPr>
            </a:lvl5pPr>
            <a:lvl6pPr algn="l">
              <a:defRPr sz="1575" b="1">
                <a:solidFill>
                  <a:srgbClr val="082C24"/>
                </a:solidFill>
                <a:latin typeface="Avenir Next"/>
                <a:ea typeface="Avenir Next"/>
                <a:cs typeface="Avenir Next"/>
              </a:defRPr>
            </a:lvl6pPr>
            <a:lvl7pPr algn="l">
              <a:defRPr sz="1575" b="1">
                <a:solidFill>
                  <a:srgbClr val="082C24"/>
                </a:solidFill>
                <a:latin typeface="Avenir Next"/>
                <a:ea typeface="Avenir Next"/>
                <a:cs typeface="Avenir Next"/>
              </a:defRPr>
            </a:lvl7pPr>
            <a:lvl8pPr algn="l">
              <a:defRPr sz="1575" b="1">
                <a:solidFill>
                  <a:srgbClr val="082C24"/>
                </a:solidFill>
                <a:latin typeface="Avenir Next"/>
                <a:ea typeface="Avenir Next"/>
                <a:cs typeface="Avenir Next"/>
              </a:defRPr>
            </a:lvl8pPr>
            <a:lvl9pPr algn="l">
              <a:defRPr sz="1575" b="1">
                <a:solidFill>
                  <a:srgbClr val="082C24"/>
                </a:solidFill>
                <a:latin typeface="Avenir Next"/>
                <a:ea typeface="Avenir Next"/>
                <a:cs typeface="Avenir Next"/>
              </a:defRPr>
            </a:lvl9pPr>
          </a:lstStyle>
          <a:p xmlns:a="http://schemas.openxmlformats.org/drawingml/2006/main">
            <a:pPr algn="l">
              <a:defRPr sz="1575" b="1">
                <a:solidFill>
                  <a:srgbClr val="082C24"/>
                </a:solidFill>
                <a:latin typeface="Avenir Next"/>
                <a:ea typeface="Avenir Next"/>
                <a:cs typeface="Avenir Next"/>
              </a:defRPr>
            </a:pPr>
            <a:r>
              <a:rPr sz="1575" b="1">
                <a:solidFill>
                  <a:srgbClr val="082C24"/>
                </a:solidFill>
                <a:latin typeface="Avenir Next"/>
                <a:ea typeface="Avenir Next"/>
                <a:cs typeface="Avenir Next"/>
              </a:rPr>
              <a:t>Evaluation focus  ·  task completion, rule correctness, data clarity and fan feedback.</a:t>
            </a:r>
          </a:p>
        </p:txBody>
      </p:sp>
    </p:spTree>
    <p:extLst>
      <p:ext uri="{BB962C8B-B14F-4D97-AF65-F5344CB8AC3E}">
        <p14:creationId xmlns:p14="http://schemas.microsoft.com/office/powerpoint/2010/main" val="68492658"/>
      </p:ext>
    </p:extLst>
  </p:cSld>
</p:sld>
</file>

<file path=ppt/slides/slide10.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8025386-8EE4-4355-980B-588CDACF0F28}"/>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PROTOTYPE STATUS</a:t>
            </a:r>
          </a:p>
        </p:txBody>
      </p:sp>
      <p:sp>
        <p:nvSpPr>
          <p:cNvPr id="2" name="">
            <a:extLst xmlns:a="http://schemas.openxmlformats.org/drawingml/2006/main">
              <a:ext uri="{FF2B5EF4-FFF2-40B4-BE49-F238E27FC236}">
                <a16:creationId xmlns:a16="http://schemas.microsoft.com/office/drawing/2014/main" id="{E401FCEA-AB4E-40A2-97C0-7F5E06EC1081}"/>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F5F2E8"/>
                </a:solidFill>
                <a:latin typeface="Avenir Next"/>
                <a:ea typeface="Avenir Next"/>
                <a:cs typeface="Avenir Next"/>
              </a:defRPr>
            </a:defPPr>
            <a:lvl1pPr algn="l">
              <a:defRPr sz="4050" b="1">
                <a:solidFill>
                  <a:srgbClr val="F5F2E8"/>
                </a:solidFill>
                <a:latin typeface="Avenir Next"/>
                <a:ea typeface="Avenir Next"/>
                <a:cs typeface="Avenir Next"/>
              </a:defRPr>
            </a:lvl1pPr>
            <a:lvl2pPr algn="l">
              <a:defRPr sz="4050" b="1">
                <a:solidFill>
                  <a:srgbClr val="F5F2E8"/>
                </a:solidFill>
                <a:latin typeface="Avenir Next"/>
                <a:ea typeface="Avenir Next"/>
                <a:cs typeface="Avenir Next"/>
              </a:defRPr>
            </a:lvl2pPr>
            <a:lvl3pPr algn="l">
              <a:defRPr sz="4050" b="1">
                <a:solidFill>
                  <a:srgbClr val="F5F2E8"/>
                </a:solidFill>
                <a:latin typeface="Avenir Next"/>
                <a:ea typeface="Avenir Next"/>
                <a:cs typeface="Avenir Next"/>
              </a:defRPr>
            </a:lvl3pPr>
            <a:lvl4pPr algn="l">
              <a:defRPr sz="4050" b="1">
                <a:solidFill>
                  <a:srgbClr val="F5F2E8"/>
                </a:solidFill>
                <a:latin typeface="Avenir Next"/>
                <a:ea typeface="Avenir Next"/>
                <a:cs typeface="Avenir Next"/>
              </a:defRPr>
            </a:lvl4pPr>
            <a:lvl5pPr algn="l">
              <a:defRPr sz="4050" b="1">
                <a:solidFill>
                  <a:srgbClr val="F5F2E8"/>
                </a:solidFill>
                <a:latin typeface="Avenir Next"/>
                <a:ea typeface="Avenir Next"/>
                <a:cs typeface="Avenir Next"/>
              </a:defRPr>
            </a:lvl5pPr>
            <a:lvl6pPr algn="l">
              <a:defRPr sz="4050" b="1">
                <a:solidFill>
                  <a:srgbClr val="F5F2E8"/>
                </a:solidFill>
                <a:latin typeface="Avenir Next"/>
                <a:ea typeface="Avenir Next"/>
                <a:cs typeface="Avenir Next"/>
              </a:defRPr>
            </a:lvl6pPr>
            <a:lvl7pPr algn="l">
              <a:defRPr sz="4050" b="1">
                <a:solidFill>
                  <a:srgbClr val="F5F2E8"/>
                </a:solidFill>
                <a:latin typeface="Avenir Next"/>
                <a:ea typeface="Avenir Next"/>
                <a:cs typeface="Avenir Next"/>
              </a:defRPr>
            </a:lvl7pPr>
            <a:lvl8pPr algn="l">
              <a:defRPr sz="4050" b="1">
                <a:solidFill>
                  <a:srgbClr val="F5F2E8"/>
                </a:solidFill>
                <a:latin typeface="Avenir Next"/>
                <a:ea typeface="Avenir Next"/>
                <a:cs typeface="Avenir Next"/>
              </a:defRPr>
            </a:lvl8pPr>
            <a:lvl9pPr algn="l">
              <a:defRPr sz="4050" b="1">
                <a:solidFill>
                  <a:srgbClr val="F5F2E8"/>
                </a:solidFill>
                <a:latin typeface="Avenir Next"/>
                <a:ea typeface="Avenir Next"/>
                <a:cs typeface="Avenir Next"/>
              </a:defRPr>
            </a:lvl9pPr>
          </a:lstStyle>
          <a:p xmlns:a="http://schemas.openxmlformats.org/drawingml/2006/main">
            <a:pPr algn="l">
              <a:defRPr sz="4050" b="1">
                <a:solidFill>
                  <a:srgbClr val="F5F2E8"/>
                </a:solidFill>
                <a:latin typeface="Avenir Next"/>
                <a:ea typeface="Avenir Next"/>
                <a:cs typeface="Avenir Next"/>
              </a:defRPr>
            </a:pPr>
            <a:r>
              <a:rPr sz="4050" b="1">
                <a:solidFill>
                  <a:srgbClr val="F5F2E8"/>
                </a:solidFill>
                <a:latin typeface="Avenir Next"/>
                <a:ea typeface="Avenir Next"/>
                <a:cs typeface="Avenir Next"/>
              </a:rPr>
              <a:t>A working prototype with clear boundaries</a:t>
            </a:r>
          </a:p>
        </p:txBody>
      </p:sp>
      <p:sp>
        <p:nvSpPr>
          <p:cNvPr id="3" name="">
            <a:extLst xmlns:a="http://schemas.openxmlformats.org/drawingml/2006/main">
              <a:ext uri="{FF2B5EF4-FFF2-40B4-BE49-F238E27FC236}">
                <a16:creationId xmlns:a16="http://schemas.microsoft.com/office/drawing/2014/main" id="{7C91B767-64B9-4E2D-9746-3FA87DEAF5B1}"/>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9D9B9"/>
                </a:solidFill>
                <a:latin typeface="Avenir Next"/>
                <a:ea typeface="Avenir Next"/>
                <a:cs typeface="Avenir Next"/>
              </a:defRPr>
            </a:defPPr>
            <a:lvl1pPr algn="l">
              <a:defRPr sz="1725" b="0">
                <a:solidFill>
                  <a:srgbClr val="A9D9B9"/>
                </a:solidFill>
                <a:latin typeface="Avenir Next"/>
                <a:ea typeface="Avenir Next"/>
                <a:cs typeface="Avenir Next"/>
              </a:defRPr>
            </a:lvl1pPr>
            <a:lvl2pPr algn="l">
              <a:defRPr sz="1725" b="0">
                <a:solidFill>
                  <a:srgbClr val="A9D9B9"/>
                </a:solidFill>
                <a:latin typeface="Avenir Next"/>
                <a:ea typeface="Avenir Next"/>
                <a:cs typeface="Avenir Next"/>
              </a:defRPr>
            </a:lvl2pPr>
            <a:lvl3pPr algn="l">
              <a:defRPr sz="1725" b="0">
                <a:solidFill>
                  <a:srgbClr val="A9D9B9"/>
                </a:solidFill>
                <a:latin typeface="Avenir Next"/>
                <a:ea typeface="Avenir Next"/>
                <a:cs typeface="Avenir Next"/>
              </a:defRPr>
            </a:lvl3pPr>
            <a:lvl4pPr algn="l">
              <a:defRPr sz="1725" b="0">
                <a:solidFill>
                  <a:srgbClr val="A9D9B9"/>
                </a:solidFill>
                <a:latin typeface="Avenir Next"/>
                <a:ea typeface="Avenir Next"/>
                <a:cs typeface="Avenir Next"/>
              </a:defRPr>
            </a:lvl4pPr>
            <a:lvl5pPr algn="l">
              <a:defRPr sz="1725" b="0">
                <a:solidFill>
                  <a:srgbClr val="A9D9B9"/>
                </a:solidFill>
                <a:latin typeface="Avenir Next"/>
                <a:ea typeface="Avenir Next"/>
                <a:cs typeface="Avenir Next"/>
              </a:defRPr>
            </a:lvl5pPr>
            <a:lvl6pPr algn="l">
              <a:defRPr sz="1725" b="0">
                <a:solidFill>
                  <a:srgbClr val="A9D9B9"/>
                </a:solidFill>
                <a:latin typeface="Avenir Next"/>
                <a:ea typeface="Avenir Next"/>
                <a:cs typeface="Avenir Next"/>
              </a:defRPr>
            </a:lvl6pPr>
            <a:lvl7pPr algn="l">
              <a:defRPr sz="1725" b="0">
                <a:solidFill>
                  <a:srgbClr val="A9D9B9"/>
                </a:solidFill>
                <a:latin typeface="Avenir Next"/>
                <a:ea typeface="Avenir Next"/>
                <a:cs typeface="Avenir Next"/>
              </a:defRPr>
            </a:lvl7pPr>
            <a:lvl8pPr algn="l">
              <a:defRPr sz="1725" b="0">
                <a:solidFill>
                  <a:srgbClr val="A9D9B9"/>
                </a:solidFill>
                <a:latin typeface="Avenir Next"/>
                <a:ea typeface="Avenir Next"/>
                <a:cs typeface="Avenir Next"/>
              </a:defRPr>
            </a:lvl8pPr>
            <a:lvl9pPr algn="l">
              <a:defRPr sz="1725" b="0">
                <a:solidFill>
                  <a:srgbClr val="A9D9B9"/>
                </a:solidFill>
                <a:latin typeface="Avenir Next"/>
                <a:ea typeface="Avenir Next"/>
                <a:cs typeface="Avenir Next"/>
              </a:defRPr>
            </a:lvl9pPr>
          </a:lstStyle>
          <a:p xmlns:a="http://schemas.openxmlformats.org/drawingml/2006/main">
            <a:pPr algn="l">
              <a:defRPr sz="1725" b="0">
                <a:solidFill>
                  <a:srgbClr val="A9D9B9"/>
                </a:solidFill>
                <a:latin typeface="Avenir Next"/>
                <a:ea typeface="Avenir Next"/>
                <a:cs typeface="Avenir Next"/>
              </a:defRPr>
            </a:pPr>
            <a:r>
              <a:rPr sz="1725" b="0">
                <a:solidFill>
                  <a:srgbClr val="A9D9B9"/>
                </a:solidFill>
                <a:latin typeface="Avenir Next"/>
                <a:ea typeface="Avenir Next"/>
                <a:cs typeface="Avenir Next"/>
              </a:rPr>
              <a:t>The current build demonstrates integration; it is not yet a public production service.</a:t>
            </a:r>
          </a:p>
        </p:txBody>
      </p:sp>
      <p:sp>
        <p:nvSpPr>
          <p:cNvPr id="4" name="">
            <a:extLst xmlns:a="http://schemas.openxmlformats.org/drawingml/2006/main">
              <a:ext uri="{FF2B5EF4-FFF2-40B4-BE49-F238E27FC236}">
                <a16:creationId xmlns:a16="http://schemas.microsoft.com/office/drawing/2014/main" id="{CBAF1E13-EDC8-441F-B631-D48DB4E7D484}"/>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462746-85EC-4CE1-B836-4565B9E51557}"/>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AFC5B8"/>
                </a:solidFill>
                <a:latin typeface="Avenir Next"/>
                <a:ea typeface="Avenir Next"/>
                <a:cs typeface="Avenir Next"/>
              </a:defRPr>
            </a:defPPr>
            <a:lvl1pPr algn="l">
              <a:defRPr sz="1050" b="1">
                <a:solidFill>
                  <a:srgbClr val="AFC5B8"/>
                </a:solidFill>
                <a:latin typeface="Avenir Next"/>
                <a:ea typeface="Avenir Next"/>
                <a:cs typeface="Avenir Next"/>
              </a:defRPr>
            </a:lvl1pPr>
            <a:lvl2pPr algn="l">
              <a:defRPr sz="1050" b="1">
                <a:solidFill>
                  <a:srgbClr val="AFC5B8"/>
                </a:solidFill>
                <a:latin typeface="Avenir Next"/>
                <a:ea typeface="Avenir Next"/>
                <a:cs typeface="Avenir Next"/>
              </a:defRPr>
            </a:lvl2pPr>
            <a:lvl3pPr algn="l">
              <a:defRPr sz="1050" b="1">
                <a:solidFill>
                  <a:srgbClr val="AFC5B8"/>
                </a:solidFill>
                <a:latin typeface="Avenir Next"/>
                <a:ea typeface="Avenir Next"/>
                <a:cs typeface="Avenir Next"/>
              </a:defRPr>
            </a:lvl3pPr>
            <a:lvl4pPr algn="l">
              <a:defRPr sz="1050" b="1">
                <a:solidFill>
                  <a:srgbClr val="AFC5B8"/>
                </a:solidFill>
                <a:latin typeface="Avenir Next"/>
                <a:ea typeface="Avenir Next"/>
                <a:cs typeface="Avenir Next"/>
              </a:defRPr>
            </a:lvl4pPr>
            <a:lvl5pPr algn="l">
              <a:defRPr sz="1050" b="1">
                <a:solidFill>
                  <a:srgbClr val="AFC5B8"/>
                </a:solidFill>
                <a:latin typeface="Avenir Next"/>
                <a:ea typeface="Avenir Next"/>
                <a:cs typeface="Avenir Next"/>
              </a:defRPr>
            </a:lvl5pPr>
            <a:lvl6pPr algn="l">
              <a:defRPr sz="1050" b="1">
                <a:solidFill>
                  <a:srgbClr val="AFC5B8"/>
                </a:solidFill>
                <a:latin typeface="Avenir Next"/>
                <a:ea typeface="Avenir Next"/>
                <a:cs typeface="Avenir Next"/>
              </a:defRPr>
            </a:lvl6pPr>
            <a:lvl7pPr algn="l">
              <a:defRPr sz="1050" b="1">
                <a:solidFill>
                  <a:srgbClr val="AFC5B8"/>
                </a:solidFill>
                <a:latin typeface="Avenir Next"/>
                <a:ea typeface="Avenir Next"/>
                <a:cs typeface="Avenir Next"/>
              </a:defRPr>
            </a:lvl7pPr>
            <a:lvl8pPr algn="l">
              <a:defRPr sz="1050" b="1">
                <a:solidFill>
                  <a:srgbClr val="AFC5B8"/>
                </a:solidFill>
                <a:latin typeface="Avenir Next"/>
                <a:ea typeface="Avenir Next"/>
                <a:cs typeface="Avenir Next"/>
              </a:defRPr>
            </a:lvl8pPr>
            <a:lvl9pPr algn="l">
              <a:defRPr sz="1050" b="1">
                <a:solidFill>
                  <a:srgbClr val="AFC5B8"/>
                </a:solidFill>
                <a:latin typeface="Avenir Next"/>
                <a:ea typeface="Avenir Next"/>
                <a:cs typeface="Avenir Next"/>
              </a:defRPr>
            </a:lvl9pPr>
          </a:lstStyle>
          <a:p xmlns:a="http://schemas.openxmlformats.org/drawingml/2006/main">
            <a:pPr algn="l">
              <a:defRPr sz="1050" b="1">
                <a:solidFill>
                  <a:srgbClr val="AFC5B8"/>
                </a:solidFill>
                <a:latin typeface="Avenir Next"/>
                <a:ea typeface="Avenir Next"/>
                <a:cs typeface="Avenir Next"/>
              </a:defRPr>
            </a:pPr>
            <a:r>
              <a:rPr sz="1050" b="1">
                <a:solidFill>
                  <a:srgbClr val="AFC5B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E2C4E5D6-45CB-4366-98C3-2B5A6DEBB676}"/>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E7B942"/>
                </a:solidFill>
                <a:latin typeface="Avenir Next"/>
                <a:ea typeface="Avenir Next"/>
                <a:cs typeface="Avenir Next"/>
              </a:defRPr>
            </a:defPPr>
            <a:lvl1pPr algn="r">
              <a:defRPr sz="1125" b="1">
                <a:solidFill>
                  <a:srgbClr val="E7B942"/>
                </a:solidFill>
                <a:latin typeface="Avenir Next"/>
                <a:ea typeface="Avenir Next"/>
                <a:cs typeface="Avenir Next"/>
              </a:defRPr>
            </a:lvl1pPr>
            <a:lvl2pPr algn="r">
              <a:defRPr sz="1125" b="1">
                <a:solidFill>
                  <a:srgbClr val="E7B942"/>
                </a:solidFill>
                <a:latin typeface="Avenir Next"/>
                <a:ea typeface="Avenir Next"/>
                <a:cs typeface="Avenir Next"/>
              </a:defRPr>
            </a:lvl2pPr>
            <a:lvl3pPr algn="r">
              <a:defRPr sz="1125" b="1">
                <a:solidFill>
                  <a:srgbClr val="E7B942"/>
                </a:solidFill>
                <a:latin typeface="Avenir Next"/>
                <a:ea typeface="Avenir Next"/>
                <a:cs typeface="Avenir Next"/>
              </a:defRPr>
            </a:lvl3pPr>
            <a:lvl4pPr algn="r">
              <a:defRPr sz="1125" b="1">
                <a:solidFill>
                  <a:srgbClr val="E7B942"/>
                </a:solidFill>
                <a:latin typeface="Avenir Next"/>
                <a:ea typeface="Avenir Next"/>
                <a:cs typeface="Avenir Next"/>
              </a:defRPr>
            </a:lvl4pPr>
            <a:lvl5pPr algn="r">
              <a:defRPr sz="1125" b="1">
                <a:solidFill>
                  <a:srgbClr val="E7B942"/>
                </a:solidFill>
                <a:latin typeface="Avenir Next"/>
                <a:ea typeface="Avenir Next"/>
                <a:cs typeface="Avenir Next"/>
              </a:defRPr>
            </a:lvl5pPr>
            <a:lvl6pPr algn="r">
              <a:defRPr sz="1125" b="1">
                <a:solidFill>
                  <a:srgbClr val="E7B942"/>
                </a:solidFill>
                <a:latin typeface="Avenir Next"/>
                <a:ea typeface="Avenir Next"/>
                <a:cs typeface="Avenir Next"/>
              </a:defRPr>
            </a:lvl6pPr>
            <a:lvl7pPr algn="r">
              <a:defRPr sz="1125" b="1">
                <a:solidFill>
                  <a:srgbClr val="E7B942"/>
                </a:solidFill>
                <a:latin typeface="Avenir Next"/>
                <a:ea typeface="Avenir Next"/>
                <a:cs typeface="Avenir Next"/>
              </a:defRPr>
            </a:lvl7pPr>
            <a:lvl8pPr algn="r">
              <a:defRPr sz="1125" b="1">
                <a:solidFill>
                  <a:srgbClr val="E7B942"/>
                </a:solidFill>
                <a:latin typeface="Avenir Next"/>
                <a:ea typeface="Avenir Next"/>
                <a:cs typeface="Avenir Next"/>
              </a:defRPr>
            </a:lvl8pPr>
            <a:lvl9pPr algn="r">
              <a:defRPr sz="1125" b="1">
                <a:solidFill>
                  <a:srgbClr val="E7B942"/>
                </a:solidFill>
                <a:latin typeface="Avenir Next"/>
                <a:ea typeface="Avenir Next"/>
                <a:cs typeface="Avenir Next"/>
              </a:defRPr>
            </a:lvl9pPr>
          </a:lstStyle>
          <a:p xmlns:a="http://schemas.openxmlformats.org/drawingml/2006/main">
            <a:pPr algn="r">
              <a:defRPr sz="1125" b="1">
                <a:solidFill>
                  <a:srgbClr val="E7B942"/>
                </a:solidFill>
                <a:latin typeface="Avenir Next"/>
                <a:ea typeface="Avenir Next"/>
                <a:cs typeface="Avenir Next"/>
              </a:defRPr>
            </a:pPr>
            <a:r>
              <a:rPr sz="1125" b="1">
                <a:solidFill>
                  <a:srgbClr val="E7B942"/>
                </a:solidFill>
                <a:latin typeface="Avenir Next"/>
                <a:ea typeface="Avenir Next"/>
                <a:cs typeface="Avenir Next"/>
              </a:rPr>
              <a:t>10</a:t>
            </a:r>
          </a:p>
        </p:txBody>
      </p:sp>
      <p:sp>
        <p:nvSpPr>
          <p:cNvPr id="7" name="">
            <a:extLst xmlns:a="http://schemas.openxmlformats.org/drawingml/2006/main">
              <a:ext uri="{FF2B5EF4-FFF2-40B4-BE49-F238E27FC236}">
                <a16:creationId xmlns:a16="http://schemas.microsoft.com/office/drawing/2014/main" id="{53A642FB-AA1F-46C8-B6C4-8B53EC8AC8B0}"/>
              </a:ext>
            </a:extLst>
          </p:cNvPr>
          <p:cNvSpPr>
            <a:spLocks xmlns:a="http://schemas.openxmlformats.org/drawingml/2006/main" noGrp="1"/>
          </p:cNvSpPr>
          <p:nvPr/>
        </p:nvSpPr>
        <p:spPr>
          <a:xfrm xmlns:a="http://schemas.openxmlformats.org/drawingml/2006/main">
            <a:off x="876300" y="23241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IMPLEMENTED IN THE PROTOTYPE</a:t>
            </a:r>
          </a:p>
        </p:txBody>
      </p:sp>
      <p:sp>
        <p:nvSpPr>
          <p:cNvPr id="8" name="">
            <a:extLst xmlns:a="http://schemas.openxmlformats.org/drawingml/2006/main">
              <a:ext uri="{FF2B5EF4-FFF2-40B4-BE49-F238E27FC236}">
                <a16:creationId xmlns:a16="http://schemas.microsoft.com/office/drawing/2014/main" id="{D63ED729-43AD-46AD-B757-8C2E14726E07}"/>
              </a:ext>
            </a:extLst>
          </p:cNvPr>
          <p:cNvSpPr>
            <a:spLocks xmlns:a="http://schemas.openxmlformats.org/drawingml/2006/main" noGrp="1"/>
          </p:cNvSpPr>
          <p:nvPr/>
        </p:nvSpPr>
        <p:spPr>
          <a:xfrm xmlns:a="http://schemas.openxmlformats.org/drawingml/2006/main">
            <a:off x="876300" y="2714625"/>
            <a:ext cx="4857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F5F2E8"/>
                </a:solidFill>
                <a:latin typeface="Avenir Next"/>
                <a:ea typeface="Avenir Next"/>
                <a:cs typeface="Avenir Next"/>
              </a:defRPr>
            </a:defPPr>
            <a:lvl1pPr algn="l">
              <a:defRPr sz="1650" b="0">
                <a:solidFill>
                  <a:srgbClr val="F5F2E8"/>
                </a:solidFill>
                <a:latin typeface="Avenir Next"/>
                <a:ea typeface="Avenir Next"/>
                <a:cs typeface="Avenir Next"/>
              </a:defRPr>
            </a:lvl1pPr>
            <a:lvl2pPr algn="l">
              <a:defRPr sz="1650" b="0">
                <a:solidFill>
                  <a:srgbClr val="F5F2E8"/>
                </a:solidFill>
                <a:latin typeface="Avenir Next"/>
                <a:ea typeface="Avenir Next"/>
                <a:cs typeface="Avenir Next"/>
              </a:defRPr>
            </a:lvl2pPr>
            <a:lvl3pPr algn="l">
              <a:defRPr sz="1650" b="0">
                <a:solidFill>
                  <a:srgbClr val="F5F2E8"/>
                </a:solidFill>
                <a:latin typeface="Avenir Next"/>
                <a:ea typeface="Avenir Next"/>
                <a:cs typeface="Avenir Next"/>
              </a:defRPr>
            </a:lvl3pPr>
            <a:lvl4pPr algn="l">
              <a:defRPr sz="1650" b="0">
                <a:solidFill>
                  <a:srgbClr val="F5F2E8"/>
                </a:solidFill>
                <a:latin typeface="Avenir Next"/>
                <a:ea typeface="Avenir Next"/>
                <a:cs typeface="Avenir Next"/>
              </a:defRPr>
            </a:lvl4pPr>
            <a:lvl5pPr algn="l">
              <a:defRPr sz="1650" b="0">
                <a:solidFill>
                  <a:srgbClr val="F5F2E8"/>
                </a:solidFill>
                <a:latin typeface="Avenir Next"/>
                <a:ea typeface="Avenir Next"/>
                <a:cs typeface="Avenir Next"/>
              </a:defRPr>
            </a:lvl5pPr>
            <a:lvl6pPr algn="l">
              <a:defRPr sz="1650" b="0">
                <a:solidFill>
                  <a:srgbClr val="F5F2E8"/>
                </a:solidFill>
                <a:latin typeface="Avenir Next"/>
                <a:ea typeface="Avenir Next"/>
                <a:cs typeface="Avenir Next"/>
              </a:defRPr>
            </a:lvl6pPr>
            <a:lvl7pPr algn="l">
              <a:defRPr sz="1650" b="0">
                <a:solidFill>
                  <a:srgbClr val="F5F2E8"/>
                </a:solidFill>
                <a:latin typeface="Avenir Next"/>
                <a:ea typeface="Avenir Next"/>
                <a:cs typeface="Avenir Next"/>
              </a:defRPr>
            </a:lvl7pPr>
            <a:lvl8pPr algn="l">
              <a:defRPr sz="1650" b="0">
                <a:solidFill>
                  <a:srgbClr val="F5F2E8"/>
                </a:solidFill>
                <a:latin typeface="Avenir Next"/>
                <a:ea typeface="Avenir Next"/>
                <a:cs typeface="Avenir Next"/>
              </a:defRPr>
            </a:lvl8pPr>
            <a:lvl9pPr algn="l">
              <a:defRPr sz="1650" b="0">
                <a:solidFill>
                  <a:srgbClr val="F5F2E8"/>
                </a:solidFill>
                <a:latin typeface="Avenir Next"/>
                <a:ea typeface="Avenir Next"/>
                <a:cs typeface="Avenir Next"/>
              </a:defRPr>
            </a:lvl9pPr>
          </a:lstStyle>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Match, playing XI and points API routes</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Player catalogue and fantasy squad flow</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Wallet-connected token, card, ticket and marketplace contracts</a:t>
            </a:r>
          </a:p>
          <a:p xmlns:a="http://schemas.openxmlformats.org/drawingml/2006/main">
            <a:pPr algn="l">
              <a:defRPr sz="1650" b="0">
                <a:solidFill>
                  <a:srgbClr val="F5F2E8"/>
                </a:solidFill>
                <a:latin typeface="Avenir Next"/>
                <a:ea typeface="Avenir Next"/>
                <a:cs typeface="Avenir Next"/>
              </a:defRPr>
            </a:pPr>
            <a:r>
              <a:rPr sz="1650" b="0">
                <a:solidFill>
                  <a:srgbClr val="F5F2E8"/>
                </a:solidFill>
                <a:latin typeface="Avenir Next"/>
                <a:ea typeface="Avenir Next"/>
                <a:cs typeface="Avenir Next"/>
              </a:rPr>
              <a:t>Poll and tournament contract interactions</a:t>
            </a:r>
          </a:p>
        </p:txBody>
      </p:sp>
      <p:sp>
        <p:nvSpPr>
          <p:cNvPr id="9" name="">
            <a:extLst xmlns:a="http://schemas.openxmlformats.org/drawingml/2006/main">
              <a:ext uri="{FF2B5EF4-FFF2-40B4-BE49-F238E27FC236}">
                <a16:creationId xmlns:a16="http://schemas.microsoft.com/office/drawing/2014/main" id="{8BF09D7B-2635-4A13-8B30-7D244D3F7F8A}"/>
              </a:ext>
            </a:extLst>
          </p:cNvPr>
          <p:cNvSpPr>
            <a:spLocks xmlns:a="http://schemas.openxmlformats.org/drawingml/2006/main" noGrp="1"/>
          </p:cNvSpPr>
          <p:nvPr/>
        </p:nvSpPr>
        <p:spPr>
          <a:xfrm xmlns:a="http://schemas.openxmlformats.org/drawingml/2006/main">
            <a:off x="6096000" y="2266950"/>
            <a:ext cx="19050" cy="31051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89EF45-F5F8-4F31-B479-0369244B4C54}"/>
              </a:ext>
            </a:extLst>
          </p:cNvPr>
          <p:cNvSpPr>
            <a:spLocks xmlns:a="http://schemas.openxmlformats.org/drawingml/2006/main" noGrp="1"/>
          </p:cNvSpPr>
          <p:nvPr/>
        </p:nvSpPr>
        <p:spPr>
          <a:xfrm xmlns:a="http://schemas.openxmlformats.org/drawingml/2006/main">
            <a:off x="6591300" y="2324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7B942"/>
                </a:solidFill>
                <a:latin typeface="Avenir Next"/>
                <a:ea typeface="Avenir Next"/>
                <a:cs typeface="Avenir Next"/>
              </a:defRPr>
            </a:defPPr>
            <a:lvl1pPr algn="l">
              <a:defRPr sz="1200" b="1">
                <a:solidFill>
                  <a:srgbClr val="E7B942"/>
                </a:solidFill>
                <a:latin typeface="Avenir Next"/>
                <a:ea typeface="Avenir Next"/>
                <a:cs typeface="Avenir Next"/>
              </a:defRPr>
            </a:lvl1pPr>
            <a:lvl2pPr algn="l">
              <a:defRPr sz="1200" b="1">
                <a:solidFill>
                  <a:srgbClr val="E7B942"/>
                </a:solidFill>
                <a:latin typeface="Avenir Next"/>
                <a:ea typeface="Avenir Next"/>
                <a:cs typeface="Avenir Next"/>
              </a:defRPr>
            </a:lvl2pPr>
            <a:lvl3pPr algn="l">
              <a:defRPr sz="1200" b="1">
                <a:solidFill>
                  <a:srgbClr val="E7B942"/>
                </a:solidFill>
                <a:latin typeface="Avenir Next"/>
                <a:ea typeface="Avenir Next"/>
                <a:cs typeface="Avenir Next"/>
              </a:defRPr>
            </a:lvl3pPr>
            <a:lvl4pPr algn="l">
              <a:defRPr sz="1200" b="1">
                <a:solidFill>
                  <a:srgbClr val="E7B942"/>
                </a:solidFill>
                <a:latin typeface="Avenir Next"/>
                <a:ea typeface="Avenir Next"/>
                <a:cs typeface="Avenir Next"/>
              </a:defRPr>
            </a:lvl4pPr>
            <a:lvl5pPr algn="l">
              <a:defRPr sz="1200" b="1">
                <a:solidFill>
                  <a:srgbClr val="E7B942"/>
                </a:solidFill>
                <a:latin typeface="Avenir Next"/>
                <a:ea typeface="Avenir Next"/>
                <a:cs typeface="Avenir Next"/>
              </a:defRPr>
            </a:lvl5pPr>
            <a:lvl6pPr algn="l">
              <a:defRPr sz="1200" b="1">
                <a:solidFill>
                  <a:srgbClr val="E7B942"/>
                </a:solidFill>
                <a:latin typeface="Avenir Next"/>
                <a:ea typeface="Avenir Next"/>
                <a:cs typeface="Avenir Next"/>
              </a:defRPr>
            </a:lvl6pPr>
            <a:lvl7pPr algn="l">
              <a:defRPr sz="1200" b="1">
                <a:solidFill>
                  <a:srgbClr val="E7B942"/>
                </a:solidFill>
                <a:latin typeface="Avenir Next"/>
                <a:ea typeface="Avenir Next"/>
                <a:cs typeface="Avenir Next"/>
              </a:defRPr>
            </a:lvl7pPr>
            <a:lvl8pPr algn="l">
              <a:defRPr sz="1200" b="1">
                <a:solidFill>
                  <a:srgbClr val="E7B942"/>
                </a:solidFill>
                <a:latin typeface="Avenir Next"/>
                <a:ea typeface="Avenir Next"/>
                <a:cs typeface="Avenir Next"/>
              </a:defRPr>
            </a:lvl8pPr>
            <a:lvl9pPr algn="l">
              <a:defRPr sz="1200" b="1">
                <a:solidFill>
                  <a:srgbClr val="E7B942"/>
                </a:solidFill>
                <a:latin typeface="Avenir Next"/>
                <a:ea typeface="Avenir Next"/>
                <a:cs typeface="Avenir Next"/>
              </a:defRPr>
            </a:lvl9pPr>
          </a:lstStyle>
          <a:p xmlns:a="http://schemas.openxmlformats.org/drawingml/2006/main">
            <a:pPr algn="l">
              <a:defRPr sz="1200" b="1">
                <a:solidFill>
                  <a:srgbClr val="E7B942"/>
                </a:solidFill>
                <a:latin typeface="Avenir Next"/>
                <a:ea typeface="Avenir Next"/>
                <a:cs typeface="Avenir Next"/>
              </a:defRPr>
            </a:pPr>
            <a:r>
              <a:rPr sz="1200" b="1">
                <a:solidFill>
                  <a:srgbClr val="E7B942"/>
                </a:solidFill>
                <a:latin typeface="Avenir Next"/>
                <a:ea typeface="Avenir Next"/>
                <a:cs typeface="Avenir Next"/>
              </a:rPr>
              <a:t>STILL TO COMPLETE</a:t>
            </a:r>
          </a:p>
        </p:txBody>
      </p:sp>
      <p:sp>
        <p:nvSpPr>
          <p:cNvPr id="11" name="">
            <a:extLst xmlns:a="http://schemas.openxmlformats.org/drawingml/2006/main">
              <a:ext uri="{FF2B5EF4-FFF2-40B4-BE49-F238E27FC236}">
                <a16:creationId xmlns:a16="http://schemas.microsoft.com/office/drawing/2014/main" id="{D70F3C1F-EEE8-4B29-8995-BF13F7A336F8}"/>
              </a:ext>
            </a:extLst>
          </p:cNvPr>
          <p:cNvSpPr>
            <a:spLocks xmlns:a="http://schemas.openxmlformats.org/drawingml/2006/main" noGrp="1"/>
          </p:cNvSpPr>
          <p:nvPr/>
        </p:nvSpPr>
        <p:spPr>
          <a:xfrm xmlns:a="http://schemas.openxmlformats.org/drawingml/2006/main">
            <a:off x="6591300" y="2714625"/>
            <a:ext cx="47625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A9D9B9"/>
                </a:solidFill>
                <a:latin typeface="Avenir Next"/>
                <a:ea typeface="Avenir Next"/>
                <a:cs typeface="Avenir Next"/>
              </a:defRPr>
            </a:defPPr>
            <a:lvl1pPr algn="l">
              <a:defRPr sz="1650" b="0">
                <a:solidFill>
                  <a:srgbClr val="A9D9B9"/>
                </a:solidFill>
                <a:latin typeface="Avenir Next"/>
                <a:ea typeface="Avenir Next"/>
                <a:cs typeface="Avenir Next"/>
              </a:defRPr>
            </a:lvl1pPr>
            <a:lvl2pPr algn="l">
              <a:defRPr sz="1650" b="0">
                <a:solidFill>
                  <a:srgbClr val="A9D9B9"/>
                </a:solidFill>
                <a:latin typeface="Avenir Next"/>
                <a:ea typeface="Avenir Next"/>
                <a:cs typeface="Avenir Next"/>
              </a:defRPr>
            </a:lvl2pPr>
            <a:lvl3pPr algn="l">
              <a:defRPr sz="1650" b="0">
                <a:solidFill>
                  <a:srgbClr val="A9D9B9"/>
                </a:solidFill>
                <a:latin typeface="Avenir Next"/>
                <a:ea typeface="Avenir Next"/>
                <a:cs typeface="Avenir Next"/>
              </a:defRPr>
            </a:lvl3pPr>
            <a:lvl4pPr algn="l">
              <a:defRPr sz="1650" b="0">
                <a:solidFill>
                  <a:srgbClr val="A9D9B9"/>
                </a:solidFill>
                <a:latin typeface="Avenir Next"/>
                <a:ea typeface="Avenir Next"/>
                <a:cs typeface="Avenir Next"/>
              </a:defRPr>
            </a:lvl4pPr>
            <a:lvl5pPr algn="l">
              <a:defRPr sz="1650" b="0">
                <a:solidFill>
                  <a:srgbClr val="A9D9B9"/>
                </a:solidFill>
                <a:latin typeface="Avenir Next"/>
                <a:ea typeface="Avenir Next"/>
                <a:cs typeface="Avenir Next"/>
              </a:defRPr>
            </a:lvl5pPr>
            <a:lvl6pPr algn="l">
              <a:defRPr sz="1650" b="0">
                <a:solidFill>
                  <a:srgbClr val="A9D9B9"/>
                </a:solidFill>
                <a:latin typeface="Avenir Next"/>
                <a:ea typeface="Avenir Next"/>
                <a:cs typeface="Avenir Next"/>
              </a:defRPr>
            </a:lvl6pPr>
            <a:lvl7pPr algn="l">
              <a:defRPr sz="1650" b="0">
                <a:solidFill>
                  <a:srgbClr val="A9D9B9"/>
                </a:solidFill>
                <a:latin typeface="Avenir Next"/>
                <a:ea typeface="Avenir Next"/>
                <a:cs typeface="Avenir Next"/>
              </a:defRPr>
            </a:lvl7pPr>
            <a:lvl8pPr algn="l">
              <a:defRPr sz="1650" b="0">
                <a:solidFill>
                  <a:srgbClr val="A9D9B9"/>
                </a:solidFill>
                <a:latin typeface="Avenir Next"/>
                <a:ea typeface="Avenir Next"/>
                <a:cs typeface="Avenir Next"/>
              </a:defRPr>
            </a:lvl8pPr>
            <a:lvl9pPr algn="l">
              <a:defRPr sz="1650" b="0">
                <a:solidFill>
                  <a:srgbClr val="A9D9B9"/>
                </a:solidFill>
                <a:latin typeface="Avenir Next"/>
                <a:ea typeface="Avenir Next"/>
                <a:cs typeface="Avenir Next"/>
              </a:defRPr>
            </a:lvl9pPr>
          </a:lstStyle>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Public testnet deployment and hosted site</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Production-grade provider access and monitoring</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Trusted automated match-result/oracle flow</a:t>
            </a:r>
          </a:p>
          <a:p xmlns:a="http://schemas.openxmlformats.org/drawingml/2006/main">
            <a:pPr algn="l">
              <a:defRPr sz="1650" b="0">
                <a:solidFill>
                  <a:srgbClr val="A9D9B9"/>
                </a:solidFill>
                <a:latin typeface="Avenir Next"/>
                <a:ea typeface="Avenir Next"/>
                <a:cs typeface="Avenir Next"/>
              </a:defRPr>
            </a:pPr>
            <a:r>
              <a:rPr sz="1650" b="0">
                <a:solidFill>
                  <a:srgbClr val="A9D9B9"/>
                </a:solidFill>
                <a:latin typeface="Avenir Next"/>
                <a:ea typeface="Avenir Next"/>
                <a:cs typeface="Avenir Next"/>
              </a:rPr>
              <a:t>Fan usability evaluation</a:t>
            </a:r>
          </a:p>
        </p:txBody>
      </p:sp>
      <p:sp>
        <p:nvSpPr>
          <p:cNvPr id="12" name="">
            <a:extLst xmlns:a="http://schemas.openxmlformats.org/drawingml/2006/main">
              <a:ext uri="{FF2B5EF4-FFF2-40B4-BE49-F238E27FC236}">
                <a16:creationId xmlns:a16="http://schemas.microsoft.com/office/drawing/2014/main" id="{3806F0C9-1E65-4DF4-9010-647B092BF607}"/>
              </a:ext>
            </a:extLst>
          </p:cNvPr>
          <p:cNvSpPr>
            <a:spLocks xmlns:a="http://schemas.openxmlformats.org/drawingml/2006/main" noGrp="1"/>
          </p:cNvSpPr>
          <p:nvPr/>
        </p:nvSpPr>
        <p:spPr>
          <a:xfrm xmlns:a="http://schemas.openxmlformats.org/drawingml/2006/main">
            <a:off x="876300" y="5219700"/>
            <a:ext cx="10439400" cy="619125"/>
          </a:xfrm>
          <a:prstGeom xmlns:a="http://schemas.openxmlformats.org/drawingml/2006/main" prst="roundRect">
            <a:avLst>
              <a:gd name="adj" fmla="val 18462"/>
            </a:avLst>
          </a:prstGeom>
          <a:solidFill xmlns:a="http://schemas.openxmlformats.org/drawingml/2006/main">
            <a:srgbClr val="123E3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CF784A7-FBA5-4A1B-A5F6-B4C8ACD5CDD2}"/>
              </a:ext>
            </a:extLst>
          </p:cNvPr>
          <p:cNvSpPr>
            <a:spLocks xmlns:a="http://schemas.openxmlformats.org/drawingml/2006/main" noGrp="1"/>
          </p:cNvSpPr>
          <p:nvPr/>
        </p:nvSpPr>
        <p:spPr>
          <a:xfrm xmlns:a="http://schemas.openxmlformats.org/drawingml/2006/main">
            <a:off x="1066800" y="5295900"/>
            <a:ext cx="10058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F5F2E8"/>
                </a:solidFill>
                <a:latin typeface="Avenir Next"/>
                <a:ea typeface="Avenir Next"/>
                <a:cs typeface="Avenir Next"/>
              </a:defRPr>
            </a:defPPr>
            <a:lvl1pPr algn="l">
              <a:defRPr sz="1350" b="1">
                <a:solidFill>
                  <a:srgbClr val="F5F2E8"/>
                </a:solidFill>
                <a:latin typeface="Avenir Next"/>
                <a:ea typeface="Avenir Next"/>
                <a:cs typeface="Avenir Next"/>
              </a:defRPr>
            </a:lvl1pPr>
            <a:lvl2pPr algn="l">
              <a:defRPr sz="1350" b="1">
                <a:solidFill>
                  <a:srgbClr val="F5F2E8"/>
                </a:solidFill>
                <a:latin typeface="Avenir Next"/>
                <a:ea typeface="Avenir Next"/>
                <a:cs typeface="Avenir Next"/>
              </a:defRPr>
            </a:lvl2pPr>
            <a:lvl3pPr algn="l">
              <a:defRPr sz="1350" b="1">
                <a:solidFill>
                  <a:srgbClr val="F5F2E8"/>
                </a:solidFill>
                <a:latin typeface="Avenir Next"/>
                <a:ea typeface="Avenir Next"/>
                <a:cs typeface="Avenir Next"/>
              </a:defRPr>
            </a:lvl3pPr>
            <a:lvl4pPr algn="l">
              <a:defRPr sz="1350" b="1">
                <a:solidFill>
                  <a:srgbClr val="F5F2E8"/>
                </a:solidFill>
                <a:latin typeface="Avenir Next"/>
                <a:ea typeface="Avenir Next"/>
                <a:cs typeface="Avenir Next"/>
              </a:defRPr>
            </a:lvl4pPr>
            <a:lvl5pPr algn="l">
              <a:defRPr sz="1350" b="1">
                <a:solidFill>
                  <a:srgbClr val="F5F2E8"/>
                </a:solidFill>
                <a:latin typeface="Avenir Next"/>
                <a:ea typeface="Avenir Next"/>
                <a:cs typeface="Avenir Next"/>
              </a:defRPr>
            </a:lvl5pPr>
            <a:lvl6pPr algn="l">
              <a:defRPr sz="1350" b="1">
                <a:solidFill>
                  <a:srgbClr val="F5F2E8"/>
                </a:solidFill>
                <a:latin typeface="Avenir Next"/>
                <a:ea typeface="Avenir Next"/>
                <a:cs typeface="Avenir Next"/>
              </a:defRPr>
            </a:lvl6pPr>
            <a:lvl7pPr algn="l">
              <a:defRPr sz="1350" b="1">
                <a:solidFill>
                  <a:srgbClr val="F5F2E8"/>
                </a:solidFill>
                <a:latin typeface="Avenir Next"/>
                <a:ea typeface="Avenir Next"/>
                <a:cs typeface="Avenir Next"/>
              </a:defRPr>
            </a:lvl7pPr>
            <a:lvl8pPr algn="l">
              <a:defRPr sz="1350" b="1">
                <a:solidFill>
                  <a:srgbClr val="F5F2E8"/>
                </a:solidFill>
                <a:latin typeface="Avenir Next"/>
                <a:ea typeface="Avenir Next"/>
                <a:cs typeface="Avenir Next"/>
              </a:defRPr>
            </a:lvl8pPr>
            <a:lvl9pPr algn="l">
              <a:defRPr sz="1350" b="1">
                <a:solidFill>
                  <a:srgbClr val="F5F2E8"/>
                </a:solidFill>
                <a:latin typeface="Avenir Next"/>
                <a:ea typeface="Avenir Next"/>
                <a:cs typeface="Avenir Next"/>
              </a:defRPr>
            </a:lvl9pPr>
          </a:lstStyle>
          <a:p xmlns:a="http://schemas.openxmlformats.org/drawingml/2006/main">
            <a:pPr algn="l">
              <a:defRPr sz="1350" b="1">
                <a:solidFill>
                  <a:srgbClr val="F5F2E8"/>
                </a:solidFill>
                <a:latin typeface="Avenir Next"/>
                <a:ea typeface="Avenir Next"/>
                <a:cs typeface="Avenir Next"/>
              </a:defRPr>
            </a:pPr>
            <a:r>
              <a:rPr sz="1350" b="1">
                <a:solidFill>
                  <a:srgbClr val="F5F2E8"/>
                </a:solidFill>
                <a:latin typeface="Avenir Next"/>
                <a:ea typeface="Avenir Next"/>
                <a:cs typeface="Avenir Next"/>
              </a:rPr>
              <a:t>Current limitation  ·  tournament winners are reviewed and submitted by an organizer; live score data is not verified by a chain oracle.</a:t>
            </a:r>
          </a:p>
        </p:txBody>
      </p:sp>
    </p:spTree>
    <p:extLst>
      <p:ext uri="{BB962C8B-B14F-4D97-AF65-F5344CB8AC3E}">
        <p14:creationId xmlns:p14="http://schemas.microsoft.com/office/powerpoint/2010/main" val="722910130"/>
      </p:ext>
    </p:extLst>
  </p:cSld>
</p:sld>
</file>

<file path=ppt/slides/slide11.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638227C-07CF-40C0-A8C1-80023858A942}"/>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EVALUATION</a:t>
            </a:r>
          </a:p>
        </p:txBody>
      </p:sp>
      <p:sp>
        <p:nvSpPr>
          <p:cNvPr id="2" name="">
            <a:extLst xmlns:a="http://schemas.openxmlformats.org/drawingml/2006/main">
              <a:ext uri="{FF2B5EF4-FFF2-40B4-BE49-F238E27FC236}">
                <a16:creationId xmlns:a16="http://schemas.microsoft.com/office/drawing/2014/main" id="{337ACE24-016D-4D8B-BB87-47CDEBE0D6D0}"/>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249"/>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A practical evaluation can answer the research question</a:t>
            </a:r>
          </a:p>
        </p:txBody>
      </p:sp>
      <p:sp>
        <p:nvSpPr>
          <p:cNvPr id="3" name="">
            <a:extLst xmlns:a="http://schemas.openxmlformats.org/drawingml/2006/main">
              <a:ext uri="{FF2B5EF4-FFF2-40B4-BE49-F238E27FC236}">
                <a16:creationId xmlns:a16="http://schemas.microsoft.com/office/drawing/2014/main" id="{47EC7473-609A-4BA1-8A01-8CE6F8DEFA19}"/>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Assess both the fan experience and the correctness of the rules the prototype promises.</a:t>
            </a:r>
          </a:p>
        </p:txBody>
      </p:sp>
      <p:sp>
        <p:nvSpPr>
          <p:cNvPr id="4" name="">
            <a:extLst xmlns:a="http://schemas.openxmlformats.org/drawingml/2006/main">
              <a:ext uri="{FF2B5EF4-FFF2-40B4-BE49-F238E27FC236}">
                <a16:creationId xmlns:a16="http://schemas.microsoft.com/office/drawing/2014/main" id="{32C4B7E9-ECD7-4BC5-A5D2-F6FF5043FA0B}"/>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0B6BBA3-EBB1-413F-BB1F-F50C09B02C8B}"/>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FE6CCF29-AD79-4BC6-B6B2-7B6E49C475FE}"/>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11</a:t>
            </a:r>
          </a:p>
        </p:txBody>
      </p:sp>
      <p:sp>
        <p:nvSpPr>
          <p:cNvPr id="7" name="">
            <a:extLst xmlns:a="http://schemas.openxmlformats.org/drawingml/2006/main">
              <a:ext uri="{FF2B5EF4-FFF2-40B4-BE49-F238E27FC236}">
                <a16:creationId xmlns:a16="http://schemas.microsoft.com/office/drawing/2014/main" id="{A7EEE938-BC51-49E3-BCD7-391FFD499026}"/>
              </a:ext>
            </a:extLst>
          </p:cNvPr>
          <p:cNvSpPr>
            <a:spLocks xmlns:a="http://schemas.openxmlformats.org/drawingml/2006/main" noGrp="1"/>
          </p:cNvSpPr>
          <p:nvPr/>
        </p:nvSpPr>
        <p:spPr>
          <a:xfrm xmlns:a="http://schemas.openxmlformats.org/drawingml/2006/main">
            <a:off x="876300" y="2552700"/>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Usability</a:t>
            </a:r>
          </a:p>
        </p:txBody>
      </p:sp>
      <p:sp>
        <p:nvSpPr>
          <p:cNvPr id="8" name="">
            <a:extLst xmlns:a="http://schemas.openxmlformats.org/drawingml/2006/main">
              <a:ext uri="{FF2B5EF4-FFF2-40B4-BE49-F238E27FC236}">
                <a16:creationId xmlns:a16="http://schemas.microsoft.com/office/drawing/2014/main" id="{D66C0932-397A-48BC-81B4-18F2BE9D3D65}"/>
              </a:ext>
            </a:extLst>
          </p:cNvPr>
          <p:cNvSpPr>
            <a:spLocks xmlns:a="http://schemas.openxmlformats.org/drawingml/2006/main" noGrp="1"/>
          </p:cNvSpPr>
          <p:nvPr/>
        </p:nvSpPr>
        <p:spPr>
          <a:xfrm xmlns:a="http://schemas.openxmlformats.org/drawingml/2006/main">
            <a:off x="3829050" y="25717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Ask fans to select an XI, find live points and collect a player card.</a:t>
            </a:r>
          </a:p>
        </p:txBody>
      </p:sp>
      <p:sp>
        <p:nvSpPr>
          <p:cNvPr id="9" name="">
            <a:extLst xmlns:a="http://schemas.openxmlformats.org/drawingml/2006/main">
              <a:ext uri="{FF2B5EF4-FFF2-40B4-BE49-F238E27FC236}">
                <a16:creationId xmlns:a16="http://schemas.microsoft.com/office/drawing/2014/main" id="{1BF9DA79-3D88-4F24-AD2B-0E17ABC1076C}"/>
              </a:ext>
            </a:extLst>
          </p:cNvPr>
          <p:cNvSpPr>
            <a:spLocks xmlns:a="http://schemas.openxmlformats.org/drawingml/2006/main" noGrp="1"/>
          </p:cNvSpPr>
          <p:nvPr/>
        </p:nvSpPr>
        <p:spPr>
          <a:xfrm xmlns:a="http://schemas.openxmlformats.org/drawingml/2006/main">
            <a:off x="876300" y="32194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1BC140-D7F2-477A-A8FF-2B5D986B8250}"/>
              </a:ext>
            </a:extLst>
          </p:cNvPr>
          <p:cNvSpPr>
            <a:spLocks xmlns:a="http://schemas.openxmlformats.org/drawingml/2006/main" noGrp="1"/>
          </p:cNvSpPr>
          <p:nvPr/>
        </p:nvSpPr>
        <p:spPr>
          <a:xfrm xmlns:a="http://schemas.openxmlformats.org/drawingml/2006/main">
            <a:off x="876300" y="3495675"/>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Rule correctness</a:t>
            </a:r>
          </a:p>
        </p:txBody>
      </p:sp>
      <p:sp>
        <p:nvSpPr>
          <p:cNvPr id="11" name="">
            <a:extLst xmlns:a="http://schemas.openxmlformats.org/drawingml/2006/main">
              <a:ext uri="{FF2B5EF4-FFF2-40B4-BE49-F238E27FC236}">
                <a16:creationId xmlns:a16="http://schemas.microsoft.com/office/drawing/2014/main" id="{95234433-8BA4-490B-987B-05D9743A3ADB}"/>
              </a:ext>
            </a:extLst>
          </p:cNvPr>
          <p:cNvSpPr>
            <a:spLocks xmlns:a="http://schemas.openxmlformats.org/drawingml/2006/main" noGrp="1"/>
          </p:cNvSpPr>
          <p:nvPr/>
        </p:nvSpPr>
        <p:spPr>
          <a:xfrm xmlns:a="http://schemas.openxmlformats.org/drawingml/2006/main">
            <a:off x="3829050" y="3514725"/>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Test resale limits, one-time ticket redemption, escrow and refund paths.</a:t>
            </a:r>
          </a:p>
        </p:txBody>
      </p:sp>
      <p:sp>
        <p:nvSpPr>
          <p:cNvPr id="12" name="">
            <a:extLst xmlns:a="http://schemas.openxmlformats.org/drawingml/2006/main">
              <a:ext uri="{FF2B5EF4-FFF2-40B4-BE49-F238E27FC236}">
                <a16:creationId xmlns:a16="http://schemas.microsoft.com/office/drawing/2014/main" id="{C1C00FD5-A05B-4A56-B313-AEDF4A8132DF}"/>
              </a:ext>
            </a:extLst>
          </p:cNvPr>
          <p:cNvSpPr>
            <a:spLocks xmlns:a="http://schemas.openxmlformats.org/drawingml/2006/main" noGrp="1"/>
          </p:cNvSpPr>
          <p:nvPr/>
        </p:nvSpPr>
        <p:spPr>
          <a:xfrm xmlns:a="http://schemas.openxmlformats.org/drawingml/2006/main">
            <a:off x="876300" y="4162425"/>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09EF0FC-9FF6-4E39-99A4-DF6D4A8EDF12}"/>
              </a:ext>
            </a:extLst>
          </p:cNvPr>
          <p:cNvSpPr>
            <a:spLocks xmlns:a="http://schemas.openxmlformats.org/drawingml/2006/main" noGrp="1"/>
          </p:cNvSpPr>
          <p:nvPr/>
        </p:nvSpPr>
        <p:spPr>
          <a:xfrm xmlns:a="http://schemas.openxmlformats.org/drawingml/2006/main">
            <a:off x="876300" y="4438650"/>
            <a:ext cx="276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82C24"/>
                </a:solidFill>
                <a:latin typeface="Avenir Next"/>
                <a:ea typeface="Avenir Next"/>
                <a:cs typeface="Avenir Next"/>
              </a:defRPr>
            </a:defPPr>
            <a:lvl1pPr algn="l">
              <a:defRPr sz="2100" b="1">
                <a:solidFill>
                  <a:srgbClr val="082C24"/>
                </a:solidFill>
                <a:latin typeface="Avenir Next"/>
                <a:ea typeface="Avenir Next"/>
                <a:cs typeface="Avenir Next"/>
              </a:defRPr>
            </a:lvl1pPr>
            <a:lvl2pPr algn="l">
              <a:defRPr sz="2100" b="1">
                <a:solidFill>
                  <a:srgbClr val="082C24"/>
                </a:solidFill>
                <a:latin typeface="Avenir Next"/>
                <a:ea typeface="Avenir Next"/>
                <a:cs typeface="Avenir Next"/>
              </a:defRPr>
            </a:lvl2pPr>
            <a:lvl3pPr algn="l">
              <a:defRPr sz="2100" b="1">
                <a:solidFill>
                  <a:srgbClr val="082C24"/>
                </a:solidFill>
                <a:latin typeface="Avenir Next"/>
                <a:ea typeface="Avenir Next"/>
                <a:cs typeface="Avenir Next"/>
              </a:defRPr>
            </a:lvl3pPr>
            <a:lvl4pPr algn="l">
              <a:defRPr sz="2100" b="1">
                <a:solidFill>
                  <a:srgbClr val="082C24"/>
                </a:solidFill>
                <a:latin typeface="Avenir Next"/>
                <a:ea typeface="Avenir Next"/>
                <a:cs typeface="Avenir Next"/>
              </a:defRPr>
            </a:lvl4pPr>
            <a:lvl5pPr algn="l">
              <a:defRPr sz="2100" b="1">
                <a:solidFill>
                  <a:srgbClr val="082C24"/>
                </a:solidFill>
                <a:latin typeface="Avenir Next"/>
                <a:ea typeface="Avenir Next"/>
                <a:cs typeface="Avenir Next"/>
              </a:defRPr>
            </a:lvl5pPr>
            <a:lvl6pPr algn="l">
              <a:defRPr sz="2100" b="1">
                <a:solidFill>
                  <a:srgbClr val="082C24"/>
                </a:solidFill>
                <a:latin typeface="Avenir Next"/>
                <a:ea typeface="Avenir Next"/>
                <a:cs typeface="Avenir Next"/>
              </a:defRPr>
            </a:lvl6pPr>
            <a:lvl7pPr algn="l">
              <a:defRPr sz="2100" b="1">
                <a:solidFill>
                  <a:srgbClr val="082C24"/>
                </a:solidFill>
                <a:latin typeface="Avenir Next"/>
                <a:ea typeface="Avenir Next"/>
                <a:cs typeface="Avenir Next"/>
              </a:defRPr>
            </a:lvl7pPr>
            <a:lvl8pPr algn="l">
              <a:defRPr sz="2100" b="1">
                <a:solidFill>
                  <a:srgbClr val="082C24"/>
                </a:solidFill>
                <a:latin typeface="Avenir Next"/>
                <a:ea typeface="Avenir Next"/>
                <a:cs typeface="Avenir Next"/>
              </a:defRPr>
            </a:lvl8pPr>
            <a:lvl9pPr algn="l">
              <a:defRPr sz="2100" b="1">
                <a:solidFill>
                  <a:srgbClr val="082C24"/>
                </a:solidFill>
                <a:latin typeface="Avenir Next"/>
                <a:ea typeface="Avenir Next"/>
                <a:cs typeface="Avenir Next"/>
              </a:defRPr>
            </a:lvl9pPr>
          </a:lstStyle>
          <a:p xmlns:a="http://schemas.openxmlformats.org/drawingml/2006/main">
            <a:pPr algn="l">
              <a:defRPr sz="2100" b="1">
                <a:solidFill>
                  <a:srgbClr val="082C24"/>
                </a:solidFill>
                <a:latin typeface="Avenir Next"/>
                <a:ea typeface="Avenir Next"/>
                <a:cs typeface="Avenir Next"/>
              </a:defRPr>
            </a:pPr>
            <a:r>
              <a:rPr sz="2100" b="1">
                <a:solidFill>
                  <a:srgbClr val="082C24"/>
                </a:solidFill>
                <a:latin typeface="Avenir Next"/>
                <a:ea typeface="Avenir Next"/>
                <a:cs typeface="Avenir Next"/>
              </a:rPr>
              <a:t>Data behavior</a:t>
            </a:r>
          </a:p>
        </p:txBody>
      </p:sp>
      <p:sp>
        <p:nvSpPr>
          <p:cNvPr id="14" name="">
            <a:extLst xmlns:a="http://schemas.openxmlformats.org/drawingml/2006/main">
              <a:ext uri="{FF2B5EF4-FFF2-40B4-BE49-F238E27FC236}">
                <a16:creationId xmlns:a16="http://schemas.microsoft.com/office/drawing/2014/main" id="{A2E0DB40-7C16-4CF2-A339-43DA20CA5CF2}"/>
              </a:ext>
            </a:extLst>
          </p:cNvPr>
          <p:cNvSpPr>
            <a:spLocks xmlns:a="http://schemas.openxmlformats.org/drawingml/2006/main" noGrp="1"/>
          </p:cNvSpPr>
          <p:nvPr/>
        </p:nvSpPr>
        <p:spPr>
          <a:xfrm xmlns:a="http://schemas.openxmlformats.org/drawingml/2006/main">
            <a:off x="3829050" y="445770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485"/>
          </a:bodyPr>
          <a:lstStyle xmlns:a="http://schemas.openxmlformats.org/drawingml/2006/main">
            <a:defPPr algn="l">
              <a:defRPr sz="1650" b="0">
                <a:solidFill>
                  <a:srgbClr val="40564E"/>
                </a:solidFill>
                <a:latin typeface="Avenir Next"/>
                <a:ea typeface="Avenir Next"/>
                <a:cs typeface="Avenir Next"/>
              </a:defRPr>
            </a:defPPr>
            <a:lvl1pPr algn="l">
              <a:defRPr sz="1650" b="0">
                <a:solidFill>
                  <a:srgbClr val="40564E"/>
                </a:solidFill>
                <a:latin typeface="Avenir Next"/>
                <a:ea typeface="Avenir Next"/>
                <a:cs typeface="Avenir Next"/>
              </a:defRPr>
            </a:lvl1pPr>
            <a:lvl2pPr algn="l">
              <a:defRPr sz="1650" b="0">
                <a:solidFill>
                  <a:srgbClr val="40564E"/>
                </a:solidFill>
                <a:latin typeface="Avenir Next"/>
                <a:ea typeface="Avenir Next"/>
                <a:cs typeface="Avenir Next"/>
              </a:defRPr>
            </a:lvl2pPr>
            <a:lvl3pPr algn="l">
              <a:defRPr sz="1650" b="0">
                <a:solidFill>
                  <a:srgbClr val="40564E"/>
                </a:solidFill>
                <a:latin typeface="Avenir Next"/>
                <a:ea typeface="Avenir Next"/>
                <a:cs typeface="Avenir Next"/>
              </a:defRPr>
            </a:lvl3pPr>
            <a:lvl4pPr algn="l">
              <a:defRPr sz="1650" b="0">
                <a:solidFill>
                  <a:srgbClr val="40564E"/>
                </a:solidFill>
                <a:latin typeface="Avenir Next"/>
                <a:ea typeface="Avenir Next"/>
                <a:cs typeface="Avenir Next"/>
              </a:defRPr>
            </a:lvl4pPr>
            <a:lvl5pPr algn="l">
              <a:defRPr sz="1650" b="0">
                <a:solidFill>
                  <a:srgbClr val="40564E"/>
                </a:solidFill>
                <a:latin typeface="Avenir Next"/>
                <a:ea typeface="Avenir Next"/>
                <a:cs typeface="Avenir Next"/>
              </a:defRPr>
            </a:lvl5pPr>
            <a:lvl6pPr algn="l">
              <a:defRPr sz="1650" b="0">
                <a:solidFill>
                  <a:srgbClr val="40564E"/>
                </a:solidFill>
                <a:latin typeface="Avenir Next"/>
                <a:ea typeface="Avenir Next"/>
                <a:cs typeface="Avenir Next"/>
              </a:defRPr>
            </a:lvl6pPr>
            <a:lvl7pPr algn="l">
              <a:defRPr sz="1650" b="0">
                <a:solidFill>
                  <a:srgbClr val="40564E"/>
                </a:solidFill>
                <a:latin typeface="Avenir Next"/>
                <a:ea typeface="Avenir Next"/>
                <a:cs typeface="Avenir Next"/>
              </a:defRPr>
            </a:lvl7pPr>
            <a:lvl8pPr algn="l">
              <a:defRPr sz="1650" b="0">
                <a:solidFill>
                  <a:srgbClr val="40564E"/>
                </a:solidFill>
                <a:latin typeface="Avenir Next"/>
                <a:ea typeface="Avenir Next"/>
                <a:cs typeface="Avenir Next"/>
              </a:defRPr>
            </a:lvl8pPr>
            <a:lvl9pPr algn="l">
              <a:defRPr sz="1650" b="0">
                <a:solidFill>
                  <a:srgbClr val="40564E"/>
                </a:solidFill>
                <a:latin typeface="Avenir Next"/>
                <a:ea typeface="Avenir Next"/>
                <a:cs typeface="Avenir Next"/>
              </a:defRPr>
            </a:lvl9pPr>
          </a:lstStyle>
          <a:p xmlns:a="http://schemas.openxmlformats.org/drawingml/2006/main">
            <a:pPr algn="l">
              <a:defRPr sz="1650" b="0">
                <a:solidFill>
                  <a:srgbClr val="40564E"/>
                </a:solidFill>
                <a:latin typeface="Avenir Next"/>
                <a:ea typeface="Avenir Next"/>
                <a:cs typeface="Avenir Next"/>
              </a:defRPr>
            </a:pPr>
            <a:r>
              <a:rPr sz="1650" b="0">
                <a:solidFill>
                  <a:srgbClr val="40564E"/>
                </a:solidFill>
                <a:latin typeface="Avenir Next"/>
                <a:ea typeface="Avenir Next"/>
                <a:cs typeface="Avenir Next"/>
              </a:rPr>
              <a:t>Observe provider delay, missing fields, and recovery when the API is unavailable.</a:t>
            </a:r>
          </a:p>
        </p:txBody>
      </p:sp>
      <p:sp>
        <p:nvSpPr>
          <p:cNvPr id="15" name="">
            <a:extLst xmlns:a="http://schemas.openxmlformats.org/drawingml/2006/main">
              <a:ext uri="{FF2B5EF4-FFF2-40B4-BE49-F238E27FC236}">
                <a16:creationId xmlns:a16="http://schemas.microsoft.com/office/drawing/2014/main" id="{1CE3F5D3-E7B5-426F-9571-23FFC22DDC47}"/>
              </a:ext>
            </a:extLst>
          </p:cNvPr>
          <p:cNvSpPr>
            <a:spLocks xmlns:a="http://schemas.openxmlformats.org/drawingml/2006/main" noGrp="1"/>
          </p:cNvSpPr>
          <p:nvPr/>
        </p:nvSpPr>
        <p:spPr>
          <a:xfrm xmlns:a="http://schemas.openxmlformats.org/drawingml/2006/main">
            <a:off x="876300" y="55626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4523F"/>
                </a:solidFill>
                <a:latin typeface="Avenir Next"/>
                <a:ea typeface="Avenir Next"/>
                <a:cs typeface="Avenir Next"/>
              </a:defRPr>
            </a:defPPr>
            <a:lvl1pPr algn="l">
              <a:defRPr sz="1575" b="1">
                <a:solidFill>
                  <a:srgbClr val="14523F"/>
                </a:solidFill>
                <a:latin typeface="Avenir Next"/>
                <a:ea typeface="Avenir Next"/>
                <a:cs typeface="Avenir Next"/>
              </a:defRPr>
            </a:lvl1pPr>
            <a:lvl2pPr algn="l">
              <a:defRPr sz="1575" b="1">
                <a:solidFill>
                  <a:srgbClr val="14523F"/>
                </a:solidFill>
                <a:latin typeface="Avenir Next"/>
                <a:ea typeface="Avenir Next"/>
                <a:cs typeface="Avenir Next"/>
              </a:defRPr>
            </a:lvl2pPr>
            <a:lvl3pPr algn="l">
              <a:defRPr sz="1575" b="1">
                <a:solidFill>
                  <a:srgbClr val="14523F"/>
                </a:solidFill>
                <a:latin typeface="Avenir Next"/>
                <a:ea typeface="Avenir Next"/>
                <a:cs typeface="Avenir Next"/>
              </a:defRPr>
            </a:lvl3pPr>
            <a:lvl4pPr algn="l">
              <a:defRPr sz="1575" b="1">
                <a:solidFill>
                  <a:srgbClr val="14523F"/>
                </a:solidFill>
                <a:latin typeface="Avenir Next"/>
                <a:ea typeface="Avenir Next"/>
                <a:cs typeface="Avenir Next"/>
              </a:defRPr>
            </a:lvl4pPr>
            <a:lvl5pPr algn="l">
              <a:defRPr sz="1575" b="1">
                <a:solidFill>
                  <a:srgbClr val="14523F"/>
                </a:solidFill>
                <a:latin typeface="Avenir Next"/>
                <a:ea typeface="Avenir Next"/>
                <a:cs typeface="Avenir Next"/>
              </a:defRPr>
            </a:lvl5pPr>
            <a:lvl6pPr algn="l">
              <a:defRPr sz="1575" b="1">
                <a:solidFill>
                  <a:srgbClr val="14523F"/>
                </a:solidFill>
                <a:latin typeface="Avenir Next"/>
                <a:ea typeface="Avenir Next"/>
                <a:cs typeface="Avenir Next"/>
              </a:defRPr>
            </a:lvl6pPr>
            <a:lvl7pPr algn="l">
              <a:defRPr sz="1575" b="1">
                <a:solidFill>
                  <a:srgbClr val="14523F"/>
                </a:solidFill>
                <a:latin typeface="Avenir Next"/>
                <a:ea typeface="Avenir Next"/>
                <a:cs typeface="Avenir Next"/>
              </a:defRPr>
            </a:lvl7pPr>
            <a:lvl8pPr algn="l">
              <a:defRPr sz="1575" b="1">
                <a:solidFill>
                  <a:srgbClr val="14523F"/>
                </a:solidFill>
                <a:latin typeface="Avenir Next"/>
                <a:ea typeface="Avenir Next"/>
                <a:cs typeface="Avenir Next"/>
              </a:defRPr>
            </a:lvl8pPr>
            <a:lvl9pPr algn="l">
              <a:defRPr sz="1575" b="1">
                <a:solidFill>
                  <a:srgbClr val="14523F"/>
                </a:solidFill>
                <a:latin typeface="Avenir Next"/>
                <a:ea typeface="Avenir Next"/>
                <a:cs typeface="Avenir Next"/>
              </a:defRPr>
            </a:lvl9pPr>
          </a:lstStyle>
          <a:p xmlns:a="http://schemas.openxmlformats.org/drawingml/2006/main">
            <a:pPr algn="l">
              <a:defRPr sz="1575" b="1">
                <a:solidFill>
                  <a:srgbClr val="14523F"/>
                </a:solidFill>
                <a:latin typeface="Avenir Next"/>
                <a:ea typeface="Avenir Next"/>
                <a:cs typeface="Avenir Next"/>
              </a:defRPr>
            </a:pPr>
            <a:r>
              <a:rPr sz="1575" b="1">
                <a:solidFill>
                  <a:srgbClr val="14523F"/>
                </a:solidFill>
                <a:latin typeface="Avenir Next"/>
                <a:ea typeface="Avenir Next"/>
                <a:cs typeface="Avenir Next"/>
              </a:rPr>
              <a:t>Report observed findings separately from intended impact.</a:t>
            </a:r>
          </a:p>
        </p:txBody>
      </p:sp>
    </p:spTree>
    <p:extLst>
      <p:ext uri="{BB962C8B-B14F-4D97-AF65-F5344CB8AC3E}">
        <p14:creationId xmlns:p14="http://schemas.microsoft.com/office/powerpoint/2010/main" val="1177232849"/>
      </p:ext>
    </p:extLst>
  </p:cSld>
</p:sld>
</file>

<file path=ppt/slides/slide12.xml><?xml version="1.0" encoding="utf-8"?>
<p:sld xmlns:p="http://schemas.openxmlformats.org/presentationml/2006/main">
  <p:cSld>
    <p:bg>
      <p:bgPr>
        <a:solidFill xmlns:a="http://schemas.openxmlformats.org/drawingml/2006/main">
          <a:srgbClr val="082C2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9AF5D7-DB14-4EA1-B743-D2F587C0959F}"/>
              </a:ext>
            </a:extLst>
          </p:cNvPr>
          <p:cNvSpPr>
            <a:spLocks xmlns:a="http://schemas.openxmlformats.org/drawingml/2006/main" noGrp="1"/>
          </p:cNvSpPr>
          <p:nvPr/>
        </p:nvSpPr>
        <p:spPr>
          <a:xfrm xmlns:a="http://schemas.openxmlformats.org/drawingml/2006/main">
            <a:off x="800100" y="6858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E7B942"/>
                </a:solidFill>
                <a:latin typeface="Avenir Next"/>
                <a:ea typeface="Avenir Next"/>
                <a:cs typeface="Avenir Next"/>
              </a:defRPr>
            </a:defPPr>
            <a:lvl1pPr algn="l">
              <a:defRPr sz="1275" b="1">
                <a:solidFill>
                  <a:srgbClr val="E7B942"/>
                </a:solidFill>
                <a:latin typeface="Avenir Next"/>
                <a:ea typeface="Avenir Next"/>
                <a:cs typeface="Avenir Next"/>
              </a:defRPr>
            </a:lvl1pPr>
            <a:lvl2pPr algn="l">
              <a:defRPr sz="1275" b="1">
                <a:solidFill>
                  <a:srgbClr val="E7B942"/>
                </a:solidFill>
                <a:latin typeface="Avenir Next"/>
                <a:ea typeface="Avenir Next"/>
                <a:cs typeface="Avenir Next"/>
              </a:defRPr>
            </a:lvl2pPr>
            <a:lvl3pPr algn="l">
              <a:defRPr sz="1275" b="1">
                <a:solidFill>
                  <a:srgbClr val="E7B942"/>
                </a:solidFill>
                <a:latin typeface="Avenir Next"/>
                <a:ea typeface="Avenir Next"/>
                <a:cs typeface="Avenir Next"/>
              </a:defRPr>
            </a:lvl3pPr>
            <a:lvl4pPr algn="l">
              <a:defRPr sz="1275" b="1">
                <a:solidFill>
                  <a:srgbClr val="E7B942"/>
                </a:solidFill>
                <a:latin typeface="Avenir Next"/>
                <a:ea typeface="Avenir Next"/>
                <a:cs typeface="Avenir Next"/>
              </a:defRPr>
            </a:lvl4pPr>
            <a:lvl5pPr algn="l">
              <a:defRPr sz="1275" b="1">
                <a:solidFill>
                  <a:srgbClr val="E7B942"/>
                </a:solidFill>
                <a:latin typeface="Avenir Next"/>
                <a:ea typeface="Avenir Next"/>
                <a:cs typeface="Avenir Next"/>
              </a:defRPr>
            </a:lvl5pPr>
            <a:lvl6pPr algn="l">
              <a:defRPr sz="1275" b="1">
                <a:solidFill>
                  <a:srgbClr val="E7B942"/>
                </a:solidFill>
                <a:latin typeface="Avenir Next"/>
                <a:ea typeface="Avenir Next"/>
                <a:cs typeface="Avenir Next"/>
              </a:defRPr>
            </a:lvl6pPr>
            <a:lvl7pPr algn="l">
              <a:defRPr sz="1275" b="1">
                <a:solidFill>
                  <a:srgbClr val="E7B942"/>
                </a:solidFill>
                <a:latin typeface="Avenir Next"/>
                <a:ea typeface="Avenir Next"/>
                <a:cs typeface="Avenir Next"/>
              </a:defRPr>
            </a:lvl7pPr>
            <a:lvl8pPr algn="l">
              <a:defRPr sz="1275" b="1">
                <a:solidFill>
                  <a:srgbClr val="E7B942"/>
                </a:solidFill>
                <a:latin typeface="Avenir Next"/>
                <a:ea typeface="Avenir Next"/>
                <a:cs typeface="Avenir Next"/>
              </a:defRPr>
            </a:lvl8pPr>
            <a:lvl9pPr algn="l">
              <a:defRPr sz="1275" b="1">
                <a:solidFill>
                  <a:srgbClr val="E7B942"/>
                </a:solidFill>
                <a:latin typeface="Avenir Next"/>
                <a:ea typeface="Avenir Next"/>
                <a:cs typeface="Avenir Next"/>
              </a:defRPr>
            </a:lvl9pPr>
          </a:lstStyle>
          <a:p xmlns:a="http://schemas.openxmlformats.org/drawingml/2006/main">
            <a:pPr algn="l">
              <a:defRPr sz="1275" b="1">
                <a:solidFill>
                  <a:srgbClr val="E7B942"/>
                </a:solidFill>
                <a:latin typeface="Avenir Next"/>
                <a:ea typeface="Avenir Next"/>
                <a:cs typeface="Avenir Next"/>
              </a:defRPr>
            </a:pPr>
            <a:r>
              <a:rPr sz="1275" b="1">
                <a:solidFill>
                  <a:srgbClr val="E7B942"/>
                </a:solidFill>
                <a:latin typeface="Avenir Next"/>
                <a:ea typeface="Avenir Next"/>
                <a:cs typeface="Avenir Next"/>
              </a:rPr>
              <a:t>TAKEAWAY</a:t>
            </a:r>
          </a:p>
        </p:txBody>
      </p:sp>
      <p:sp>
        <p:nvSpPr>
          <p:cNvPr id="2" name="">
            <a:extLst xmlns:a="http://schemas.openxmlformats.org/drawingml/2006/main">
              <a:ext uri="{FF2B5EF4-FFF2-40B4-BE49-F238E27FC236}">
                <a16:creationId xmlns:a16="http://schemas.microsoft.com/office/drawing/2014/main" id="{43A5D41F-DC5F-424F-8542-9781E68DC6D9}"/>
              </a:ext>
            </a:extLst>
          </p:cNvPr>
          <p:cNvSpPr>
            <a:spLocks xmlns:a="http://schemas.openxmlformats.org/drawingml/2006/main" noGrp="1"/>
          </p:cNvSpPr>
          <p:nvPr/>
        </p:nvSpPr>
        <p:spPr>
          <a:xfrm xmlns:a="http://schemas.openxmlformats.org/drawingml/2006/main">
            <a:off x="800100" y="1276350"/>
            <a:ext cx="8477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a:solidFill>
                  <a:srgbClr val="F5F2E8"/>
                </a:solidFill>
                <a:latin typeface="Avenir Next"/>
                <a:ea typeface="Avenir Next"/>
                <a:cs typeface="Avenir Next"/>
              </a:defRPr>
            </a:defPPr>
            <a:lvl1pPr algn="l">
              <a:defRPr sz="4350" b="1">
                <a:solidFill>
                  <a:srgbClr val="F5F2E8"/>
                </a:solidFill>
                <a:latin typeface="Avenir Next"/>
                <a:ea typeface="Avenir Next"/>
                <a:cs typeface="Avenir Next"/>
              </a:defRPr>
            </a:lvl1pPr>
            <a:lvl2pPr algn="l">
              <a:defRPr sz="4350" b="1">
                <a:solidFill>
                  <a:srgbClr val="F5F2E8"/>
                </a:solidFill>
                <a:latin typeface="Avenir Next"/>
                <a:ea typeface="Avenir Next"/>
                <a:cs typeface="Avenir Next"/>
              </a:defRPr>
            </a:lvl2pPr>
            <a:lvl3pPr algn="l">
              <a:defRPr sz="4350" b="1">
                <a:solidFill>
                  <a:srgbClr val="F5F2E8"/>
                </a:solidFill>
                <a:latin typeface="Avenir Next"/>
                <a:ea typeface="Avenir Next"/>
                <a:cs typeface="Avenir Next"/>
              </a:defRPr>
            </a:lvl3pPr>
            <a:lvl4pPr algn="l">
              <a:defRPr sz="4350" b="1">
                <a:solidFill>
                  <a:srgbClr val="F5F2E8"/>
                </a:solidFill>
                <a:latin typeface="Avenir Next"/>
                <a:ea typeface="Avenir Next"/>
                <a:cs typeface="Avenir Next"/>
              </a:defRPr>
            </a:lvl4pPr>
            <a:lvl5pPr algn="l">
              <a:defRPr sz="4350" b="1">
                <a:solidFill>
                  <a:srgbClr val="F5F2E8"/>
                </a:solidFill>
                <a:latin typeface="Avenir Next"/>
                <a:ea typeface="Avenir Next"/>
                <a:cs typeface="Avenir Next"/>
              </a:defRPr>
            </a:lvl5pPr>
            <a:lvl6pPr algn="l">
              <a:defRPr sz="4350" b="1">
                <a:solidFill>
                  <a:srgbClr val="F5F2E8"/>
                </a:solidFill>
                <a:latin typeface="Avenir Next"/>
                <a:ea typeface="Avenir Next"/>
                <a:cs typeface="Avenir Next"/>
              </a:defRPr>
            </a:lvl6pPr>
            <a:lvl7pPr algn="l">
              <a:defRPr sz="4350" b="1">
                <a:solidFill>
                  <a:srgbClr val="F5F2E8"/>
                </a:solidFill>
                <a:latin typeface="Avenir Next"/>
                <a:ea typeface="Avenir Next"/>
                <a:cs typeface="Avenir Next"/>
              </a:defRPr>
            </a:lvl7pPr>
            <a:lvl8pPr algn="l">
              <a:defRPr sz="4350" b="1">
                <a:solidFill>
                  <a:srgbClr val="F5F2E8"/>
                </a:solidFill>
                <a:latin typeface="Avenir Next"/>
                <a:ea typeface="Avenir Next"/>
                <a:cs typeface="Avenir Next"/>
              </a:defRPr>
            </a:lvl8pPr>
            <a:lvl9pPr algn="l">
              <a:defRPr sz="4350" b="1">
                <a:solidFill>
                  <a:srgbClr val="F5F2E8"/>
                </a:solidFill>
                <a:latin typeface="Avenir Next"/>
                <a:ea typeface="Avenir Next"/>
                <a:cs typeface="Avenir Next"/>
              </a:defRPr>
            </a:lvl9pPr>
          </a:lstStyle>
          <a:p xmlns:a="http://schemas.openxmlformats.org/drawingml/2006/main">
            <a:pPr algn="l">
              <a:defRPr sz="4350" b="1">
                <a:solidFill>
                  <a:srgbClr val="F5F2E8"/>
                </a:solidFill>
                <a:latin typeface="Avenir Next"/>
                <a:ea typeface="Avenir Next"/>
                <a:cs typeface="Avenir Next"/>
              </a:defRPr>
            </a:pPr>
            <a:r>
              <a:rPr sz="4350" b="1">
                <a:solidFill>
                  <a:srgbClr val="F5F2E8"/>
                </a:solidFill>
                <a:latin typeface="Avenir Next"/>
                <a:ea typeface="Avenir Next"/>
                <a:cs typeface="Avenir Next"/>
              </a:rPr>
              <a:t>CricketVerse connects</a:t>
            </a:r>
          </a:p>
          <a:p xmlns:a="http://schemas.openxmlformats.org/drawingml/2006/main">
            <a:pPr algn="l">
              <a:defRPr sz="4350" b="1">
                <a:solidFill>
                  <a:srgbClr val="F5F2E8"/>
                </a:solidFill>
                <a:latin typeface="Avenir Next"/>
                <a:ea typeface="Avenir Next"/>
                <a:cs typeface="Avenir Next"/>
              </a:defRPr>
            </a:pPr>
            <a:r>
              <a:rPr sz="4350" b="1">
                <a:solidFill>
                  <a:srgbClr val="F5F2E8"/>
                </a:solidFill>
                <a:latin typeface="Avenir Next"/>
                <a:ea typeface="Avenir Next"/>
                <a:cs typeface="Avenir Next"/>
              </a:rPr>
              <a:t>participation with ownership</a:t>
            </a:r>
          </a:p>
        </p:txBody>
      </p:sp>
      <p:sp>
        <p:nvSpPr>
          <p:cNvPr id="3" name="">
            <a:extLst xmlns:a="http://schemas.openxmlformats.org/drawingml/2006/main">
              <a:ext uri="{FF2B5EF4-FFF2-40B4-BE49-F238E27FC236}">
                <a16:creationId xmlns:a16="http://schemas.microsoft.com/office/drawing/2014/main" id="{781B934D-08FD-4E9D-A138-BED08AA3F6AC}"/>
              </a:ext>
            </a:extLst>
          </p:cNvPr>
          <p:cNvSpPr>
            <a:spLocks xmlns:a="http://schemas.openxmlformats.org/drawingml/2006/main" noGrp="1"/>
          </p:cNvSpPr>
          <p:nvPr/>
        </p:nvSpPr>
        <p:spPr>
          <a:xfrm xmlns:a="http://schemas.openxmlformats.org/drawingml/2006/main">
            <a:off x="838200" y="3105150"/>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A9D9B9"/>
                </a:solidFill>
                <a:latin typeface="Avenir Next"/>
                <a:ea typeface="Avenir Next"/>
                <a:cs typeface="Avenir Next"/>
              </a:defRPr>
            </a:defPPr>
            <a:lvl1pPr algn="l">
              <a:defRPr sz="2025" b="0">
                <a:solidFill>
                  <a:srgbClr val="A9D9B9"/>
                </a:solidFill>
                <a:latin typeface="Avenir Next"/>
                <a:ea typeface="Avenir Next"/>
                <a:cs typeface="Avenir Next"/>
              </a:defRPr>
            </a:lvl1pPr>
            <a:lvl2pPr algn="l">
              <a:defRPr sz="2025" b="0">
                <a:solidFill>
                  <a:srgbClr val="A9D9B9"/>
                </a:solidFill>
                <a:latin typeface="Avenir Next"/>
                <a:ea typeface="Avenir Next"/>
                <a:cs typeface="Avenir Next"/>
              </a:defRPr>
            </a:lvl2pPr>
            <a:lvl3pPr algn="l">
              <a:defRPr sz="2025" b="0">
                <a:solidFill>
                  <a:srgbClr val="A9D9B9"/>
                </a:solidFill>
                <a:latin typeface="Avenir Next"/>
                <a:ea typeface="Avenir Next"/>
                <a:cs typeface="Avenir Next"/>
              </a:defRPr>
            </a:lvl3pPr>
            <a:lvl4pPr algn="l">
              <a:defRPr sz="2025" b="0">
                <a:solidFill>
                  <a:srgbClr val="A9D9B9"/>
                </a:solidFill>
                <a:latin typeface="Avenir Next"/>
                <a:ea typeface="Avenir Next"/>
                <a:cs typeface="Avenir Next"/>
              </a:defRPr>
            </a:lvl4pPr>
            <a:lvl5pPr algn="l">
              <a:defRPr sz="2025" b="0">
                <a:solidFill>
                  <a:srgbClr val="A9D9B9"/>
                </a:solidFill>
                <a:latin typeface="Avenir Next"/>
                <a:ea typeface="Avenir Next"/>
                <a:cs typeface="Avenir Next"/>
              </a:defRPr>
            </a:lvl5pPr>
            <a:lvl6pPr algn="l">
              <a:defRPr sz="2025" b="0">
                <a:solidFill>
                  <a:srgbClr val="A9D9B9"/>
                </a:solidFill>
                <a:latin typeface="Avenir Next"/>
                <a:ea typeface="Avenir Next"/>
                <a:cs typeface="Avenir Next"/>
              </a:defRPr>
            </a:lvl6pPr>
            <a:lvl7pPr algn="l">
              <a:defRPr sz="2025" b="0">
                <a:solidFill>
                  <a:srgbClr val="A9D9B9"/>
                </a:solidFill>
                <a:latin typeface="Avenir Next"/>
                <a:ea typeface="Avenir Next"/>
                <a:cs typeface="Avenir Next"/>
              </a:defRPr>
            </a:lvl7pPr>
            <a:lvl8pPr algn="l">
              <a:defRPr sz="2025" b="0">
                <a:solidFill>
                  <a:srgbClr val="A9D9B9"/>
                </a:solidFill>
                <a:latin typeface="Avenir Next"/>
                <a:ea typeface="Avenir Next"/>
                <a:cs typeface="Avenir Next"/>
              </a:defRPr>
            </a:lvl8pPr>
            <a:lvl9pPr algn="l">
              <a:defRPr sz="2025" b="0">
                <a:solidFill>
                  <a:srgbClr val="A9D9B9"/>
                </a:solidFill>
                <a:latin typeface="Avenir Next"/>
                <a:ea typeface="Avenir Next"/>
                <a:cs typeface="Avenir Next"/>
              </a:defRPr>
            </a:lvl9pPr>
          </a:lstStyle>
          <a:p xmlns:a="http://schemas.openxmlformats.org/drawingml/2006/main">
            <a:pPr algn="l">
              <a:defRPr sz="2025" b="0">
                <a:solidFill>
                  <a:srgbClr val="A9D9B9"/>
                </a:solidFill>
                <a:latin typeface="Avenir Next"/>
                <a:ea typeface="Avenir Next"/>
                <a:cs typeface="Avenir Next"/>
              </a:defRPr>
            </a:pPr>
            <a:r>
              <a:rPr sz="2025" b="0">
                <a:solidFill>
                  <a:srgbClr val="A9D9B9"/>
                </a:solidFill>
                <a:latin typeface="Avenir Next"/>
                <a:ea typeface="Avenir Next"/>
                <a:cs typeface="Avenir Next"/>
              </a:rPr>
              <a:t>Live cricket data keeps the experience current. Smart contracts make selected asset and transaction rules visible and enforceable.</a:t>
            </a:r>
          </a:p>
        </p:txBody>
      </p:sp>
      <p:sp>
        <p:nvSpPr>
          <p:cNvPr id="4" name="">
            <a:extLst xmlns:a="http://schemas.openxmlformats.org/drawingml/2006/main">
              <a:ext uri="{FF2B5EF4-FFF2-40B4-BE49-F238E27FC236}">
                <a16:creationId xmlns:a16="http://schemas.microsoft.com/office/drawing/2014/main" id="{75FB0391-BEC7-4060-BD72-6DBDC5D954EE}"/>
              </a:ext>
            </a:extLst>
          </p:cNvPr>
          <p:cNvSpPr>
            <a:spLocks xmlns:a="http://schemas.openxmlformats.org/drawingml/2006/main" noGrp="1"/>
          </p:cNvSpPr>
          <p:nvPr/>
        </p:nvSpPr>
        <p:spPr>
          <a:xfrm xmlns:a="http://schemas.openxmlformats.org/drawingml/2006/main">
            <a:off x="838200" y="4495800"/>
            <a:ext cx="8858250" cy="19050"/>
          </a:xfrm>
          <a:prstGeom xmlns:a="http://schemas.openxmlformats.org/drawingml/2006/main" prst="rect">
            <a:avLst/>
          </a:prstGeom>
          <a:solidFill xmlns:a="http://schemas.openxmlformats.org/drawingml/2006/main">
            <a:srgbClr val="31574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02A5428-0B80-4549-881D-2729C2CAAE69}"/>
              </a:ext>
            </a:extLst>
          </p:cNvPr>
          <p:cNvSpPr>
            <a:spLocks xmlns:a="http://schemas.openxmlformats.org/drawingml/2006/main" noGrp="1"/>
          </p:cNvSpPr>
          <p:nvPr/>
        </p:nvSpPr>
        <p:spPr>
          <a:xfrm xmlns:a="http://schemas.openxmlformats.org/drawingml/2006/main">
            <a:off x="838200" y="4752975"/>
            <a:ext cx="885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5F2E8"/>
                </a:solidFill>
                <a:latin typeface="Avenir Next"/>
                <a:ea typeface="Avenir Next"/>
                <a:cs typeface="Avenir Next"/>
              </a:defRPr>
            </a:defPPr>
            <a:lvl1pPr algn="l">
              <a:defRPr sz="1725" b="1">
                <a:solidFill>
                  <a:srgbClr val="F5F2E8"/>
                </a:solidFill>
                <a:latin typeface="Avenir Next"/>
                <a:ea typeface="Avenir Next"/>
                <a:cs typeface="Avenir Next"/>
              </a:defRPr>
            </a:lvl1pPr>
            <a:lvl2pPr algn="l">
              <a:defRPr sz="1725" b="1">
                <a:solidFill>
                  <a:srgbClr val="F5F2E8"/>
                </a:solidFill>
                <a:latin typeface="Avenir Next"/>
                <a:ea typeface="Avenir Next"/>
                <a:cs typeface="Avenir Next"/>
              </a:defRPr>
            </a:lvl2pPr>
            <a:lvl3pPr algn="l">
              <a:defRPr sz="1725" b="1">
                <a:solidFill>
                  <a:srgbClr val="F5F2E8"/>
                </a:solidFill>
                <a:latin typeface="Avenir Next"/>
                <a:ea typeface="Avenir Next"/>
                <a:cs typeface="Avenir Next"/>
              </a:defRPr>
            </a:lvl3pPr>
            <a:lvl4pPr algn="l">
              <a:defRPr sz="1725" b="1">
                <a:solidFill>
                  <a:srgbClr val="F5F2E8"/>
                </a:solidFill>
                <a:latin typeface="Avenir Next"/>
                <a:ea typeface="Avenir Next"/>
                <a:cs typeface="Avenir Next"/>
              </a:defRPr>
            </a:lvl4pPr>
            <a:lvl5pPr algn="l">
              <a:defRPr sz="1725" b="1">
                <a:solidFill>
                  <a:srgbClr val="F5F2E8"/>
                </a:solidFill>
                <a:latin typeface="Avenir Next"/>
                <a:ea typeface="Avenir Next"/>
                <a:cs typeface="Avenir Next"/>
              </a:defRPr>
            </a:lvl5pPr>
            <a:lvl6pPr algn="l">
              <a:defRPr sz="1725" b="1">
                <a:solidFill>
                  <a:srgbClr val="F5F2E8"/>
                </a:solidFill>
                <a:latin typeface="Avenir Next"/>
                <a:ea typeface="Avenir Next"/>
                <a:cs typeface="Avenir Next"/>
              </a:defRPr>
            </a:lvl6pPr>
            <a:lvl7pPr algn="l">
              <a:defRPr sz="1725" b="1">
                <a:solidFill>
                  <a:srgbClr val="F5F2E8"/>
                </a:solidFill>
                <a:latin typeface="Avenir Next"/>
                <a:ea typeface="Avenir Next"/>
                <a:cs typeface="Avenir Next"/>
              </a:defRPr>
            </a:lvl7pPr>
            <a:lvl8pPr algn="l">
              <a:defRPr sz="1725" b="1">
                <a:solidFill>
                  <a:srgbClr val="F5F2E8"/>
                </a:solidFill>
                <a:latin typeface="Avenir Next"/>
                <a:ea typeface="Avenir Next"/>
                <a:cs typeface="Avenir Next"/>
              </a:defRPr>
            </a:lvl8pPr>
            <a:lvl9pPr algn="l">
              <a:defRPr sz="1725" b="1">
                <a:solidFill>
                  <a:srgbClr val="F5F2E8"/>
                </a:solidFill>
                <a:latin typeface="Avenir Next"/>
                <a:ea typeface="Avenir Next"/>
                <a:cs typeface="Avenir Next"/>
              </a:defRPr>
            </a:lvl9pPr>
          </a:lstStyle>
          <a:p xmlns:a="http://schemas.openxmlformats.org/drawingml/2006/main">
            <a:pPr algn="l">
              <a:defRPr sz="1725" b="1">
                <a:solidFill>
                  <a:srgbClr val="F5F2E8"/>
                </a:solidFill>
                <a:latin typeface="Avenir Next"/>
                <a:ea typeface="Avenir Next"/>
                <a:cs typeface="Avenir Next"/>
              </a:defRPr>
            </a:pPr>
            <a:r>
              <a:rPr sz="1725" b="1">
                <a:solidFill>
                  <a:srgbClr val="F5F2E8"/>
                </a:solidFill>
                <a:latin typeface="Avenir Next"/>
                <a:ea typeface="Avenir Next"/>
                <a:cs typeface="Avenir Next"/>
              </a:rPr>
              <a:t>A fan-centred prototype — with impact to be tested and trusted scoring still to be built.</a:t>
            </a:r>
          </a:p>
        </p:txBody>
      </p:sp>
      <p:sp>
        <p:nvSpPr>
          <p:cNvPr id="6" name="">
            <a:extLst xmlns:a="http://schemas.openxmlformats.org/drawingml/2006/main">
              <a:ext uri="{FF2B5EF4-FFF2-40B4-BE49-F238E27FC236}">
                <a16:creationId xmlns:a16="http://schemas.microsoft.com/office/drawing/2014/main" id="{11FAC95D-0299-40AD-8B2F-637C34262E34}"/>
              </a:ext>
            </a:extLst>
          </p:cNvPr>
          <p:cNvSpPr>
            <a:spLocks xmlns:a="http://schemas.openxmlformats.org/drawingml/2006/main" noGrp="1"/>
          </p:cNvSpPr>
          <p:nvPr/>
        </p:nvSpPr>
        <p:spPr>
          <a:xfrm xmlns:a="http://schemas.openxmlformats.org/drawingml/2006/main">
            <a:off x="838200" y="59055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E7B942"/>
                </a:solidFill>
                <a:latin typeface="Avenir Next"/>
                <a:ea typeface="Avenir Next"/>
                <a:cs typeface="Avenir Next"/>
              </a:defRPr>
            </a:defPPr>
            <a:lvl1pPr algn="l">
              <a:defRPr sz="1800" b="1">
                <a:solidFill>
                  <a:srgbClr val="E7B942"/>
                </a:solidFill>
                <a:latin typeface="Avenir Next"/>
                <a:ea typeface="Avenir Next"/>
                <a:cs typeface="Avenir Next"/>
              </a:defRPr>
            </a:lvl1pPr>
            <a:lvl2pPr algn="l">
              <a:defRPr sz="1800" b="1">
                <a:solidFill>
                  <a:srgbClr val="E7B942"/>
                </a:solidFill>
                <a:latin typeface="Avenir Next"/>
                <a:ea typeface="Avenir Next"/>
                <a:cs typeface="Avenir Next"/>
              </a:defRPr>
            </a:lvl2pPr>
            <a:lvl3pPr algn="l">
              <a:defRPr sz="1800" b="1">
                <a:solidFill>
                  <a:srgbClr val="E7B942"/>
                </a:solidFill>
                <a:latin typeface="Avenir Next"/>
                <a:ea typeface="Avenir Next"/>
                <a:cs typeface="Avenir Next"/>
              </a:defRPr>
            </a:lvl3pPr>
            <a:lvl4pPr algn="l">
              <a:defRPr sz="1800" b="1">
                <a:solidFill>
                  <a:srgbClr val="E7B942"/>
                </a:solidFill>
                <a:latin typeface="Avenir Next"/>
                <a:ea typeface="Avenir Next"/>
                <a:cs typeface="Avenir Next"/>
              </a:defRPr>
            </a:lvl4pPr>
            <a:lvl5pPr algn="l">
              <a:defRPr sz="1800" b="1">
                <a:solidFill>
                  <a:srgbClr val="E7B942"/>
                </a:solidFill>
                <a:latin typeface="Avenir Next"/>
                <a:ea typeface="Avenir Next"/>
                <a:cs typeface="Avenir Next"/>
              </a:defRPr>
            </a:lvl5pPr>
            <a:lvl6pPr algn="l">
              <a:defRPr sz="1800" b="1">
                <a:solidFill>
                  <a:srgbClr val="E7B942"/>
                </a:solidFill>
                <a:latin typeface="Avenir Next"/>
                <a:ea typeface="Avenir Next"/>
                <a:cs typeface="Avenir Next"/>
              </a:defRPr>
            </a:lvl6pPr>
            <a:lvl7pPr algn="l">
              <a:defRPr sz="1800" b="1">
                <a:solidFill>
                  <a:srgbClr val="E7B942"/>
                </a:solidFill>
                <a:latin typeface="Avenir Next"/>
                <a:ea typeface="Avenir Next"/>
                <a:cs typeface="Avenir Next"/>
              </a:defRPr>
            </a:lvl7pPr>
            <a:lvl8pPr algn="l">
              <a:defRPr sz="1800" b="1">
                <a:solidFill>
                  <a:srgbClr val="E7B942"/>
                </a:solidFill>
                <a:latin typeface="Avenir Next"/>
                <a:ea typeface="Avenir Next"/>
                <a:cs typeface="Avenir Next"/>
              </a:defRPr>
            </a:lvl8pPr>
            <a:lvl9pPr algn="l">
              <a:defRPr sz="1800" b="1">
                <a:solidFill>
                  <a:srgbClr val="E7B942"/>
                </a:solidFill>
                <a:latin typeface="Avenir Next"/>
                <a:ea typeface="Avenir Next"/>
                <a:cs typeface="Avenir Next"/>
              </a:defRPr>
            </a:lvl9pPr>
          </a:lstStyle>
          <a:p xmlns:a="http://schemas.openxmlformats.org/drawingml/2006/main">
            <a:pPr algn="l">
              <a:defRPr sz="1800" b="1">
                <a:solidFill>
                  <a:srgbClr val="E7B942"/>
                </a:solidFill>
                <a:latin typeface="Avenir Next"/>
                <a:ea typeface="Avenir Next"/>
                <a:cs typeface="Avenir Next"/>
              </a:defRPr>
            </a:pPr>
            <a:r>
              <a:rPr sz="1800" b="1">
                <a:solidFill>
                  <a:srgbClr val="E7B942"/>
                </a:solidFill>
                <a:latin typeface="Avenir Next"/>
                <a:ea typeface="Avenir Next"/>
                <a:cs typeface="Avenir Next"/>
              </a:rPr>
              <a:t>Thank you  ·  Questions</a:t>
            </a:r>
          </a:p>
        </p:txBody>
      </p:sp>
    </p:spTree>
    <p:extLst>
      <p:ext uri="{BB962C8B-B14F-4D97-AF65-F5344CB8AC3E}">
        <p14:creationId xmlns:p14="http://schemas.microsoft.com/office/powerpoint/2010/main" val="312218879"/>
      </p:ext>
    </p:extLst>
  </p:cSld>
</p:sld>
</file>

<file path=ppt/slides/slide13.xml><?xml version="1.0" encoding="utf-8"?>
<p:sld xmlns:p="http://schemas.openxmlformats.org/presentationml/2006/main">
  <p:cSld>
    <p:bg>
      <p:bgPr>
        <a:solidFill xmlns:a="http://schemas.openxmlformats.org/drawingml/2006/main">
          <a:srgbClr val="F5F2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D68CF6-A38E-49C0-A325-7136F462BCED}"/>
              </a:ext>
            </a:extLst>
          </p:cNvPr>
          <p:cNvSpPr>
            <a:spLocks xmlns:a="http://schemas.openxmlformats.org/drawingml/2006/main" noGrp="1"/>
          </p:cNvSpPr>
          <p:nvPr/>
        </p:nvSpPr>
        <p:spPr>
          <a:xfrm xmlns:a="http://schemas.openxmlformats.org/drawingml/2006/main">
            <a:off x="685800" y="323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D6A50"/>
                </a:solidFill>
                <a:latin typeface="Avenir Next"/>
                <a:ea typeface="Avenir Next"/>
                <a:cs typeface="Avenir Next"/>
              </a:defRPr>
            </a:defPPr>
            <a:lvl1pPr algn="l">
              <a:defRPr sz="1200" b="1">
                <a:solidFill>
                  <a:srgbClr val="1D6A50"/>
                </a:solidFill>
                <a:latin typeface="Avenir Next"/>
                <a:ea typeface="Avenir Next"/>
                <a:cs typeface="Avenir Next"/>
              </a:defRPr>
            </a:lvl1pPr>
            <a:lvl2pPr algn="l">
              <a:defRPr sz="1200" b="1">
                <a:solidFill>
                  <a:srgbClr val="1D6A50"/>
                </a:solidFill>
                <a:latin typeface="Avenir Next"/>
                <a:ea typeface="Avenir Next"/>
                <a:cs typeface="Avenir Next"/>
              </a:defRPr>
            </a:lvl2pPr>
            <a:lvl3pPr algn="l">
              <a:defRPr sz="1200" b="1">
                <a:solidFill>
                  <a:srgbClr val="1D6A50"/>
                </a:solidFill>
                <a:latin typeface="Avenir Next"/>
                <a:ea typeface="Avenir Next"/>
                <a:cs typeface="Avenir Next"/>
              </a:defRPr>
            </a:lvl3pPr>
            <a:lvl4pPr algn="l">
              <a:defRPr sz="1200" b="1">
                <a:solidFill>
                  <a:srgbClr val="1D6A50"/>
                </a:solidFill>
                <a:latin typeface="Avenir Next"/>
                <a:ea typeface="Avenir Next"/>
                <a:cs typeface="Avenir Next"/>
              </a:defRPr>
            </a:lvl4pPr>
            <a:lvl5pPr algn="l">
              <a:defRPr sz="1200" b="1">
                <a:solidFill>
                  <a:srgbClr val="1D6A50"/>
                </a:solidFill>
                <a:latin typeface="Avenir Next"/>
                <a:ea typeface="Avenir Next"/>
                <a:cs typeface="Avenir Next"/>
              </a:defRPr>
            </a:lvl5pPr>
            <a:lvl6pPr algn="l">
              <a:defRPr sz="1200" b="1">
                <a:solidFill>
                  <a:srgbClr val="1D6A50"/>
                </a:solidFill>
                <a:latin typeface="Avenir Next"/>
                <a:ea typeface="Avenir Next"/>
                <a:cs typeface="Avenir Next"/>
              </a:defRPr>
            </a:lvl6pPr>
            <a:lvl7pPr algn="l">
              <a:defRPr sz="1200" b="1">
                <a:solidFill>
                  <a:srgbClr val="1D6A50"/>
                </a:solidFill>
                <a:latin typeface="Avenir Next"/>
                <a:ea typeface="Avenir Next"/>
                <a:cs typeface="Avenir Next"/>
              </a:defRPr>
            </a:lvl7pPr>
            <a:lvl8pPr algn="l">
              <a:defRPr sz="1200" b="1">
                <a:solidFill>
                  <a:srgbClr val="1D6A50"/>
                </a:solidFill>
                <a:latin typeface="Avenir Next"/>
                <a:ea typeface="Avenir Next"/>
                <a:cs typeface="Avenir Next"/>
              </a:defRPr>
            </a:lvl8pPr>
            <a:lvl9pPr algn="l">
              <a:defRPr sz="1200" b="1">
                <a:solidFill>
                  <a:srgbClr val="1D6A50"/>
                </a:solidFill>
                <a:latin typeface="Avenir Next"/>
                <a:ea typeface="Avenir Next"/>
                <a:cs typeface="Avenir Next"/>
              </a:defRPr>
            </a:lvl9pPr>
          </a:lstStyle>
          <a:p xmlns:a="http://schemas.openxmlformats.org/drawingml/2006/main">
            <a:pPr algn="l">
              <a:defRPr sz="1200" b="1">
                <a:solidFill>
                  <a:srgbClr val="1D6A50"/>
                </a:solidFill>
                <a:latin typeface="Avenir Next"/>
                <a:ea typeface="Avenir Next"/>
                <a:cs typeface="Avenir Next"/>
              </a:defRPr>
            </a:pPr>
            <a:r>
              <a:rPr sz="1200" b="1">
                <a:solidFill>
                  <a:srgbClr val="1D6A50"/>
                </a:solidFill>
                <a:latin typeface="Avenir Next"/>
                <a:ea typeface="Avenir Next"/>
                <a:cs typeface="Avenir Next"/>
              </a:rPr>
              <a:t>SOURCE BASIS</a:t>
            </a:r>
          </a:p>
        </p:txBody>
      </p:sp>
      <p:sp>
        <p:nvSpPr>
          <p:cNvPr id="2" name="">
            <a:extLst xmlns:a="http://schemas.openxmlformats.org/drawingml/2006/main">
              <a:ext uri="{FF2B5EF4-FFF2-40B4-BE49-F238E27FC236}">
                <a16:creationId xmlns:a16="http://schemas.microsoft.com/office/drawing/2014/main" id="{F58770FC-531A-4C1E-AD99-7D2304A040D7}"/>
              </a:ext>
            </a:extLst>
          </p:cNvPr>
          <p:cNvSpPr>
            <a:spLocks xmlns:a="http://schemas.openxmlformats.org/drawingml/2006/main" noGrp="1"/>
          </p:cNvSpPr>
          <p:nvPr/>
        </p:nvSpPr>
        <p:spPr>
          <a:xfrm xmlns:a="http://schemas.openxmlformats.org/drawingml/2006/main">
            <a:off x="685800" y="704850"/>
            <a:ext cx="1082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050" b="1">
                <a:solidFill>
                  <a:srgbClr val="082C24"/>
                </a:solidFill>
                <a:latin typeface="Avenir Next"/>
                <a:ea typeface="Avenir Next"/>
                <a:cs typeface="Avenir Next"/>
              </a:defRPr>
            </a:defPPr>
            <a:lvl1pPr algn="l">
              <a:defRPr sz="4050" b="1">
                <a:solidFill>
                  <a:srgbClr val="082C24"/>
                </a:solidFill>
                <a:latin typeface="Avenir Next"/>
                <a:ea typeface="Avenir Next"/>
                <a:cs typeface="Avenir Next"/>
              </a:defRPr>
            </a:lvl1pPr>
            <a:lvl2pPr algn="l">
              <a:defRPr sz="4050" b="1">
                <a:solidFill>
                  <a:srgbClr val="082C24"/>
                </a:solidFill>
                <a:latin typeface="Avenir Next"/>
                <a:ea typeface="Avenir Next"/>
                <a:cs typeface="Avenir Next"/>
              </a:defRPr>
            </a:lvl2pPr>
            <a:lvl3pPr algn="l">
              <a:defRPr sz="4050" b="1">
                <a:solidFill>
                  <a:srgbClr val="082C24"/>
                </a:solidFill>
                <a:latin typeface="Avenir Next"/>
                <a:ea typeface="Avenir Next"/>
                <a:cs typeface="Avenir Next"/>
              </a:defRPr>
            </a:lvl3pPr>
            <a:lvl4pPr algn="l">
              <a:defRPr sz="4050" b="1">
                <a:solidFill>
                  <a:srgbClr val="082C24"/>
                </a:solidFill>
                <a:latin typeface="Avenir Next"/>
                <a:ea typeface="Avenir Next"/>
                <a:cs typeface="Avenir Next"/>
              </a:defRPr>
            </a:lvl4pPr>
            <a:lvl5pPr algn="l">
              <a:defRPr sz="4050" b="1">
                <a:solidFill>
                  <a:srgbClr val="082C24"/>
                </a:solidFill>
                <a:latin typeface="Avenir Next"/>
                <a:ea typeface="Avenir Next"/>
                <a:cs typeface="Avenir Next"/>
              </a:defRPr>
            </a:lvl5pPr>
            <a:lvl6pPr algn="l">
              <a:defRPr sz="4050" b="1">
                <a:solidFill>
                  <a:srgbClr val="082C24"/>
                </a:solidFill>
                <a:latin typeface="Avenir Next"/>
                <a:ea typeface="Avenir Next"/>
                <a:cs typeface="Avenir Next"/>
              </a:defRPr>
            </a:lvl6pPr>
            <a:lvl7pPr algn="l">
              <a:defRPr sz="4050" b="1">
                <a:solidFill>
                  <a:srgbClr val="082C24"/>
                </a:solidFill>
                <a:latin typeface="Avenir Next"/>
                <a:ea typeface="Avenir Next"/>
                <a:cs typeface="Avenir Next"/>
              </a:defRPr>
            </a:lvl7pPr>
            <a:lvl8pPr algn="l">
              <a:defRPr sz="4050" b="1">
                <a:solidFill>
                  <a:srgbClr val="082C24"/>
                </a:solidFill>
                <a:latin typeface="Avenir Next"/>
                <a:ea typeface="Avenir Next"/>
                <a:cs typeface="Avenir Next"/>
              </a:defRPr>
            </a:lvl8pPr>
            <a:lvl9pPr algn="l">
              <a:defRPr sz="4050" b="1">
                <a:solidFill>
                  <a:srgbClr val="082C24"/>
                </a:solidFill>
                <a:latin typeface="Avenir Next"/>
                <a:ea typeface="Avenir Next"/>
                <a:cs typeface="Avenir Next"/>
              </a:defRPr>
            </a:lvl9pPr>
          </a:lstStyle>
          <a:p xmlns:a="http://schemas.openxmlformats.org/drawingml/2006/main">
            <a:pPr algn="l">
              <a:defRPr sz="4050" b="1">
                <a:solidFill>
                  <a:srgbClr val="082C24"/>
                </a:solidFill>
                <a:latin typeface="Avenir Next"/>
                <a:ea typeface="Avenir Next"/>
                <a:cs typeface="Avenir Next"/>
              </a:defRPr>
            </a:pPr>
            <a:r>
              <a:rPr sz="4050" b="1">
                <a:solidFill>
                  <a:srgbClr val="082C24"/>
                </a:solidFill>
                <a:latin typeface="Avenir Next"/>
                <a:ea typeface="Avenir Next"/>
                <a:cs typeface="Avenir Next"/>
              </a:rPr>
              <a:t>Project materials used in this presentation</a:t>
            </a:r>
          </a:p>
        </p:txBody>
      </p:sp>
      <p:sp>
        <p:nvSpPr>
          <p:cNvPr id="3" name="">
            <a:extLst xmlns:a="http://schemas.openxmlformats.org/drawingml/2006/main">
              <a:ext uri="{FF2B5EF4-FFF2-40B4-BE49-F238E27FC236}">
                <a16:creationId xmlns:a16="http://schemas.microsoft.com/office/drawing/2014/main" id="{49EBE3E7-D8C0-4EB4-AFD0-3B3BE6EAE217}"/>
              </a:ext>
            </a:extLst>
          </p:cNvPr>
          <p:cNvSpPr>
            <a:spLocks xmlns:a="http://schemas.openxmlformats.org/drawingml/2006/main" noGrp="1"/>
          </p:cNvSpPr>
          <p:nvPr/>
        </p:nvSpPr>
        <p:spPr>
          <a:xfrm xmlns:a="http://schemas.openxmlformats.org/drawingml/2006/main">
            <a:off x="704850" y="143827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40564E"/>
                </a:solidFill>
                <a:latin typeface="Avenir Next"/>
                <a:ea typeface="Avenir Next"/>
                <a:cs typeface="Avenir Next"/>
              </a:defRPr>
            </a:defPPr>
            <a:lvl1pPr algn="l">
              <a:defRPr sz="1725" b="0">
                <a:solidFill>
                  <a:srgbClr val="40564E"/>
                </a:solidFill>
                <a:latin typeface="Avenir Next"/>
                <a:ea typeface="Avenir Next"/>
                <a:cs typeface="Avenir Next"/>
              </a:defRPr>
            </a:lvl1pPr>
            <a:lvl2pPr algn="l">
              <a:defRPr sz="1725" b="0">
                <a:solidFill>
                  <a:srgbClr val="40564E"/>
                </a:solidFill>
                <a:latin typeface="Avenir Next"/>
                <a:ea typeface="Avenir Next"/>
                <a:cs typeface="Avenir Next"/>
              </a:defRPr>
            </a:lvl2pPr>
            <a:lvl3pPr algn="l">
              <a:defRPr sz="1725" b="0">
                <a:solidFill>
                  <a:srgbClr val="40564E"/>
                </a:solidFill>
                <a:latin typeface="Avenir Next"/>
                <a:ea typeface="Avenir Next"/>
                <a:cs typeface="Avenir Next"/>
              </a:defRPr>
            </a:lvl3pPr>
            <a:lvl4pPr algn="l">
              <a:defRPr sz="1725" b="0">
                <a:solidFill>
                  <a:srgbClr val="40564E"/>
                </a:solidFill>
                <a:latin typeface="Avenir Next"/>
                <a:ea typeface="Avenir Next"/>
                <a:cs typeface="Avenir Next"/>
              </a:defRPr>
            </a:lvl4pPr>
            <a:lvl5pPr algn="l">
              <a:defRPr sz="1725" b="0">
                <a:solidFill>
                  <a:srgbClr val="40564E"/>
                </a:solidFill>
                <a:latin typeface="Avenir Next"/>
                <a:ea typeface="Avenir Next"/>
                <a:cs typeface="Avenir Next"/>
              </a:defRPr>
            </a:lvl5pPr>
            <a:lvl6pPr algn="l">
              <a:defRPr sz="1725" b="0">
                <a:solidFill>
                  <a:srgbClr val="40564E"/>
                </a:solidFill>
                <a:latin typeface="Avenir Next"/>
                <a:ea typeface="Avenir Next"/>
                <a:cs typeface="Avenir Next"/>
              </a:defRPr>
            </a:lvl6pPr>
            <a:lvl7pPr algn="l">
              <a:defRPr sz="1725" b="0">
                <a:solidFill>
                  <a:srgbClr val="40564E"/>
                </a:solidFill>
                <a:latin typeface="Avenir Next"/>
                <a:ea typeface="Avenir Next"/>
                <a:cs typeface="Avenir Next"/>
              </a:defRPr>
            </a:lvl7pPr>
            <a:lvl8pPr algn="l">
              <a:defRPr sz="1725" b="0">
                <a:solidFill>
                  <a:srgbClr val="40564E"/>
                </a:solidFill>
                <a:latin typeface="Avenir Next"/>
                <a:ea typeface="Avenir Next"/>
                <a:cs typeface="Avenir Next"/>
              </a:defRPr>
            </a:lvl8pPr>
            <a:lvl9pPr algn="l">
              <a:defRPr sz="1725" b="0">
                <a:solidFill>
                  <a:srgbClr val="40564E"/>
                </a:solidFill>
                <a:latin typeface="Avenir Next"/>
                <a:ea typeface="Avenir Next"/>
                <a:cs typeface="Avenir Next"/>
              </a:defRPr>
            </a:lvl9pPr>
          </a:lstStyle>
          <a:p xmlns:a="http://schemas.openxmlformats.org/drawingml/2006/main">
            <a:pPr algn="l">
              <a:defRPr sz="1725" b="0">
                <a:solidFill>
                  <a:srgbClr val="40564E"/>
                </a:solidFill>
                <a:latin typeface="Avenir Next"/>
                <a:ea typeface="Avenir Next"/>
                <a:cs typeface="Avenir Next"/>
              </a:defRPr>
            </a:pPr>
            <a:r>
              <a:rPr sz="1725" b="0">
                <a:solidFill>
                  <a:srgbClr val="40564E"/>
                </a:solidFill>
                <a:latin typeface="Avenir Next"/>
                <a:ea typeface="Avenir Next"/>
                <a:cs typeface="Avenir Next"/>
              </a:rPr>
              <a:t>Implementation statements were checked against the supplied code and setup notes.</a:t>
            </a:r>
          </a:p>
        </p:txBody>
      </p:sp>
      <p:sp>
        <p:nvSpPr>
          <p:cNvPr id="4" name="">
            <a:extLst xmlns:a="http://schemas.openxmlformats.org/drawingml/2006/main">
              <a:ext uri="{FF2B5EF4-FFF2-40B4-BE49-F238E27FC236}">
                <a16:creationId xmlns:a16="http://schemas.microsoft.com/office/drawing/2014/main" id="{CDA0E5F8-74BF-4C5C-91A6-EFF35A3E9141}"/>
              </a:ext>
            </a:extLst>
          </p:cNvPr>
          <p:cNvSpPr>
            <a:spLocks xmlns:a="http://schemas.openxmlformats.org/drawingml/2006/main" noGrp="1"/>
          </p:cNvSpPr>
          <p:nvPr/>
        </p:nvSpPr>
        <p:spPr>
          <a:xfrm xmlns:a="http://schemas.openxmlformats.org/drawingml/2006/main">
            <a:off x="685800" y="6419850"/>
            <a:ext cx="108204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70DB5C2-4EE4-4789-B92E-C01C9F9C8CEC}"/>
              </a:ext>
            </a:extLst>
          </p:cNvPr>
          <p:cNvSpPr>
            <a:spLocks xmlns:a="http://schemas.openxmlformats.org/drawingml/2006/main" noGrp="1"/>
          </p:cNvSpPr>
          <p:nvPr/>
        </p:nvSpPr>
        <p:spPr>
          <a:xfrm xmlns:a="http://schemas.openxmlformats.org/drawingml/2006/main">
            <a:off x="685800" y="6467475"/>
            <a:ext cx="7048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1">
                <a:solidFill>
                  <a:srgbClr val="718078"/>
                </a:solidFill>
                <a:latin typeface="Avenir Next"/>
                <a:ea typeface="Avenir Next"/>
                <a:cs typeface="Avenir Next"/>
              </a:defRPr>
            </a:defPPr>
            <a:lvl1pPr algn="l">
              <a:defRPr sz="1050" b="1">
                <a:solidFill>
                  <a:srgbClr val="718078"/>
                </a:solidFill>
                <a:latin typeface="Avenir Next"/>
                <a:ea typeface="Avenir Next"/>
                <a:cs typeface="Avenir Next"/>
              </a:defRPr>
            </a:lvl1pPr>
            <a:lvl2pPr algn="l">
              <a:defRPr sz="1050" b="1">
                <a:solidFill>
                  <a:srgbClr val="718078"/>
                </a:solidFill>
                <a:latin typeface="Avenir Next"/>
                <a:ea typeface="Avenir Next"/>
                <a:cs typeface="Avenir Next"/>
              </a:defRPr>
            </a:lvl2pPr>
            <a:lvl3pPr algn="l">
              <a:defRPr sz="1050" b="1">
                <a:solidFill>
                  <a:srgbClr val="718078"/>
                </a:solidFill>
                <a:latin typeface="Avenir Next"/>
                <a:ea typeface="Avenir Next"/>
                <a:cs typeface="Avenir Next"/>
              </a:defRPr>
            </a:lvl3pPr>
            <a:lvl4pPr algn="l">
              <a:defRPr sz="1050" b="1">
                <a:solidFill>
                  <a:srgbClr val="718078"/>
                </a:solidFill>
                <a:latin typeface="Avenir Next"/>
                <a:ea typeface="Avenir Next"/>
                <a:cs typeface="Avenir Next"/>
              </a:defRPr>
            </a:lvl4pPr>
            <a:lvl5pPr algn="l">
              <a:defRPr sz="1050" b="1">
                <a:solidFill>
                  <a:srgbClr val="718078"/>
                </a:solidFill>
                <a:latin typeface="Avenir Next"/>
                <a:ea typeface="Avenir Next"/>
                <a:cs typeface="Avenir Next"/>
              </a:defRPr>
            </a:lvl5pPr>
            <a:lvl6pPr algn="l">
              <a:defRPr sz="1050" b="1">
                <a:solidFill>
                  <a:srgbClr val="718078"/>
                </a:solidFill>
                <a:latin typeface="Avenir Next"/>
                <a:ea typeface="Avenir Next"/>
                <a:cs typeface="Avenir Next"/>
              </a:defRPr>
            </a:lvl6pPr>
            <a:lvl7pPr algn="l">
              <a:defRPr sz="1050" b="1">
                <a:solidFill>
                  <a:srgbClr val="718078"/>
                </a:solidFill>
                <a:latin typeface="Avenir Next"/>
                <a:ea typeface="Avenir Next"/>
                <a:cs typeface="Avenir Next"/>
              </a:defRPr>
            </a:lvl7pPr>
            <a:lvl8pPr algn="l">
              <a:defRPr sz="1050" b="1">
                <a:solidFill>
                  <a:srgbClr val="718078"/>
                </a:solidFill>
                <a:latin typeface="Avenir Next"/>
                <a:ea typeface="Avenir Next"/>
                <a:cs typeface="Avenir Next"/>
              </a:defRPr>
            </a:lvl8pPr>
            <a:lvl9pPr algn="l">
              <a:defRPr sz="1050" b="1">
                <a:solidFill>
                  <a:srgbClr val="718078"/>
                </a:solidFill>
                <a:latin typeface="Avenir Next"/>
                <a:ea typeface="Avenir Next"/>
                <a:cs typeface="Avenir Next"/>
              </a:defRPr>
            </a:lvl9pPr>
          </a:lstStyle>
          <a:p xmlns:a="http://schemas.openxmlformats.org/drawingml/2006/main">
            <a:pPr algn="l">
              <a:defRPr sz="1050" b="1">
                <a:solidFill>
                  <a:srgbClr val="718078"/>
                </a:solidFill>
                <a:latin typeface="Avenir Next"/>
                <a:ea typeface="Avenir Next"/>
                <a:cs typeface="Avenir Next"/>
              </a:defRPr>
            </a:pPr>
            <a:r>
              <a:rPr sz="1050" b="1">
                <a:solidFill>
                  <a:srgbClr val="718078"/>
                </a:solidFill>
                <a:latin typeface="Avenir Next"/>
                <a:ea typeface="Avenir Next"/>
                <a:cs typeface="Avenir Next"/>
              </a:rPr>
              <a:t>CRICKETVERSE  ·  B.TECH CAPSTONE</a:t>
            </a:r>
          </a:p>
        </p:txBody>
      </p:sp>
      <p:sp>
        <p:nvSpPr>
          <p:cNvPr id="6" name="">
            <a:extLst xmlns:a="http://schemas.openxmlformats.org/drawingml/2006/main">
              <a:ext uri="{FF2B5EF4-FFF2-40B4-BE49-F238E27FC236}">
                <a16:creationId xmlns:a16="http://schemas.microsoft.com/office/drawing/2014/main" id="{F4244DC2-9155-48E3-B993-E1F8D5277809}"/>
              </a:ext>
            </a:extLst>
          </p:cNvPr>
          <p:cNvSpPr>
            <a:spLocks xmlns:a="http://schemas.openxmlformats.org/drawingml/2006/main" noGrp="1"/>
          </p:cNvSpPr>
          <p:nvPr/>
        </p:nvSpPr>
        <p:spPr>
          <a:xfrm xmlns:a="http://schemas.openxmlformats.org/drawingml/2006/main">
            <a:off x="10972800" y="6467475"/>
            <a:ext cx="533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125" b="1">
                <a:solidFill>
                  <a:srgbClr val="1D6A50"/>
                </a:solidFill>
                <a:latin typeface="Avenir Next"/>
                <a:ea typeface="Avenir Next"/>
                <a:cs typeface="Avenir Next"/>
              </a:defRPr>
            </a:defPPr>
            <a:lvl1pPr algn="r">
              <a:defRPr sz="1125" b="1">
                <a:solidFill>
                  <a:srgbClr val="1D6A50"/>
                </a:solidFill>
                <a:latin typeface="Avenir Next"/>
                <a:ea typeface="Avenir Next"/>
                <a:cs typeface="Avenir Next"/>
              </a:defRPr>
            </a:lvl1pPr>
            <a:lvl2pPr algn="r">
              <a:defRPr sz="1125" b="1">
                <a:solidFill>
                  <a:srgbClr val="1D6A50"/>
                </a:solidFill>
                <a:latin typeface="Avenir Next"/>
                <a:ea typeface="Avenir Next"/>
                <a:cs typeface="Avenir Next"/>
              </a:defRPr>
            </a:lvl2pPr>
            <a:lvl3pPr algn="r">
              <a:defRPr sz="1125" b="1">
                <a:solidFill>
                  <a:srgbClr val="1D6A50"/>
                </a:solidFill>
                <a:latin typeface="Avenir Next"/>
                <a:ea typeface="Avenir Next"/>
                <a:cs typeface="Avenir Next"/>
              </a:defRPr>
            </a:lvl3pPr>
            <a:lvl4pPr algn="r">
              <a:defRPr sz="1125" b="1">
                <a:solidFill>
                  <a:srgbClr val="1D6A50"/>
                </a:solidFill>
                <a:latin typeface="Avenir Next"/>
                <a:ea typeface="Avenir Next"/>
                <a:cs typeface="Avenir Next"/>
              </a:defRPr>
            </a:lvl4pPr>
            <a:lvl5pPr algn="r">
              <a:defRPr sz="1125" b="1">
                <a:solidFill>
                  <a:srgbClr val="1D6A50"/>
                </a:solidFill>
                <a:latin typeface="Avenir Next"/>
                <a:ea typeface="Avenir Next"/>
                <a:cs typeface="Avenir Next"/>
              </a:defRPr>
            </a:lvl5pPr>
            <a:lvl6pPr algn="r">
              <a:defRPr sz="1125" b="1">
                <a:solidFill>
                  <a:srgbClr val="1D6A50"/>
                </a:solidFill>
                <a:latin typeface="Avenir Next"/>
                <a:ea typeface="Avenir Next"/>
                <a:cs typeface="Avenir Next"/>
              </a:defRPr>
            </a:lvl6pPr>
            <a:lvl7pPr algn="r">
              <a:defRPr sz="1125" b="1">
                <a:solidFill>
                  <a:srgbClr val="1D6A50"/>
                </a:solidFill>
                <a:latin typeface="Avenir Next"/>
                <a:ea typeface="Avenir Next"/>
                <a:cs typeface="Avenir Next"/>
              </a:defRPr>
            </a:lvl7pPr>
            <a:lvl8pPr algn="r">
              <a:defRPr sz="1125" b="1">
                <a:solidFill>
                  <a:srgbClr val="1D6A50"/>
                </a:solidFill>
                <a:latin typeface="Avenir Next"/>
                <a:ea typeface="Avenir Next"/>
                <a:cs typeface="Avenir Next"/>
              </a:defRPr>
            </a:lvl8pPr>
            <a:lvl9pPr algn="r">
              <a:defRPr sz="1125" b="1">
                <a:solidFill>
                  <a:srgbClr val="1D6A50"/>
                </a:solidFill>
                <a:latin typeface="Avenir Next"/>
                <a:ea typeface="Avenir Next"/>
                <a:cs typeface="Avenir Next"/>
              </a:defRPr>
            </a:lvl9pPr>
          </a:lstStyle>
          <a:p xmlns:a="http://schemas.openxmlformats.org/drawingml/2006/main">
            <a:pPr algn="r">
              <a:defRPr sz="1125" b="1">
                <a:solidFill>
                  <a:srgbClr val="1D6A50"/>
                </a:solidFill>
                <a:latin typeface="Avenir Next"/>
                <a:ea typeface="Avenir Next"/>
                <a:cs typeface="Avenir Next"/>
              </a:defRPr>
            </a:pPr>
            <a:r>
              <a:rPr sz="1125" b="1">
                <a:solidFill>
                  <a:srgbClr val="1D6A50"/>
                </a:solidFill>
                <a:latin typeface="Avenir Next"/>
                <a:ea typeface="Avenir Next"/>
                <a:cs typeface="Avenir Next"/>
              </a:rPr>
              <a:t>13</a:t>
            </a:r>
          </a:p>
        </p:txBody>
      </p:sp>
      <p:sp>
        <p:nvSpPr>
          <p:cNvPr id="7" name="">
            <a:extLst xmlns:a="http://schemas.openxmlformats.org/drawingml/2006/main">
              <a:ext uri="{FF2B5EF4-FFF2-40B4-BE49-F238E27FC236}">
                <a16:creationId xmlns:a16="http://schemas.microsoft.com/office/drawing/2014/main" id="{22684CA9-0137-4749-A88D-7AF09943585A}"/>
              </a:ext>
            </a:extLst>
          </p:cNvPr>
          <p:cNvSpPr>
            <a:spLocks xmlns:a="http://schemas.openxmlformats.org/drawingml/2006/main" noGrp="1"/>
          </p:cNvSpPr>
          <p:nvPr/>
        </p:nvSpPr>
        <p:spPr>
          <a:xfrm xmlns:a="http://schemas.openxmlformats.org/drawingml/2006/main">
            <a:off x="876300" y="23431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082C24"/>
                </a:solidFill>
                <a:latin typeface="Avenir Next"/>
                <a:ea typeface="Avenir Next"/>
                <a:cs typeface="Avenir Next"/>
              </a:defRPr>
            </a:defPPr>
            <a:lvl1pPr algn="l">
              <a:defRPr sz="1500" b="1">
                <a:solidFill>
                  <a:srgbClr val="082C24"/>
                </a:solidFill>
                <a:latin typeface="Avenir Next"/>
                <a:ea typeface="Avenir Next"/>
                <a:cs typeface="Avenir Next"/>
              </a:defRPr>
            </a:lvl1pPr>
            <a:lvl2pPr algn="l">
              <a:defRPr sz="1500" b="1">
                <a:solidFill>
                  <a:srgbClr val="082C24"/>
                </a:solidFill>
                <a:latin typeface="Avenir Next"/>
                <a:ea typeface="Avenir Next"/>
                <a:cs typeface="Avenir Next"/>
              </a:defRPr>
            </a:lvl2pPr>
            <a:lvl3pPr algn="l">
              <a:defRPr sz="1500" b="1">
                <a:solidFill>
                  <a:srgbClr val="082C24"/>
                </a:solidFill>
                <a:latin typeface="Avenir Next"/>
                <a:ea typeface="Avenir Next"/>
                <a:cs typeface="Avenir Next"/>
              </a:defRPr>
            </a:lvl3pPr>
            <a:lvl4pPr algn="l">
              <a:defRPr sz="1500" b="1">
                <a:solidFill>
                  <a:srgbClr val="082C24"/>
                </a:solidFill>
                <a:latin typeface="Avenir Next"/>
                <a:ea typeface="Avenir Next"/>
                <a:cs typeface="Avenir Next"/>
              </a:defRPr>
            </a:lvl4pPr>
            <a:lvl5pPr algn="l">
              <a:defRPr sz="1500" b="1">
                <a:solidFill>
                  <a:srgbClr val="082C24"/>
                </a:solidFill>
                <a:latin typeface="Avenir Next"/>
                <a:ea typeface="Avenir Next"/>
                <a:cs typeface="Avenir Next"/>
              </a:defRPr>
            </a:lvl5pPr>
            <a:lvl6pPr algn="l">
              <a:defRPr sz="1500" b="1">
                <a:solidFill>
                  <a:srgbClr val="082C24"/>
                </a:solidFill>
                <a:latin typeface="Avenir Next"/>
                <a:ea typeface="Avenir Next"/>
                <a:cs typeface="Avenir Next"/>
              </a:defRPr>
            </a:lvl6pPr>
            <a:lvl7pPr algn="l">
              <a:defRPr sz="1500" b="1">
                <a:solidFill>
                  <a:srgbClr val="082C24"/>
                </a:solidFill>
                <a:latin typeface="Avenir Next"/>
                <a:ea typeface="Avenir Next"/>
                <a:cs typeface="Avenir Next"/>
              </a:defRPr>
            </a:lvl7pPr>
            <a:lvl8pPr algn="l">
              <a:defRPr sz="1500" b="1">
                <a:solidFill>
                  <a:srgbClr val="082C24"/>
                </a:solidFill>
                <a:latin typeface="Avenir Next"/>
                <a:ea typeface="Avenir Next"/>
                <a:cs typeface="Avenir Next"/>
              </a:defRPr>
            </a:lvl8pPr>
            <a:lvl9pPr algn="l">
              <a:defRPr sz="1500" b="1">
                <a:solidFill>
                  <a:srgbClr val="082C24"/>
                </a:solidFill>
                <a:latin typeface="Avenir Next"/>
                <a:ea typeface="Avenir Next"/>
                <a:cs typeface="Avenir Next"/>
              </a:defRPr>
            </a:lvl9pPr>
          </a:lstStyle>
          <a:p xmlns:a="http://schemas.openxmlformats.org/drawingml/2006/main">
            <a:pPr algn="l">
              <a:defRPr sz="1500" b="1">
                <a:solidFill>
                  <a:srgbClr val="082C24"/>
                </a:solidFill>
                <a:latin typeface="Avenir Next"/>
                <a:ea typeface="Avenir Next"/>
                <a:cs typeface="Avenir Next"/>
              </a:defRPr>
            </a:pPr>
            <a:r>
              <a:rPr sz="1500" b="1">
                <a:solidFill>
                  <a:srgbClr val="082C24"/>
                </a:solidFill>
                <a:latin typeface="Avenir Next"/>
                <a:ea typeface="Avenir Next"/>
                <a:cs typeface="Avenir Next"/>
              </a:rPr>
              <a:t>CricketVerse project proposal and supplied presentation decks — motivation and intended scope</a:t>
            </a:r>
          </a:p>
        </p:txBody>
      </p:sp>
      <p:sp>
        <p:nvSpPr>
          <p:cNvPr id="8" name="">
            <a:extLst xmlns:a="http://schemas.openxmlformats.org/drawingml/2006/main">
              <a:ext uri="{FF2B5EF4-FFF2-40B4-BE49-F238E27FC236}">
                <a16:creationId xmlns:a16="http://schemas.microsoft.com/office/drawing/2014/main" id="{18921343-6FE7-478F-9923-601FC71A2F64}"/>
              </a:ext>
            </a:extLst>
          </p:cNvPr>
          <p:cNvSpPr>
            <a:spLocks xmlns:a="http://schemas.openxmlformats.org/drawingml/2006/main" noGrp="1"/>
          </p:cNvSpPr>
          <p:nvPr/>
        </p:nvSpPr>
        <p:spPr>
          <a:xfrm xmlns:a="http://schemas.openxmlformats.org/drawingml/2006/main">
            <a:off x="876300" y="28384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34F9870-59F0-4DD6-AC7D-B488B64E9323}"/>
              </a:ext>
            </a:extLst>
          </p:cNvPr>
          <p:cNvSpPr>
            <a:spLocks xmlns:a="http://schemas.openxmlformats.org/drawingml/2006/main" noGrp="1"/>
          </p:cNvSpPr>
          <p:nvPr/>
        </p:nvSpPr>
        <p:spPr>
          <a:xfrm xmlns:a="http://schemas.openxmlformats.org/drawingml/2006/main">
            <a:off x="876300" y="29718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public/app.js · public/chain.js · server/server.js · server/scoringEngine.js — user flows and API behavior</a:t>
            </a:r>
          </a:p>
        </p:txBody>
      </p:sp>
      <p:sp>
        <p:nvSpPr>
          <p:cNvPr id="10" name="">
            <a:extLst xmlns:a="http://schemas.openxmlformats.org/drawingml/2006/main">
              <a:ext uri="{FF2B5EF4-FFF2-40B4-BE49-F238E27FC236}">
                <a16:creationId xmlns:a16="http://schemas.microsoft.com/office/drawing/2014/main" id="{5E20951C-EE5A-403F-9A78-0D663B0B0C5D}"/>
              </a:ext>
            </a:extLst>
          </p:cNvPr>
          <p:cNvSpPr>
            <a:spLocks xmlns:a="http://schemas.openxmlformats.org/drawingml/2006/main" noGrp="1"/>
          </p:cNvSpPr>
          <p:nvPr/>
        </p:nvSpPr>
        <p:spPr>
          <a:xfrm xmlns:a="http://schemas.openxmlformats.org/drawingml/2006/main">
            <a:off x="876300" y="346710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4263998-E793-4009-8D5E-B35619BE251B}"/>
              </a:ext>
            </a:extLst>
          </p:cNvPr>
          <p:cNvSpPr>
            <a:spLocks xmlns:a="http://schemas.openxmlformats.org/drawingml/2006/main" noGrp="1"/>
          </p:cNvSpPr>
          <p:nvPr/>
        </p:nvSpPr>
        <p:spPr>
          <a:xfrm xmlns:a="http://schemas.openxmlformats.org/drawingml/2006/main">
            <a:off x="876300" y="36004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contracts/CRIC.sol · PlayerCardNFT.sol · MatchTicketNFT.sol · CricketMarketplace.sol</a:t>
            </a:r>
          </a:p>
        </p:txBody>
      </p:sp>
      <p:sp>
        <p:nvSpPr>
          <p:cNvPr id="12" name="">
            <a:extLst xmlns:a="http://schemas.openxmlformats.org/drawingml/2006/main">
              <a:ext uri="{FF2B5EF4-FFF2-40B4-BE49-F238E27FC236}">
                <a16:creationId xmlns:a16="http://schemas.microsoft.com/office/drawing/2014/main" id="{93E35EFC-EE7F-4C48-956F-8FD1BA8E809D}"/>
              </a:ext>
            </a:extLst>
          </p:cNvPr>
          <p:cNvSpPr>
            <a:spLocks xmlns:a="http://schemas.openxmlformats.org/drawingml/2006/main" noGrp="1"/>
          </p:cNvSpPr>
          <p:nvPr/>
        </p:nvSpPr>
        <p:spPr>
          <a:xfrm xmlns:a="http://schemas.openxmlformats.org/drawingml/2006/main">
            <a:off x="876300" y="409575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3EAFC4-299D-4591-93B2-95871352AD37}"/>
              </a:ext>
            </a:extLst>
          </p:cNvPr>
          <p:cNvSpPr>
            <a:spLocks xmlns:a="http://schemas.openxmlformats.org/drawingml/2006/main" noGrp="1"/>
          </p:cNvSpPr>
          <p:nvPr/>
        </p:nvSpPr>
        <p:spPr>
          <a:xfrm xmlns:a="http://schemas.openxmlformats.org/drawingml/2006/main">
            <a:off x="876300" y="422910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contracts/TournamentPool.sol · FanPolls.sol · CricketOracleConsumer.sol</a:t>
            </a:r>
          </a:p>
        </p:txBody>
      </p:sp>
      <p:sp>
        <p:nvSpPr>
          <p:cNvPr id="14" name="">
            <a:extLst xmlns:a="http://schemas.openxmlformats.org/drawingml/2006/main">
              <a:ext uri="{FF2B5EF4-FFF2-40B4-BE49-F238E27FC236}">
                <a16:creationId xmlns:a16="http://schemas.microsoft.com/office/drawing/2014/main" id="{A4BB7B0A-40F6-4737-8FB9-B426E9766124}"/>
              </a:ext>
            </a:extLst>
          </p:cNvPr>
          <p:cNvSpPr>
            <a:spLocks xmlns:a="http://schemas.openxmlformats.org/drawingml/2006/main" noGrp="1"/>
          </p:cNvSpPr>
          <p:nvPr/>
        </p:nvSpPr>
        <p:spPr>
          <a:xfrm xmlns:a="http://schemas.openxmlformats.org/drawingml/2006/main">
            <a:off x="876300" y="4724400"/>
            <a:ext cx="10401300" cy="9525"/>
          </a:xfrm>
          <a:prstGeom xmlns:a="http://schemas.openxmlformats.org/drawingml/2006/main" prst="rect">
            <a:avLst/>
          </a:prstGeom>
          <a:solidFill xmlns:a="http://schemas.openxmlformats.org/drawingml/2006/main">
            <a:srgbClr val="D7DED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3DB24D1-41A7-4CB1-84E0-09931229B43D}"/>
              </a:ext>
            </a:extLst>
          </p:cNvPr>
          <p:cNvSpPr>
            <a:spLocks xmlns:a="http://schemas.openxmlformats.org/drawingml/2006/main" noGrp="1"/>
          </p:cNvSpPr>
          <p:nvPr/>
        </p:nvSpPr>
        <p:spPr>
          <a:xfrm xmlns:a="http://schemas.openxmlformats.org/drawingml/2006/main">
            <a:off x="876300" y="4857750"/>
            <a:ext cx="10382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40564E"/>
                </a:solidFill>
                <a:latin typeface="Avenir Next"/>
                <a:ea typeface="Avenir Next"/>
                <a:cs typeface="Avenir Next"/>
              </a:defRPr>
            </a:defPPr>
            <a:lvl1pPr algn="l">
              <a:defRPr sz="1500" b="0">
                <a:solidFill>
                  <a:srgbClr val="40564E"/>
                </a:solidFill>
                <a:latin typeface="Avenir Next"/>
                <a:ea typeface="Avenir Next"/>
                <a:cs typeface="Avenir Next"/>
              </a:defRPr>
            </a:lvl1pPr>
            <a:lvl2pPr algn="l">
              <a:defRPr sz="1500" b="0">
                <a:solidFill>
                  <a:srgbClr val="40564E"/>
                </a:solidFill>
                <a:latin typeface="Avenir Next"/>
                <a:ea typeface="Avenir Next"/>
                <a:cs typeface="Avenir Next"/>
              </a:defRPr>
            </a:lvl2pPr>
            <a:lvl3pPr algn="l">
              <a:defRPr sz="1500" b="0">
                <a:solidFill>
                  <a:srgbClr val="40564E"/>
                </a:solidFill>
                <a:latin typeface="Avenir Next"/>
                <a:ea typeface="Avenir Next"/>
                <a:cs typeface="Avenir Next"/>
              </a:defRPr>
            </a:lvl3pPr>
            <a:lvl4pPr algn="l">
              <a:defRPr sz="1500" b="0">
                <a:solidFill>
                  <a:srgbClr val="40564E"/>
                </a:solidFill>
                <a:latin typeface="Avenir Next"/>
                <a:ea typeface="Avenir Next"/>
                <a:cs typeface="Avenir Next"/>
              </a:defRPr>
            </a:lvl4pPr>
            <a:lvl5pPr algn="l">
              <a:defRPr sz="1500" b="0">
                <a:solidFill>
                  <a:srgbClr val="40564E"/>
                </a:solidFill>
                <a:latin typeface="Avenir Next"/>
                <a:ea typeface="Avenir Next"/>
                <a:cs typeface="Avenir Next"/>
              </a:defRPr>
            </a:lvl5pPr>
            <a:lvl6pPr algn="l">
              <a:defRPr sz="1500" b="0">
                <a:solidFill>
                  <a:srgbClr val="40564E"/>
                </a:solidFill>
                <a:latin typeface="Avenir Next"/>
                <a:ea typeface="Avenir Next"/>
                <a:cs typeface="Avenir Next"/>
              </a:defRPr>
            </a:lvl6pPr>
            <a:lvl7pPr algn="l">
              <a:defRPr sz="1500" b="0">
                <a:solidFill>
                  <a:srgbClr val="40564E"/>
                </a:solidFill>
                <a:latin typeface="Avenir Next"/>
                <a:ea typeface="Avenir Next"/>
                <a:cs typeface="Avenir Next"/>
              </a:defRPr>
            </a:lvl7pPr>
            <a:lvl8pPr algn="l">
              <a:defRPr sz="1500" b="0">
                <a:solidFill>
                  <a:srgbClr val="40564E"/>
                </a:solidFill>
                <a:latin typeface="Avenir Next"/>
                <a:ea typeface="Avenir Next"/>
                <a:cs typeface="Avenir Next"/>
              </a:defRPr>
            </a:lvl8pPr>
            <a:lvl9pPr algn="l">
              <a:defRPr sz="1500" b="0">
                <a:solidFill>
                  <a:srgbClr val="40564E"/>
                </a:solidFill>
                <a:latin typeface="Avenir Next"/>
                <a:ea typeface="Avenir Next"/>
                <a:cs typeface="Avenir Next"/>
              </a:defRPr>
            </a:lvl9pPr>
          </a:lstStyle>
          <a:p xmlns:a="http://schemas.openxmlformats.org/drawingml/2006/main">
            <a:pPr algn="l">
              <a:defRPr sz="1500" b="0">
                <a:solidFill>
                  <a:srgbClr val="40564E"/>
                </a:solidFill>
                <a:latin typeface="Avenir Next"/>
                <a:ea typeface="Avenir Next"/>
                <a:cs typeface="Avenir Next"/>
              </a:defRPr>
            </a:pPr>
            <a:r>
              <a:rPr sz="1500" b="0">
                <a:solidFill>
                  <a:srgbClr val="40564E"/>
                </a:solidFill>
                <a:latin typeface="Avenir Next"/>
                <a:ea typeface="Avenir Next"/>
                <a:cs typeface="Avenir Next"/>
              </a:rPr>
              <a:t>BLOCKCHAIN_SETUP.md · public/contracts-config.json — deployment and prototype limitations</a:t>
            </a:r>
          </a:p>
        </p:txBody>
      </p:sp>
    </p:spTree>
    <p:extLst>
      <p:ext uri="{BB962C8B-B14F-4D97-AF65-F5344CB8AC3E}">
        <p14:creationId xmlns:p14="http://schemas.microsoft.com/office/powerpoint/2010/main" val="5703961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2026-10-25T15:49:36.4160000Z</dcterms:created>
  <dcterms:modified xsi:type="dcterms:W3CDTF">2026-10-25T15:49:36.4160000Z</dcterms:modified>
</coreProperties>
</file>