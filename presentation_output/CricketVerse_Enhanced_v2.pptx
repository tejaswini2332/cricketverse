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48d99241d92458c" /><Relationship Type="http://schemas.openxmlformats.org/officeDocument/2006/relationships/extended-properties" Target="/docProps/app.xml" Id="R8af41c2edcd243bc" /><Relationship Type="http://schemas.openxmlformats.org/officeDocument/2006/relationships/officeDocument" Target="/ppt/presentation.xml" Id="Re9ddf6b1fbf2444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cdd2266703543b8"/>
  </p:sldMasterIdLst>
  <p:notesMasterIdLst>
    <p:notesMasterId xmlns:r="http://schemas.openxmlformats.org/officeDocument/2006/relationships" r:id="R62865c4ec8ed4b57"/>
  </p:notesMasterIdLst>
  <p:sldIdLst>
    <p:sldId xmlns:r="http://schemas.openxmlformats.org/officeDocument/2006/relationships" id="256" r:id="R26d551faa96442f9"/>
    <p:sldId xmlns:r="http://schemas.openxmlformats.org/officeDocument/2006/relationships" id="257" r:id="Reb3b9d49d37d4895"/>
    <p:sldId xmlns:r="http://schemas.openxmlformats.org/officeDocument/2006/relationships" id="258" r:id="R7f862869edd1478a"/>
    <p:sldId xmlns:r="http://schemas.openxmlformats.org/officeDocument/2006/relationships" id="259" r:id="Rc3811c33ef7c4df5"/>
    <p:sldId xmlns:r="http://schemas.openxmlformats.org/officeDocument/2006/relationships" id="260" r:id="R679a8678b37b4c09"/>
    <p:sldId xmlns:r="http://schemas.openxmlformats.org/officeDocument/2006/relationships" id="261" r:id="R5b5afdf2dc7a4994"/>
    <p:sldId xmlns:r="http://schemas.openxmlformats.org/officeDocument/2006/relationships" id="262" r:id="Rbe2b412b81304e4f"/>
    <p:sldId xmlns:r="http://schemas.openxmlformats.org/officeDocument/2006/relationships" id="263" r:id="Rf0b13ff6c61c49cc"/>
    <p:sldId xmlns:r="http://schemas.openxmlformats.org/officeDocument/2006/relationships" id="264" r:id="Rbc24fc9352f14a47"/>
    <p:sldId xmlns:r="http://schemas.openxmlformats.org/officeDocument/2006/relationships" id="265" r:id="R76c1064404d34fd7"/>
    <p:sldId xmlns:r="http://schemas.openxmlformats.org/officeDocument/2006/relationships" id="266" r:id="Rcc4efb4008e3412a"/>
    <p:sldId xmlns:r="http://schemas.openxmlformats.org/officeDocument/2006/relationships" id="267" r:id="R6a7d17bc17a54c93"/>
    <p:sldId xmlns:r="http://schemas.openxmlformats.org/officeDocument/2006/relationships" id="268" r:id="R95ed87af041d484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f60c83c6bdd43f6" /><Relationship Type="http://schemas.openxmlformats.org/officeDocument/2006/relationships/slideMaster" Target="/ppt/slideMasters/slideMaster1.xml" Id="R8cdd2266703543b8" /><Relationship Type="http://schemas.openxmlformats.org/officeDocument/2006/relationships/notesMaster" Target="/ppt/notesMasters/notesMaster1.xml" Id="R62865c4ec8ed4b57" /><Relationship Type="http://schemas.openxmlformats.org/officeDocument/2006/relationships/presProps" Target="/ppt/presProps.xml" Id="R208cd809d1a84d65" /><Relationship Type="http://schemas.openxmlformats.org/officeDocument/2006/relationships/tableStyles" Target="/ppt/tableStyles.xml" Id="R89f189295c25459e" /><Relationship Type="http://schemas.openxmlformats.org/officeDocument/2006/relationships/slide" Target="/ppt/slides/slide1.xml" Id="R26d551faa96442f9" /><Relationship Type="http://schemas.openxmlformats.org/officeDocument/2006/relationships/slide" Target="/ppt/slides/slide2.xml" Id="Reb3b9d49d37d4895" /><Relationship Type="http://schemas.openxmlformats.org/officeDocument/2006/relationships/slide" Target="/ppt/slides/slide3.xml" Id="R7f862869edd1478a" /><Relationship Type="http://schemas.openxmlformats.org/officeDocument/2006/relationships/slide" Target="/ppt/slides/slide4.xml" Id="Rc3811c33ef7c4df5" /><Relationship Type="http://schemas.openxmlformats.org/officeDocument/2006/relationships/slide" Target="/ppt/slides/slide5.xml" Id="R679a8678b37b4c09" /><Relationship Type="http://schemas.openxmlformats.org/officeDocument/2006/relationships/slide" Target="/ppt/slides/slide6.xml" Id="R5b5afdf2dc7a4994" /><Relationship Type="http://schemas.openxmlformats.org/officeDocument/2006/relationships/slide" Target="/ppt/slides/slide7.xml" Id="Rbe2b412b81304e4f" /><Relationship Type="http://schemas.openxmlformats.org/officeDocument/2006/relationships/slide" Target="/ppt/slides/slide8.xml" Id="Rf0b13ff6c61c49cc" /><Relationship Type="http://schemas.openxmlformats.org/officeDocument/2006/relationships/slide" Target="/ppt/slides/slide9.xml" Id="Rbc24fc9352f14a47" /><Relationship Type="http://schemas.openxmlformats.org/officeDocument/2006/relationships/slide" Target="/ppt/slides/slide10.xml" Id="R76c1064404d34fd7" /><Relationship Type="http://schemas.openxmlformats.org/officeDocument/2006/relationships/slide" Target="/ppt/slides/slide11.xml" Id="Rcc4efb4008e3412a" /><Relationship Type="http://schemas.openxmlformats.org/officeDocument/2006/relationships/slide" Target="/ppt/slides/slide12.xml" Id="R6a7d17bc17a54c93" /><Relationship Type="http://schemas.openxmlformats.org/officeDocument/2006/relationships/slide" Target="/ppt/slides/slide13.xml" Id="R95ed87af041d484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c4a662b3f904f5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0db39a4e65b49d5" /><Relationship Type="http://schemas.openxmlformats.org/officeDocument/2006/relationships/notesMaster" Target="/ppt/notesMasters/notesMaster1.xml" Id="Ra06b22b6578b43f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fd55fc624de46ab" /><Relationship Type="http://schemas.openxmlformats.org/officeDocument/2006/relationships/notesMaster" Target="/ppt/notesMasters/notesMaster1.xml" Id="Rc1b9ed5f37014a2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4ffbfdba8ce4b85" /><Relationship Type="http://schemas.openxmlformats.org/officeDocument/2006/relationships/notesMaster" Target="/ppt/notesMasters/notesMaster1.xml" Id="R9a0c484161fb471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8dd75fc7d544158" /><Relationship Type="http://schemas.openxmlformats.org/officeDocument/2006/relationships/notesMaster" Target="/ppt/notesMasters/notesMaster1.xml" Id="Rb60ea15dc34649d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7269b856bc74491" /><Relationship Type="http://schemas.openxmlformats.org/officeDocument/2006/relationships/notesMaster" Target="/ppt/notesMasters/notesMaster1.xml" Id="R5e1f04e102b943c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ed1b8028d23446a" /><Relationship Type="http://schemas.openxmlformats.org/officeDocument/2006/relationships/notesMaster" Target="/ppt/notesMasters/notesMaster1.xml" Id="R6e0b8851b4764ab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e9d270ce2964f37" /><Relationship Type="http://schemas.openxmlformats.org/officeDocument/2006/relationships/notesMaster" Target="/ppt/notesMasters/notesMaster1.xml" Id="R3ea90d8a5e7d42e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a0022f4749e496f" /><Relationship Type="http://schemas.openxmlformats.org/officeDocument/2006/relationships/notesMaster" Target="/ppt/notesMasters/notesMaster1.xml" Id="R3b7eb8e0297c495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5e6e83d92ae425a" /><Relationship Type="http://schemas.openxmlformats.org/officeDocument/2006/relationships/notesMaster" Target="/ppt/notesMasters/notesMaster1.xml" Id="Rec0c4f10eccf45e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9389e0590944c19" /><Relationship Type="http://schemas.openxmlformats.org/officeDocument/2006/relationships/notesMaster" Target="/ppt/notesMasters/notesMaster1.xml" Id="R1f0e6bcd4a8c414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fcfcf0803404c6d" /><Relationship Type="http://schemas.openxmlformats.org/officeDocument/2006/relationships/notesMaster" Target="/ppt/notesMasters/notesMaster1.xml" Id="R1b54b27e9a7440c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35c9aed9a3d4f1f" /><Relationship Type="http://schemas.openxmlformats.org/officeDocument/2006/relationships/notesMaster" Target="/ppt/notesMasters/notesMaster1.xml" Id="R2f905660a3ef41c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8db5f28df054cd4" /><Relationship Type="http://schemas.openxmlformats.org/officeDocument/2006/relationships/notesMaster" Target="/ppt/notesMasters/notesMaster1.xml" Id="R9fd5365ba5f9434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Introduce CricketVerse as a course prototype that connects matchday fantasy, player collectibles and ticketing. Live provider access depends on an API key and the provider feed; the default blockchain demo uses a local Hardhat chain.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Frame these as design problems addressed by the prototype, not claims about every cricket platform.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browser app connects the matchday flow to provider-backed match data and the wallet to local contract demos.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basis: server/server.js and public/app.js implement provider-backed fixtures, playing XI and match points. BLOCKCHAIN_SETUP.md says the default chain is local Hardhat; the contracts are separate from the live sports API.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basis: /api/matches/today and /api/match/:id/playingXI in server/server.js; server/scoringEngine.js requires exactly 11 players, caps the squad at 120 credits, and enforces role minimums. The provider must return 22 unique players.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basis: /api/match/:id/points aggregates provider batting, bowling and catching point fields. public/app.js polls the endpoint every 30 seconds. Provider API access requires CRICKET_API_KEY and a successful provider response.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basis: server/data/players_2000_2026.json, BLOCKCHAIN_SETUP.md, and contracts/PlayerCardNFT.sol. The catalogue is server data; a card must be registered on the deployed chain before its primary sale can complete.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basis: contracts/CRIC.sol and BLOCKCHAIN_SETUP.md. Local Hardhat demo uses the 50,000 CRIC faucet and a one-hour cooldown. Do not describe CRIC as a public or cash-equivalent asset.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basis: eight Solidity files in contracts/. BLOCKCHAIN_SETUP.md identifies CricketOracleConsumer as an authorized relay and states a live Chainlink Functions subscription is not configured.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basis: contracts/MatchTicketNFT.sol and BLOCKCHAIN_SETUP.md. The contract enforces a 15% maximum markup and one-time redemption in the local demo.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basis: contracts/TournamentPool.sol, BLOCKCHAIN_SETUP.md, and public/sw.js. Contest winner selection remains an organiser action; offline verification and queued sync are gatekeeper demo behavior.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basis: server/server.js, BLOCKCHAIN_SETUP.md, and the current local deployment setup. The API adapter requires CRICKET_API_KEY; public Amoy and live Chainlink are not configured in the documented setup.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with the prototype scope and invite questions.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ff8a9ed1a07499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34b09feb3c14c6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cac6e44ccce494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3817eabcbc04d8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c1f86a88e964b3e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162b7d1d8e2496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F7A13AB-F9FB-402B-A3B2-3ACE5799933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C0C8BF5B-DA9B-4B9D-9840-00B950F2D4C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CCA3B282-E9AB-40FD-8FC3-6D7BBF4411C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19CAC1B-42A8-497E-9FBF-858211385AE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A4236D64-E881-44E2-908C-C5290BED5E3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6B513D2-8A14-46E7-9EFE-151730C332B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98E063E-7E80-44BC-8E28-8653C7BE3FD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F59D07AE-38AB-48C7-8B0F-CAD87BEFD47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5BDCD16-A3F5-4D2B-AA9F-4A2ADDB98B4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59557C4-BC99-498C-B2C4-2964CCEF3EC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5fcdf96284842cf" /><Relationship Type="http://schemas.openxmlformats.org/officeDocument/2006/relationships/slideLayout" Target="/ppt/slideLayouts/slideLayout1.xml" Id="R675c9de61e0a4d9a" /><Relationship Type="http://schemas.openxmlformats.org/officeDocument/2006/relationships/slideLayout" Target="/ppt/slideLayouts/slideLayout2.xml" Id="R8b7784971b314459" /><Relationship Type="http://schemas.openxmlformats.org/officeDocument/2006/relationships/slideLayout" Target="/ppt/slideLayouts/slideLayout3.xml" Id="R6491108fc8fa4ee4" /><Relationship Type="http://schemas.openxmlformats.org/officeDocument/2006/relationships/slideLayout" Target="/ppt/slideLayouts/slideLayout4.xml" Id="R1302e8dd0a394221" /><Relationship Type="http://schemas.openxmlformats.org/officeDocument/2006/relationships/slideLayout" Target="/ppt/slideLayouts/slideLayout5.xml" Id="Rc85cd1d3991d4091" /><Relationship Type="http://schemas.openxmlformats.org/officeDocument/2006/relationships/slideLayout" Target="/ppt/slideLayouts/slideLayout6.xml" Id="Rf6a721d32fab41e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75c9de61e0a4d9a"/>
    <p:sldLayoutId xmlns:r="http://schemas.openxmlformats.org/officeDocument/2006/relationships" id="2147483650" r:id="R8b7784971b314459"/>
    <p:sldLayoutId xmlns:r="http://schemas.openxmlformats.org/officeDocument/2006/relationships" id="2147483651" r:id="R6491108fc8fa4ee4"/>
    <p:sldLayoutId xmlns:r="http://schemas.openxmlformats.org/officeDocument/2006/relationships" id="2147483652" r:id="R1302e8dd0a394221"/>
    <p:sldLayoutId xmlns:r="http://schemas.openxmlformats.org/officeDocument/2006/relationships" id="2147483653" r:id="Rc85cd1d3991d4091"/>
    <p:sldLayoutId xmlns:r="http://schemas.openxmlformats.org/officeDocument/2006/relationships" id="2147483654" r:id="Rf6a721d32fab41e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ccd06bc7f054878" /><Relationship Type="http://schemas.openxmlformats.org/officeDocument/2006/relationships/notesSlide" Target="/ppt/notesSlides/notesSlide1.xml" Id="R8ab22651c93c420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a65984875eb4021" /><Relationship Type="http://schemas.openxmlformats.org/officeDocument/2006/relationships/notesSlide" Target="/ppt/notesSlides/notesSlide2.xml" Id="Rfb2bf1270619429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3dcda0f8f694d36" /><Relationship Type="http://schemas.openxmlformats.org/officeDocument/2006/relationships/notesSlide" Target="/ppt/notesSlides/notesSlide3.xml" Id="Rc618de066d9e418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32bd0d7ecc64dab" /><Relationship Type="http://schemas.openxmlformats.org/officeDocument/2006/relationships/notesSlide" Target="/ppt/notesSlides/notesSlide4.xml" Id="R88b5be3c8be5439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97772e353034321" /><Relationship Type="http://schemas.openxmlformats.org/officeDocument/2006/relationships/notesSlide" Target="/ppt/notesSlides/notesSlide5.xml" Id="R20df0cc2266a40d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02805b4daf84a6f" /><Relationship Type="http://schemas.openxmlformats.org/officeDocument/2006/relationships/notesSlide" Target="/ppt/notesSlides/notesSlide6.xml" Id="R3576b7ff5562438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c87b89e03564c8e" /><Relationship Type="http://schemas.openxmlformats.org/officeDocument/2006/relationships/notesSlide" Target="/ppt/notesSlides/notesSlide7.xml" Id="R05050c1160ad47a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6a825b9463f4960" /><Relationship Type="http://schemas.openxmlformats.org/officeDocument/2006/relationships/notesSlide" Target="/ppt/notesSlides/notesSlide8.xml" Id="R1e3b54b723a6493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090c66624974696" /><Relationship Type="http://schemas.openxmlformats.org/officeDocument/2006/relationships/notesSlide" Target="/ppt/notesSlides/notesSlide9.xml" Id="R34e0c1b3c934499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b426a1441ab445e" /><Relationship Type="http://schemas.openxmlformats.org/officeDocument/2006/relationships/notesSlide" Target="/ppt/notesSlides/notesSlide10.xml" Id="R6c3169afe6ae4bb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6868df76bfe4951" /><Relationship Type="http://schemas.openxmlformats.org/officeDocument/2006/relationships/notesSlide" Target="/ppt/notesSlides/notesSlide11.xml" Id="R616b88a8b9134e8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8cd51332d694565" /><Relationship Type="http://schemas.openxmlformats.org/officeDocument/2006/relationships/notesSlide" Target="/ppt/notesSlides/notesSlide12.xml" Id="R7a19294489454bc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74b1e7781db4356" /><Relationship Type="http://schemas.openxmlformats.org/officeDocument/2006/relationships/notesSlide" Target="/ppt/notesSlides/notesSlide13.xml" Id="R21dadc326145445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82C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956F2E-280C-4D5E-871A-57BC99222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B9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E33199-9DF5-4F71-BE52-57D2BA983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8191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20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20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20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20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20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20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20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20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20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E7B942"/>
                </a:solidFill>
                <a:latin typeface="Avenir Next"/>
                <a:ea typeface="Avenir Next"/>
                <a:cs typeface="Avenir Next"/>
              </a:rPr>
              <a:t>B.TECH CAPSTONE  ·  BLOCKCHAIN &amp; WEB3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B79917-733C-4C51-BFBD-6449D4116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19225"/>
            <a:ext cx="6286500" cy="1962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61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61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61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61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61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61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61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61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61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61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61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pPr>
            <a:r>
              <a:rPr sz="6150" b="1">
                <a:solidFill>
                  <a:srgbClr val="F5F2E8"/>
                </a:solidFill>
                <a:latin typeface="Avenir Next"/>
                <a:ea typeface="Avenir Next"/>
                <a:cs typeface="Avenir Next"/>
              </a:rPr>
              <a:t>Cricket</a:t>
            </a:r>
          </a:p>
          <a:p xmlns:a="http://schemas.openxmlformats.org/drawingml/2006/main">
            <a:pPr algn="l">
              <a:defRPr sz="61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pPr>
            <a:r>
              <a:rPr sz="6150" b="1">
                <a:solidFill>
                  <a:srgbClr val="F5F2E8"/>
                </a:solidFill>
                <a:latin typeface="Avenir Next"/>
                <a:ea typeface="Avenir Next"/>
                <a:cs typeface="Avenir Next"/>
              </a:rPr>
              <a:t>Verse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0001FA-47E6-4ED8-9526-6874BC2AD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67125"/>
            <a:ext cx="590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2250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2250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2250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2250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2250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2250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2250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2250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2250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pPr>
            <a:r>
              <a:rPr sz="2250" b="1">
                <a:solidFill>
                  <a:srgbClr val="A9D9B9"/>
                </a:solidFill>
                <a:latin typeface="Avenir Next"/>
                <a:ea typeface="Avenir Next"/>
                <a:cs typeface="Avenir Next"/>
              </a:rPr>
              <a:t>A connected matchday experience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7108D8-5180-472F-B5CD-8491C6F2D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10050"/>
            <a:ext cx="666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65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65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65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65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65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65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65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65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65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pPr>
            <a:r>
              <a:rPr sz="1650" b="0">
                <a:solidFill>
                  <a:srgbClr val="F5F2E8"/>
                </a:solidFill>
                <a:latin typeface="Avenir Next"/>
                <a:ea typeface="Avenir Next"/>
                <a:cs typeface="Avenir Next"/>
              </a:rPr>
              <a:t>Live cricket data · player ownership · trusted ticketing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9D0A83-FD83-40C4-8FFA-3CA8FCF53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00650"/>
            <a:ext cx="5695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7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45191C-8905-4A4B-8AF9-FC7CD49E9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381625"/>
            <a:ext cx="447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5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5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5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5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5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5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5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5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5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Tejaswini Kunkulagunta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34E625-E0FF-4E95-90AD-A13A5F017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43575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B7C9BF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275" b="0">
                <a:solidFill>
                  <a:srgbClr val="B7C9BF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275" b="0">
                <a:solidFill>
                  <a:srgbClr val="B7C9BF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275" b="0">
                <a:solidFill>
                  <a:srgbClr val="B7C9BF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275" b="0">
                <a:solidFill>
                  <a:srgbClr val="B7C9BF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275" b="0">
                <a:solidFill>
                  <a:srgbClr val="B7C9BF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275" b="0">
                <a:solidFill>
                  <a:srgbClr val="B7C9BF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275" b="0">
                <a:solidFill>
                  <a:srgbClr val="B7C9BF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275" b="0">
                <a:solidFill>
                  <a:srgbClr val="B7C9BF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275" b="0">
                <a:solidFill>
                  <a:srgbClr val="B7C9BF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B7C9BF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B7C9BF"/>
                </a:solidFill>
                <a:latin typeface="Avenir Next"/>
                <a:ea typeface="Avenir Next"/>
                <a:cs typeface="Avenir Next"/>
              </a:rPr>
              <a:t>CS23B032  ·  2026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969FF4-9F5B-4253-B536-6D10820A4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038350"/>
            <a:ext cx="23241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8592"/>
          </a:bodyPr>
          <a:lstStyle xmlns:a="http://schemas.openxmlformats.org/drawingml/2006/main">
            <a:defPPr algn="ctr">
              <a:defRPr sz="106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defPPr>
            <a:lvl1pPr algn="ctr">
              <a:defRPr sz="106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1pPr>
            <a:lvl2pPr algn="ctr">
              <a:defRPr sz="106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2pPr>
            <a:lvl3pPr algn="ctr">
              <a:defRPr sz="106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3pPr>
            <a:lvl4pPr algn="ctr">
              <a:defRPr sz="106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4pPr>
            <a:lvl5pPr algn="ctr">
              <a:defRPr sz="106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5pPr>
            <a:lvl6pPr algn="ctr">
              <a:defRPr sz="106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6pPr>
            <a:lvl7pPr algn="ctr">
              <a:defRPr sz="106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7pPr>
            <a:lvl8pPr algn="ctr">
              <a:defRPr sz="106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8pPr>
            <a:lvl9pPr algn="ctr">
              <a:defRPr sz="106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ctr">
              <a:defRPr sz="106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pPr>
            <a:r>
              <a:rPr sz="10650" b="1">
                <a:solidFill>
                  <a:srgbClr val="E7B942"/>
                </a:solidFill>
                <a:latin typeface="Avenir Next"/>
                <a:ea typeface="Avenir Next"/>
                <a:cs typeface="Avenir Next"/>
              </a:rPr>
              <a:t>22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D473F9-3E1C-45B8-8703-C86EB2C39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810000"/>
            <a:ext cx="1543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A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3040BB-D776-4CB3-8FAE-659C1B5DD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943350"/>
            <a:ext cx="2743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00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defPPr>
            <a:lvl1pPr algn="ctr">
              <a:defRPr sz="1200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1pPr>
            <a:lvl2pPr algn="ctr">
              <a:defRPr sz="1200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2pPr>
            <a:lvl3pPr algn="ctr">
              <a:defRPr sz="1200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3pPr>
            <a:lvl4pPr algn="ctr">
              <a:defRPr sz="1200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4pPr>
            <a:lvl5pPr algn="ctr">
              <a:defRPr sz="1200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5pPr>
            <a:lvl6pPr algn="ctr">
              <a:defRPr sz="1200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6pPr>
            <a:lvl7pPr algn="ctr">
              <a:defRPr sz="1200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7pPr>
            <a:lvl8pPr algn="ctr">
              <a:defRPr sz="1200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8pPr>
            <a:lvl9pPr algn="ctr">
              <a:defRPr sz="1200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ctr">
              <a:defRPr sz="1200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A9D9B9"/>
                </a:solidFill>
                <a:latin typeface="Avenir Next"/>
                <a:ea typeface="Avenir Next"/>
                <a:cs typeface="Avenir Next"/>
              </a:rPr>
              <a:t>PLAYERS IN TODAY’S XI POOL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B9354A-273A-46BD-BEC9-DBAEE6F59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438650"/>
            <a:ext cx="20002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73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defPPr>
            <a:lvl1pPr algn="ctr">
              <a:defRPr sz="73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1pPr>
            <a:lvl2pPr algn="ctr">
              <a:defRPr sz="73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2pPr>
            <a:lvl3pPr algn="ctr">
              <a:defRPr sz="73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3pPr>
            <a:lvl4pPr algn="ctr">
              <a:defRPr sz="73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4pPr>
            <a:lvl5pPr algn="ctr">
              <a:defRPr sz="73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5pPr>
            <a:lvl6pPr algn="ctr">
              <a:defRPr sz="73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6pPr>
            <a:lvl7pPr algn="ctr">
              <a:defRPr sz="73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7pPr>
            <a:lvl8pPr algn="ctr">
              <a:defRPr sz="73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8pPr>
            <a:lvl9pPr algn="ctr">
              <a:defRPr sz="73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ctr">
              <a:defRPr sz="73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pPr>
            <a:r>
              <a:rPr sz="7350" b="1">
                <a:solidFill>
                  <a:srgbClr val="F5F2E8"/>
                </a:solidFill>
                <a:latin typeface="Avenir Next"/>
                <a:ea typeface="Avenir Next"/>
                <a:cs typeface="Avenir Next"/>
              </a:rPr>
              <a:t>11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8EB8BC-B073-40CF-8BBE-E80BFFF12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5657850"/>
            <a:ext cx="2533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0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defPPr>
            <a:lvl1pPr algn="ctr">
              <a:defRPr sz="120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1pPr>
            <a:lvl2pPr algn="ctr">
              <a:defRPr sz="120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2pPr>
            <a:lvl3pPr algn="ctr">
              <a:defRPr sz="120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3pPr>
            <a:lvl4pPr algn="ctr">
              <a:defRPr sz="120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4pPr>
            <a:lvl5pPr algn="ctr">
              <a:defRPr sz="120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5pPr>
            <a:lvl6pPr algn="ctr">
              <a:defRPr sz="120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6pPr>
            <a:lvl7pPr algn="ctr">
              <a:defRPr sz="120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7pPr>
            <a:lvl8pPr algn="ctr">
              <a:defRPr sz="120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8pPr>
            <a:lvl9pPr algn="ctr">
              <a:defRPr sz="120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ctr">
              <a:defRPr sz="120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E7B942"/>
                </a:solidFill>
                <a:latin typeface="Avenir Next"/>
                <a:ea typeface="Avenir Next"/>
                <a:cs typeface="Avenir Next"/>
              </a:rPr>
              <a:t>PICK YOUR SQUAD</a:t>
            </a:r>
          </a:p>
        </p:txBody>
      </p:sp>
    </p:spTree>
    <p:extLst>
      <p:ext uri="{BB962C8B-B14F-4D97-AF65-F5344CB8AC3E}">
        <p14:creationId xmlns:p14="http://schemas.microsoft.com/office/powerpoint/2010/main" val="10781489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16E1F07-5093-4552-AAC5-7BF52FEEF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rPr>
              <a:t>01 · THE OPPORTUNITY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6EEB17-A533-41E4-9CB2-A1586FAC5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52475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8271"/>
          </a:bodyPr>
          <a:lstStyle xmlns:a="http://schemas.openxmlformats.org/drawingml/2006/main">
            <a:defPPr algn="l">
              <a:defRPr sz="34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34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34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34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34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34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34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34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34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34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pPr>
            <a:r>
              <a:rPr sz="3450" b="1">
                <a:solidFill>
                  <a:srgbClr val="082C24"/>
                </a:solidFill>
                <a:latin typeface="Avenir Next"/>
                <a:ea typeface="Avenir Next"/>
                <a:cs typeface="Avenir Next"/>
              </a:rPr>
              <a:t>Fans follow one game across disconnected systems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582466-2400-4A81-A881-9DC635796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44C47B-AD5B-4E52-BAD8-3992D45F7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975" b="1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975" b="1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975" b="1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975" b="1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975" b="1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975" b="1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975" b="1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975" b="1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975" b="1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718078"/>
                </a:solidFill>
                <a:latin typeface="Avenir Next"/>
                <a:ea typeface="Avenir Next"/>
                <a:cs typeface="Avenir Next"/>
              </a:rPr>
              <a:t>CRICKETVERSE  ·  CAPSTONE PROTOTYPE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AE5FB6-98F2-4C2C-96E6-760DB1F06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579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defPPr>
            <a:lvl1pPr algn="r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1pPr>
            <a:lvl2pPr algn="r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2pPr>
            <a:lvl3pPr algn="r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3pPr>
            <a:lvl4pPr algn="r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4pPr>
            <a:lvl5pPr algn="r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5pPr>
            <a:lvl6pPr algn="r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6pPr>
            <a:lvl7pPr algn="r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7pPr>
            <a:lvl8pPr algn="r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8pPr>
            <a:lvl9pPr algn="r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r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01B05A-7A23-453A-8D83-55CAA6174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66850"/>
            <a:ext cx="8477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65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65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65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65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65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65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65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65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65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pPr>
            <a:r>
              <a:rPr sz="1650" b="0">
                <a:solidFill>
                  <a:srgbClr val="40564E"/>
                </a:solidFill>
                <a:latin typeface="Avenir Next"/>
                <a:ea typeface="Avenir Next"/>
                <a:cs typeface="Avenir Next"/>
              </a:rPr>
              <a:t>The match is shared. The experience around it is not.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64CE7D-9DC9-44FF-B77F-AFFC7BE1B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90750"/>
            <a:ext cx="609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22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22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22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22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22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22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22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22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22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pPr>
            <a:r>
              <a:rPr sz="2250" b="1">
                <a:solidFill>
                  <a:srgbClr val="E7B942"/>
                </a:solidFill>
                <a:latin typeface="Avenir Next"/>
                <a:ea typeface="Avenir Next"/>
                <a:cs typeface="Avenir Next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0E803C-6589-4001-AD29-39CBB48D6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190750"/>
            <a:ext cx="238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7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217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217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217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217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217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217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217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217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217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pPr>
            <a:r>
              <a:rPr sz="2175" b="1">
                <a:solidFill>
                  <a:srgbClr val="082C24"/>
                </a:solidFill>
                <a:latin typeface="Avenir Next"/>
                <a:ea typeface="Avenir Next"/>
                <a:cs typeface="Avenir Next"/>
              </a:rPr>
              <a:t>Collectibles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26A3D9-BF90-4940-92B0-CD53E5C30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209800"/>
            <a:ext cx="666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rPr>
              <a:t>Player cards and fan rewards stay locked inside platform databases.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D62780-1ED1-4093-8260-8841470C6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914650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C5D6D1-B18D-47FC-B8F1-B1331CDF4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81350"/>
            <a:ext cx="609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22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22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22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22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22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22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22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22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22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pPr>
            <a:r>
              <a:rPr sz="2250" b="1">
                <a:solidFill>
                  <a:srgbClr val="E7B942"/>
                </a:solidFill>
                <a:latin typeface="Avenir Next"/>
                <a:ea typeface="Avenir Next"/>
                <a:cs typeface="Avenir Next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57BCBA-08A2-4A4A-9366-B5EA6F47D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181350"/>
            <a:ext cx="238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7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217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217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217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217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217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217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217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217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217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pPr>
            <a:r>
              <a:rPr sz="2175" b="1">
                <a:solidFill>
                  <a:srgbClr val="082C24"/>
                </a:solidFill>
                <a:latin typeface="Avenir Next"/>
                <a:ea typeface="Avenir Next"/>
                <a:cs typeface="Avenir Next"/>
              </a:rPr>
              <a:t>Fantasy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D2507D-C97B-440D-A5EF-2CC5F9297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3200400"/>
            <a:ext cx="666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rPr>
              <a:t>Scoring and settlement can be difficult for fans to verify.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2CF138-6F82-4282-8EE6-EA2203E64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905250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6AA5046-31C0-46FB-A928-1B47BEAF1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71950"/>
            <a:ext cx="609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22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22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22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22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22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22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22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22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22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pPr>
            <a:r>
              <a:rPr sz="2250" b="1">
                <a:solidFill>
                  <a:srgbClr val="E7B942"/>
                </a:solidFill>
                <a:latin typeface="Avenir Next"/>
                <a:ea typeface="Avenir Next"/>
                <a:cs typeface="Avenir Next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87622F6-7C60-4863-B0F9-4E86A1152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171950"/>
            <a:ext cx="238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7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217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217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217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217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217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217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217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217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217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pPr>
            <a:r>
              <a:rPr sz="2175" b="1">
                <a:solidFill>
                  <a:srgbClr val="082C24"/>
                </a:solidFill>
                <a:latin typeface="Avenir Next"/>
                <a:ea typeface="Avenir Next"/>
                <a:cs typeface="Avenir Next"/>
              </a:rPr>
              <a:t>Tickets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3BEF72-4104-43AA-98B8-47D396BEA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4191000"/>
            <a:ext cx="666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rPr>
              <a:t>Resale can add markups while leaving organisers out of the loop.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7B3B1BE-FF41-424D-BE7E-B1F72608E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895850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BD6D634-0D09-45B6-8088-16B7298DC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62550"/>
            <a:ext cx="609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22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22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22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22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22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22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22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22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22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pPr>
            <a:r>
              <a:rPr sz="2250" b="1">
                <a:solidFill>
                  <a:srgbClr val="E7B942"/>
                </a:solidFill>
                <a:latin typeface="Avenir Next"/>
                <a:ea typeface="Avenir Next"/>
                <a:cs typeface="Avenir Next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5D2F2EF-2BDF-4061-9A48-11F721CA5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162550"/>
            <a:ext cx="238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7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217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217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217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217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217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217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217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217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217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pPr>
            <a:r>
              <a:rPr sz="2175" b="1">
                <a:solidFill>
                  <a:srgbClr val="082C24"/>
                </a:solidFill>
                <a:latin typeface="Avenir Next"/>
                <a:ea typeface="Avenir Next"/>
                <a:cs typeface="Avenir Next"/>
              </a:rPr>
              <a:t>Access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128EC3C-735C-4D68-9C19-AFA9EB1B0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5181600"/>
            <a:ext cx="666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rPr>
              <a:t>Wallet setup and unreliable venue connectivity create friction.</a:t>
            </a:r>
          </a:p>
        </p:txBody>
      </p:sp>
    </p:spTree>
    <p:extLst>
      <p:ext uri="{BB962C8B-B14F-4D97-AF65-F5344CB8AC3E}">
        <p14:creationId xmlns:p14="http://schemas.microsoft.com/office/powerpoint/2010/main" val="166576889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82C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B27ACAE-EB4E-452E-BB3D-DDAC60816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rPr>
              <a:t>02 · THE EXPERIENCE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8A2F88-46FF-4FCE-B295-2E1B73F75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52475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4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34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34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34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34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34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34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34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34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34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pPr>
            <a:r>
              <a:rPr sz="3450" b="1">
                <a:solidFill>
                  <a:srgbClr val="F5F2E8"/>
                </a:solidFill>
                <a:latin typeface="Avenir Next"/>
                <a:ea typeface="Avenir Next"/>
                <a:cs typeface="Avenir Next"/>
              </a:rPr>
              <a:t>One matchday. Four connected moments.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F658F2-FF59-4E64-BE07-83E40F2E6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38275"/>
            <a:ext cx="1009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575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575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575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575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575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575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575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575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575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>
                <a:solidFill>
                  <a:srgbClr val="A9D9B9"/>
                </a:solidFill>
                <a:latin typeface="Avenir Next"/>
                <a:ea typeface="Avenir Next"/>
                <a:cs typeface="Avenir Next"/>
              </a:rPr>
              <a:t>The fan journey moves from the fixture to the stands.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4B7FE8-338B-4C96-9AD8-B2AD6A553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7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EBA28F-AFF9-4B78-89CE-09562912B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AFC5B8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975" b="1">
                <a:solidFill>
                  <a:srgbClr val="AFC5B8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975" b="1">
                <a:solidFill>
                  <a:srgbClr val="AFC5B8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975" b="1">
                <a:solidFill>
                  <a:srgbClr val="AFC5B8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975" b="1">
                <a:solidFill>
                  <a:srgbClr val="AFC5B8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975" b="1">
                <a:solidFill>
                  <a:srgbClr val="AFC5B8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975" b="1">
                <a:solidFill>
                  <a:srgbClr val="AFC5B8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975" b="1">
                <a:solidFill>
                  <a:srgbClr val="AFC5B8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975" b="1">
                <a:solidFill>
                  <a:srgbClr val="AFC5B8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975" b="1">
                <a:solidFill>
                  <a:srgbClr val="AFC5B8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AFC5B8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AFC5B8"/>
                </a:solidFill>
                <a:latin typeface="Avenir Next"/>
                <a:ea typeface="Avenir Next"/>
                <a:cs typeface="Avenir Next"/>
              </a:rPr>
              <a:t>CRICKETVERSE  ·  CAPSTONE PROTOTYPE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718886-B118-4504-B964-EF63A4BB4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579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0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defPPr>
            <a:lvl1pPr algn="r">
              <a:defRPr sz="10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1pPr>
            <a:lvl2pPr algn="r">
              <a:defRPr sz="10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2pPr>
            <a:lvl3pPr algn="r">
              <a:defRPr sz="10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3pPr>
            <a:lvl4pPr algn="r">
              <a:defRPr sz="10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4pPr>
            <a:lvl5pPr algn="r">
              <a:defRPr sz="10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5pPr>
            <a:lvl6pPr algn="r">
              <a:defRPr sz="10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6pPr>
            <a:lvl7pPr algn="r">
              <a:defRPr sz="10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7pPr>
            <a:lvl8pPr algn="r">
              <a:defRPr sz="10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8pPr>
            <a:lvl9pPr algn="r">
              <a:defRPr sz="10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r">
              <a:defRPr sz="10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E7B942"/>
                </a:solidFill>
                <a:latin typeface="Avenir Next"/>
                <a:ea typeface="Avenir Next"/>
                <a:cs typeface="Avenir Next"/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B2307F-18D7-4A53-A4F7-7E20F90D9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105150"/>
            <a:ext cx="9334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756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0D1FC4-51DB-4777-B55F-FE0983F3F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790825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6A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2DAB7E-5346-4ACC-A440-98BD6B548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790825"/>
            <a:ext cx="66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4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defPPr>
            <a:lvl1pPr algn="ctr">
              <a:defRPr sz="14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1pPr>
            <a:lvl2pPr algn="ctr">
              <a:defRPr sz="14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2pPr>
            <a:lvl3pPr algn="ctr">
              <a:defRPr sz="14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3pPr>
            <a:lvl4pPr algn="ctr">
              <a:defRPr sz="14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4pPr>
            <a:lvl5pPr algn="ctr">
              <a:defRPr sz="14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5pPr>
            <a:lvl6pPr algn="ctr">
              <a:defRPr sz="14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6pPr>
            <a:lvl7pPr algn="ctr">
              <a:defRPr sz="14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7pPr>
            <a:lvl8pPr algn="ctr">
              <a:defRPr sz="14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8pPr>
            <a:lvl9pPr algn="ctr">
              <a:defRPr sz="14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C806E7-C42F-46E9-A899-028191B56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752850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75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2175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2175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2175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2175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2175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2175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2175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2175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2175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pPr>
            <a:r>
              <a:rPr sz="2175" b="1">
                <a:solidFill>
                  <a:srgbClr val="F5F2E8"/>
                </a:solidFill>
                <a:latin typeface="Avenir Next"/>
                <a:ea typeface="Avenir Next"/>
                <a:cs typeface="Avenir Next"/>
              </a:rPr>
              <a:t>Follow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16A236-87E0-4DE8-AB3B-CEDBDA2F6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210050"/>
            <a:ext cx="21431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50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50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50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50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50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50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50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50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50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>
                <a:solidFill>
                  <a:srgbClr val="A9D9B9"/>
                </a:solidFill>
                <a:latin typeface="Avenir Next"/>
                <a:ea typeface="Avenir Next"/>
                <a:cs typeface="Avenir Next"/>
              </a:rPr>
              <a:t>Find today’s match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E7238D-CBDC-412F-8E44-B585B4DF6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2790825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B9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2B8007-087A-485E-AC2D-4DAED2948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2790825"/>
            <a:ext cx="66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4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defPPr>
            <a:lvl1pPr algn="ctr">
              <a:defRPr sz="14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1pPr>
            <a:lvl2pPr algn="ctr">
              <a:defRPr sz="14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2pPr>
            <a:lvl3pPr algn="ctr">
              <a:defRPr sz="14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3pPr>
            <a:lvl4pPr algn="ctr">
              <a:defRPr sz="14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4pPr>
            <a:lvl5pPr algn="ctr">
              <a:defRPr sz="14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5pPr>
            <a:lvl6pPr algn="ctr">
              <a:defRPr sz="14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6pPr>
            <a:lvl7pPr algn="ctr">
              <a:defRPr sz="14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7pPr>
            <a:lvl8pPr algn="ctr">
              <a:defRPr sz="14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8pPr>
            <a:lvl9pPr algn="ctr">
              <a:defRPr sz="14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ctr">
              <a:defRPr sz="14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>
                <a:solidFill>
                  <a:srgbClr val="082C24"/>
                </a:solidFill>
                <a:latin typeface="Avenir Next"/>
                <a:ea typeface="Avenir Next"/>
                <a:cs typeface="Avenir Next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EEA1C8-7D98-449F-891E-C65AC76A0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3752850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75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2175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2175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2175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2175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2175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2175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2175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2175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2175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pPr>
            <a:r>
              <a:rPr sz="2175" b="1">
                <a:solidFill>
                  <a:srgbClr val="F5F2E8"/>
                </a:solidFill>
                <a:latin typeface="Avenir Next"/>
                <a:ea typeface="Avenir Next"/>
                <a:cs typeface="Avenir Next"/>
              </a:rPr>
              <a:t>Pick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6E32C3-9D32-42B8-B365-7A72820A7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4210050"/>
            <a:ext cx="21431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50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50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50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50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50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50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50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50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50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>
                <a:solidFill>
                  <a:srgbClr val="A9D9B9"/>
                </a:solidFill>
                <a:latin typeface="Avenir Next"/>
                <a:ea typeface="Avenir Next"/>
                <a:cs typeface="Avenir Next"/>
              </a:rPr>
              <a:t>Choose 11 from the confirmed 22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968096-E47E-4A39-8D17-BEF006A23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790825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6A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C6427AD-5D02-4170-BFEE-47773AF14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790825"/>
            <a:ext cx="66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4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defPPr>
            <a:lvl1pPr algn="ctr">
              <a:defRPr sz="14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1pPr>
            <a:lvl2pPr algn="ctr">
              <a:defRPr sz="14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2pPr>
            <a:lvl3pPr algn="ctr">
              <a:defRPr sz="14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3pPr>
            <a:lvl4pPr algn="ctr">
              <a:defRPr sz="14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4pPr>
            <a:lvl5pPr algn="ctr">
              <a:defRPr sz="14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5pPr>
            <a:lvl6pPr algn="ctr">
              <a:defRPr sz="14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6pPr>
            <a:lvl7pPr algn="ctr">
              <a:defRPr sz="14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7pPr>
            <a:lvl8pPr algn="ctr">
              <a:defRPr sz="14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8pPr>
            <a:lvl9pPr algn="ctr">
              <a:defRPr sz="14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00EE164-BF7F-4AAF-93F8-29CC3139E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752850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75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2175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2175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2175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2175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2175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2175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2175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2175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2175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pPr>
            <a:r>
              <a:rPr sz="2175" b="1">
                <a:solidFill>
                  <a:srgbClr val="F5F2E8"/>
                </a:solidFill>
                <a:latin typeface="Avenir Next"/>
                <a:ea typeface="Avenir Next"/>
                <a:cs typeface="Avenir Next"/>
              </a:rPr>
              <a:t>Collect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D4A7CB7-F1C1-4187-B0D1-0B53BB16E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210050"/>
            <a:ext cx="21431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50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50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50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50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50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50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50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50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50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>
                <a:solidFill>
                  <a:srgbClr val="A9D9B9"/>
                </a:solidFill>
                <a:latin typeface="Avenir Next"/>
                <a:ea typeface="Avenir Next"/>
                <a:cs typeface="Avenir Next"/>
              </a:rPr>
              <a:t>Own a player card with CRIC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0B25ADB-C047-4204-9A70-781C59817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2790825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6A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411D83D-EEDD-4A8C-B9F8-25ED05D53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2790825"/>
            <a:ext cx="66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4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defPPr>
            <a:lvl1pPr algn="ctr">
              <a:defRPr sz="14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1pPr>
            <a:lvl2pPr algn="ctr">
              <a:defRPr sz="14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2pPr>
            <a:lvl3pPr algn="ctr">
              <a:defRPr sz="14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3pPr>
            <a:lvl4pPr algn="ctr">
              <a:defRPr sz="14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4pPr>
            <a:lvl5pPr algn="ctr">
              <a:defRPr sz="14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5pPr>
            <a:lvl6pPr algn="ctr">
              <a:defRPr sz="14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6pPr>
            <a:lvl7pPr algn="ctr">
              <a:defRPr sz="14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7pPr>
            <a:lvl8pPr algn="ctr">
              <a:defRPr sz="14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8pPr>
            <a:lvl9pPr algn="ctr">
              <a:defRPr sz="14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04C1F07-86A6-4AC8-AAF7-1F336A37C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3752850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75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2175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2175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2175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2175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2175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2175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2175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2175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2175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pPr>
            <a:r>
              <a:rPr sz="2175" b="1">
                <a:solidFill>
                  <a:srgbClr val="F5F2E8"/>
                </a:solidFill>
                <a:latin typeface="Avenir Next"/>
                <a:ea typeface="Avenir Next"/>
                <a:cs typeface="Avenir Next"/>
              </a:rPr>
              <a:t>Attend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145A53C-E5E2-46F5-AC0E-AF7C04002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4210050"/>
            <a:ext cx="21431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50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50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50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50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50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50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50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50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50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>
                <a:solidFill>
                  <a:srgbClr val="A9D9B9"/>
                </a:solidFill>
                <a:latin typeface="Avenir Next"/>
                <a:ea typeface="Avenir Next"/>
                <a:cs typeface="Avenir Next"/>
              </a:rPr>
              <a:t>Use a ticket with clear entry rules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81803E3-20AF-4378-93F7-C8899C050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334000"/>
            <a:ext cx="1072515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0B38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7212655-7490-42D5-8B1D-E288198C5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410200"/>
            <a:ext cx="1009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50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50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50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50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50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50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50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50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50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F5F2E8"/>
                </a:solidFill>
                <a:latin typeface="Avenir Next"/>
                <a:ea typeface="Avenir Next"/>
                <a:cs typeface="Avenir Next"/>
              </a:rPr>
              <a:t>A single interface; the API and local blockchain keep separate jobs.</a:t>
            </a:r>
          </a:p>
        </p:txBody>
      </p:sp>
    </p:spTree>
    <p:extLst>
      <p:ext uri="{BB962C8B-B14F-4D97-AF65-F5344CB8AC3E}">
        <p14:creationId xmlns:p14="http://schemas.microsoft.com/office/powerpoint/2010/main" val="3785723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A078673-DF53-4CEC-95FE-6EBBF3E17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rPr>
              <a:t>03 · SYSTEM DESIGN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763429-C343-49E5-965F-6290B9B06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52475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4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34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34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34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34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34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34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34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34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34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pPr>
            <a:r>
              <a:rPr sz="3450" b="1">
                <a:solidFill>
                  <a:srgbClr val="082C24"/>
                </a:solidFill>
                <a:latin typeface="Avenir Next"/>
                <a:ea typeface="Avenir Next"/>
                <a:cs typeface="Avenir Next"/>
              </a:rPr>
              <a:t>Two data paths, with clear trust boundaries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6639FF-4809-4475-A324-020BD8C42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38275"/>
            <a:ext cx="1009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rPr>
              <a:t>Match information flows through the app; asset rules live in contracts.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88E413-D964-43AC-B0B1-75846008A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427141-8200-4365-94D7-2F4D03B98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975" b="1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975" b="1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975" b="1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975" b="1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975" b="1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975" b="1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975" b="1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975" b="1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975" b="1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718078"/>
                </a:solidFill>
                <a:latin typeface="Avenir Next"/>
                <a:ea typeface="Avenir Next"/>
                <a:cs typeface="Avenir Next"/>
              </a:rPr>
              <a:t>CRICKETVERSE  ·  CAPSTONE PROTOTYPE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C2E765-64D7-4D98-8D80-74AF8F3F4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579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defPPr>
            <a:lvl1pPr algn="r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1pPr>
            <a:lvl2pPr algn="r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2pPr>
            <a:lvl3pPr algn="r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3pPr>
            <a:lvl4pPr algn="r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4pPr>
            <a:lvl5pPr algn="r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5pPr>
            <a:lvl6pPr algn="r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6pPr>
            <a:lvl7pPr algn="r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7pPr>
            <a:lvl8pPr algn="r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8pPr>
            <a:lvl9pPr algn="r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r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rP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DD223F-A984-4A88-B6B2-E75B70C67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86000"/>
            <a:ext cx="2428875" cy="1409700"/>
          </a:xfrm>
          <a:prstGeom xmlns:a="http://schemas.openxmlformats.org/drawingml/2006/main" prst="roundRect">
            <a:avLst>
              <a:gd name="adj" fmla="val 8108"/>
            </a:avLst>
          </a:prstGeom>
          <a:solidFill xmlns:a="http://schemas.openxmlformats.org/drawingml/2006/main">
            <a:srgbClr val="E7EF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E42E9F-C919-4500-BE86-DD2DE4F85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38400"/>
            <a:ext cx="20097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rPr>
              <a:t>CRICKET PROVIDER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832D6B-08EC-45CB-B509-4362A72FD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52725"/>
            <a:ext cx="20097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2181"/>
          </a:bodyPr>
          <a:lstStyle xmlns:a="http://schemas.openxmlformats.org/drawingml/2006/main">
            <a:defPPr algn="l">
              <a:def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rPr>
              <a:t>Fixtures · XI · points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CD5659-F152-4D80-8FB3-FF7EE6B4D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28975"/>
            <a:ext cx="20097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2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2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2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2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2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2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2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2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2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40564E"/>
                </a:solidFill>
                <a:latin typeface="Avenir Next"/>
                <a:ea typeface="Avenir Next"/>
                <a:cs typeface="Avenir Next"/>
              </a:rPr>
              <a:t>CricAPI / CricketData feed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B54B39-56B7-4639-97FB-6135374EC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286000"/>
            <a:ext cx="2857500" cy="1409700"/>
          </a:xfrm>
          <a:prstGeom xmlns:a="http://schemas.openxmlformats.org/drawingml/2006/main" prst="roundRect">
            <a:avLst>
              <a:gd name="adj" fmla="val 8108"/>
            </a:avLst>
          </a:prstGeom>
          <a:solidFill xmlns:a="http://schemas.openxmlformats.org/drawingml/2006/main">
            <a:srgbClr val="DDE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9487E2-AE10-4A30-AF26-7F0AA8367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438400"/>
            <a:ext cx="2438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rPr>
              <a:t>EXPRESS SERVER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2A74C7-A4B3-45F3-BD87-AB59475ED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752725"/>
            <a:ext cx="2438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rPr>
              <a:t>API adapter + cache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73C72F-61E7-4069-845C-7FE4D4200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228975"/>
            <a:ext cx="2438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2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2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2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2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2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2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2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2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2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40564E"/>
                </a:solidFill>
                <a:latin typeface="Avenir Next"/>
                <a:ea typeface="Avenir Next"/>
                <a:cs typeface="Avenir Next"/>
              </a:rPr>
              <a:t>Normalises provider responses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5454F8-A737-4EDE-BE71-26EE0D3C5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286000"/>
            <a:ext cx="3143250" cy="1409700"/>
          </a:xfrm>
          <a:prstGeom xmlns:a="http://schemas.openxmlformats.org/drawingml/2006/main" prst="roundRect">
            <a:avLst>
              <a:gd name="adj" fmla="val 8108"/>
            </a:avLst>
          </a:prstGeom>
          <a:solidFill xmlns:a="http://schemas.openxmlformats.org/drawingml/2006/main">
            <a:srgbClr val="F5E6B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499EDB8-7F63-4AD1-B465-B6FC40178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438400"/>
            <a:ext cx="2724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rPr>
              <a:t>WEB APP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CF5DB2D-8D66-40AE-BF7D-70F040873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752725"/>
            <a:ext cx="2724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rPr>
              <a:t>Matchday XI + cards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E38CF52-0EB6-4832-9078-BE305CB72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228975"/>
            <a:ext cx="2724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2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2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2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2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2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2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2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2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2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40564E"/>
                </a:solidFill>
                <a:latin typeface="Avenir Next"/>
                <a:ea typeface="Avenir Next"/>
                <a:cs typeface="Avenir Next"/>
              </a:rPr>
              <a:t>Browser renders status and scores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7953F49-7C6E-418B-B882-773362E8C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733675"/>
            <a:ext cx="704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8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defPPr>
            <a:lvl1pPr algn="ctr">
              <a:defRPr sz="28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1pPr>
            <a:lvl2pPr algn="ctr">
              <a:defRPr sz="28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2pPr>
            <a:lvl3pPr algn="ctr">
              <a:defRPr sz="28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3pPr>
            <a:lvl4pPr algn="ctr">
              <a:defRPr sz="28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4pPr>
            <a:lvl5pPr algn="ctr">
              <a:defRPr sz="28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5pPr>
            <a:lvl6pPr algn="ctr">
              <a:defRPr sz="28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6pPr>
            <a:lvl7pPr algn="ctr">
              <a:defRPr sz="28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7pPr>
            <a:lvl8pPr algn="ctr">
              <a:defRPr sz="28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8pPr>
            <a:lvl9pPr algn="ctr">
              <a:defRPr sz="28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ctr">
              <a:defRPr sz="28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pPr>
            <a:r>
              <a:rPr sz="2850" b="1">
                <a:solidFill>
                  <a:srgbClr val="E7B942"/>
                </a:solidFill>
                <a:latin typeface="Avenir Next"/>
                <a:ea typeface="Avenir Next"/>
                <a:cs typeface="Avenir Next"/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F2AD539-0F31-40AE-89E2-C7C518300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733675"/>
            <a:ext cx="704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8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defPPr>
            <a:lvl1pPr algn="ctr">
              <a:defRPr sz="28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1pPr>
            <a:lvl2pPr algn="ctr">
              <a:defRPr sz="28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2pPr>
            <a:lvl3pPr algn="ctr">
              <a:defRPr sz="28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3pPr>
            <a:lvl4pPr algn="ctr">
              <a:defRPr sz="28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4pPr>
            <a:lvl5pPr algn="ctr">
              <a:defRPr sz="28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5pPr>
            <a:lvl6pPr algn="ctr">
              <a:defRPr sz="28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6pPr>
            <a:lvl7pPr algn="ctr">
              <a:defRPr sz="28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7pPr>
            <a:lvl8pPr algn="ctr">
              <a:defRPr sz="28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8pPr>
            <a:lvl9pPr algn="ctr">
              <a:defRPr sz="28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ctr">
              <a:defRPr sz="28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pPr>
            <a:r>
              <a:rPr sz="2850" b="1">
                <a:solidFill>
                  <a:srgbClr val="E7B942"/>
                </a:solidFill>
                <a:latin typeface="Avenir Next"/>
                <a:ea typeface="Avenir Next"/>
                <a:cs typeface="Avenir Next"/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D8ADF86-A076-4045-BEF4-CB099133F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71950"/>
            <a:ext cx="10420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FCA144A-6034-40FD-9CE1-2E1657580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1007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rPr>
              <a:t>SEPARATE WALLET PATH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657720C-F361-46EF-BF39-605101ABF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91075"/>
            <a:ext cx="161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rPr>
              <a:t>Wallet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C67D20B-12B4-48BD-AA0C-D244EC7F1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4791075"/>
            <a:ext cx="1219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35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defPPr>
            <a:lvl1pPr algn="ctr">
              <a:defRPr sz="135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1pPr>
            <a:lvl2pPr algn="ctr">
              <a:defRPr sz="135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2pPr>
            <a:lvl3pPr algn="ctr">
              <a:defRPr sz="135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3pPr>
            <a:lvl4pPr algn="ctr">
              <a:defRPr sz="135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4pPr>
            <a:lvl5pPr algn="ctr">
              <a:defRPr sz="135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5pPr>
            <a:lvl6pPr algn="ctr">
              <a:defRPr sz="135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6pPr>
            <a:lvl7pPr algn="ctr">
              <a:defRPr sz="135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7pPr>
            <a:lvl8pPr algn="ctr">
              <a:defRPr sz="135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8pPr>
            <a:lvl9pPr algn="ctr">
              <a:defRPr sz="135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40564E"/>
                </a:solidFill>
                <a:latin typeface="Avenir Next"/>
                <a:ea typeface="Avenir Next"/>
                <a:cs typeface="Avenir Next"/>
              </a:rPr>
              <a:t>signs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2DCA65E-BC6F-4595-9791-F2875EDD2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4752975"/>
            <a:ext cx="457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2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defPPr>
            <a:lvl1pPr algn="ctr">
              <a:defRPr sz="22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1pPr>
            <a:lvl2pPr algn="ctr">
              <a:defRPr sz="22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2pPr>
            <a:lvl3pPr algn="ctr">
              <a:defRPr sz="22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3pPr>
            <a:lvl4pPr algn="ctr">
              <a:defRPr sz="22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4pPr>
            <a:lvl5pPr algn="ctr">
              <a:defRPr sz="22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5pPr>
            <a:lvl6pPr algn="ctr">
              <a:defRPr sz="22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6pPr>
            <a:lvl7pPr algn="ctr">
              <a:defRPr sz="22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7pPr>
            <a:lvl8pPr algn="ctr">
              <a:defRPr sz="22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8pPr>
            <a:lvl9pPr algn="ctr">
              <a:defRPr sz="22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pPr>
            <a:r>
              <a:rPr sz="2250" b="1">
                <a:solidFill>
                  <a:srgbClr val="E7B942"/>
                </a:solidFill>
                <a:latin typeface="Avenir Next"/>
                <a:ea typeface="Avenir Next"/>
                <a:cs typeface="Avenir Next"/>
              </a:rPr>
              <a:t>→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0D2B592-7895-4ACB-BA08-A5895D1FE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4791075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rPr>
              <a:t>Local Hardhat contracts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5401544-DA57-4940-909E-44E7E99AC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791075"/>
            <a:ext cx="3371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42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42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42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42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42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42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42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42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42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>
                <a:solidFill>
                  <a:srgbClr val="40564E"/>
                </a:solidFill>
                <a:latin typeface="Avenir Next"/>
                <a:ea typeface="Avenir Next"/>
                <a:cs typeface="Avenir Next"/>
              </a:rPr>
              <a:t>CRIC · cards · tickets · escrow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DA5C4FF-D186-44E0-B68A-A798B8B82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572125"/>
            <a:ext cx="1000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275" b="0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275" b="0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275" b="0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275" b="0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275" b="0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275" b="0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275" b="0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275" b="0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275" b="0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718078"/>
                </a:solidFill>
                <a:latin typeface="Avenir Next"/>
                <a:ea typeface="Avenir Next"/>
                <a:cs typeface="Avenir Next"/>
              </a:rPr>
              <a:t>Provider access needs a configured key and network connection. Contract demos default to a local chain.</a:t>
            </a:r>
          </a:p>
        </p:txBody>
      </p:sp>
    </p:spTree>
    <p:extLst>
      <p:ext uri="{BB962C8B-B14F-4D97-AF65-F5344CB8AC3E}">
        <p14:creationId xmlns:p14="http://schemas.microsoft.com/office/powerpoint/2010/main" val="68028123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82C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FE770AB-8EBB-4A38-A53C-F6445CC9A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rPr>
              <a:t>04 · MATCHDAY XI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57789F-3B07-4A7E-9667-E87936335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52475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4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34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34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34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34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34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34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34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34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34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pPr>
            <a:r>
              <a:rPr sz="3450" b="1">
                <a:solidFill>
                  <a:srgbClr val="F5F2E8"/>
                </a:solidFill>
                <a:latin typeface="Avenir Next"/>
                <a:ea typeface="Avenir Next"/>
                <a:cs typeface="Avenir Next"/>
              </a:rPr>
              <a:t>Choose 11 from today’s confirmed 22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2774DA-99F8-4D74-82F7-E0161C159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38275"/>
            <a:ext cx="1009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575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575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575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575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575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575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575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575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575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>
                <a:solidFill>
                  <a:srgbClr val="A9D9B9"/>
                </a:solidFill>
                <a:latin typeface="Avenir Next"/>
                <a:ea typeface="Avenir Next"/>
                <a:cs typeface="Avenir Next"/>
              </a:rPr>
              <a:t>The player pool is scoped to the selected match.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2A5910-1BE2-4909-AEB6-0CDEF02A3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7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230F31-B4F0-49DB-88F1-AABAB25A1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AFC5B8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975" b="1">
                <a:solidFill>
                  <a:srgbClr val="AFC5B8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975" b="1">
                <a:solidFill>
                  <a:srgbClr val="AFC5B8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975" b="1">
                <a:solidFill>
                  <a:srgbClr val="AFC5B8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975" b="1">
                <a:solidFill>
                  <a:srgbClr val="AFC5B8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975" b="1">
                <a:solidFill>
                  <a:srgbClr val="AFC5B8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975" b="1">
                <a:solidFill>
                  <a:srgbClr val="AFC5B8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975" b="1">
                <a:solidFill>
                  <a:srgbClr val="AFC5B8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975" b="1">
                <a:solidFill>
                  <a:srgbClr val="AFC5B8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975" b="1">
                <a:solidFill>
                  <a:srgbClr val="AFC5B8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AFC5B8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AFC5B8"/>
                </a:solidFill>
                <a:latin typeface="Avenir Next"/>
                <a:ea typeface="Avenir Next"/>
                <a:cs typeface="Avenir Next"/>
              </a:rPr>
              <a:t>CRICKETVERSE  ·  CAPSTONE PROTOTYPE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E201F6-9BD2-49FE-83C9-CD221DF57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579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0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defPPr>
            <a:lvl1pPr algn="r">
              <a:defRPr sz="10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1pPr>
            <a:lvl2pPr algn="r">
              <a:defRPr sz="10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2pPr>
            <a:lvl3pPr algn="r">
              <a:defRPr sz="10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3pPr>
            <a:lvl4pPr algn="r">
              <a:defRPr sz="10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4pPr>
            <a:lvl5pPr algn="r">
              <a:defRPr sz="10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5pPr>
            <a:lvl6pPr algn="r">
              <a:defRPr sz="10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6pPr>
            <a:lvl7pPr algn="r">
              <a:defRPr sz="10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7pPr>
            <a:lvl8pPr algn="r">
              <a:defRPr sz="10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8pPr>
            <a:lvl9pPr algn="r">
              <a:defRPr sz="10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r">
              <a:defRPr sz="10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E7B942"/>
                </a:solidFill>
                <a:latin typeface="Avenir Next"/>
                <a:ea typeface="Avenir Next"/>
                <a:cs typeface="Avenir Next"/>
              </a:rPr>
              <a:t>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832569-532B-457C-9E1C-8A2A72FAA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152650"/>
            <a:ext cx="2428875" cy="1362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4577"/>
          </a:bodyPr>
          <a:lstStyle xmlns:a="http://schemas.openxmlformats.org/drawingml/2006/main">
            <a:defPPr algn="ctr">
              <a:defRPr sz="94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defPPr>
            <a:lvl1pPr algn="ctr">
              <a:defRPr sz="94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1pPr>
            <a:lvl2pPr algn="ctr">
              <a:defRPr sz="94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2pPr>
            <a:lvl3pPr algn="ctr">
              <a:defRPr sz="94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3pPr>
            <a:lvl4pPr algn="ctr">
              <a:defRPr sz="94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4pPr>
            <a:lvl5pPr algn="ctr">
              <a:defRPr sz="94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5pPr>
            <a:lvl6pPr algn="ctr">
              <a:defRPr sz="94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6pPr>
            <a:lvl7pPr algn="ctr">
              <a:defRPr sz="94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7pPr>
            <a:lvl8pPr algn="ctr">
              <a:defRPr sz="94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8pPr>
            <a:lvl9pPr algn="ctr">
              <a:defRPr sz="94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ctr">
              <a:defRPr sz="94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pPr>
            <a:r>
              <a:rPr sz="9450" b="1">
                <a:solidFill>
                  <a:srgbClr val="E7B942"/>
                </a:solidFill>
                <a:latin typeface="Avenir Next"/>
                <a:ea typeface="Avenir Next"/>
                <a:cs typeface="Avenir Next"/>
              </a:rPr>
              <a:t>22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09324A-4238-4EFC-8BDC-192EEBEFE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514725"/>
            <a:ext cx="2095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57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defPPr>
            <a:lvl1pPr algn="ctr">
              <a:defRPr sz="157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1pPr>
            <a:lvl2pPr algn="ctr">
              <a:defRPr sz="157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2pPr>
            <a:lvl3pPr algn="ctr">
              <a:defRPr sz="157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3pPr>
            <a:lvl4pPr algn="ctr">
              <a:defRPr sz="157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4pPr>
            <a:lvl5pPr algn="ctr">
              <a:defRPr sz="157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5pPr>
            <a:lvl6pPr algn="ctr">
              <a:defRPr sz="157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6pPr>
            <a:lvl7pPr algn="ctr">
              <a:defRPr sz="157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7pPr>
            <a:lvl8pPr algn="ctr">
              <a:defRPr sz="157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8pPr>
            <a:lvl9pPr algn="ctr">
              <a:defRPr sz="157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ctr">
              <a:defRPr sz="157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>
                <a:solidFill>
                  <a:srgbClr val="A9D9B9"/>
                </a:solidFill>
                <a:latin typeface="Avenir Next"/>
                <a:ea typeface="Avenir Next"/>
                <a:cs typeface="Avenir Next"/>
              </a:rPr>
              <a:t>API players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5699F1-0EE0-4672-AA6E-D877BB84E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695575"/>
            <a:ext cx="876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43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defPPr>
            <a:lvl1pPr algn="ctr">
              <a:defRPr sz="43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1pPr>
            <a:lvl2pPr algn="ctr">
              <a:defRPr sz="43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2pPr>
            <a:lvl3pPr algn="ctr">
              <a:defRPr sz="43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3pPr>
            <a:lvl4pPr algn="ctr">
              <a:defRPr sz="43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4pPr>
            <a:lvl5pPr algn="ctr">
              <a:defRPr sz="43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5pPr>
            <a:lvl6pPr algn="ctr">
              <a:defRPr sz="43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6pPr>
            <a:lvl7pPr algn="ctr">
              <a:defRPr sz="43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7pPr>
            <a:lvl8pPr algn="ctr">
              <a:defRPr sz="43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8pPr>
            <a:lvl9pPr algn="ctr">
              <a:defRPr sz="43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ctr">
              <a:defRPr sz="43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pPr>
            <a:r>
              <a:rPr sz="4350" b="1">
                <a:solidFill>
                  <a:srgbClr val="F5F2E8"/>
                </a:solidFill>
                <a:latin typeface="Avenir Next"/>
                <a:ea typeface="Avenir Next"/>
                <a:cs typeface="Avenir Next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6F05D3-8C93-4CEF-BEA3-3AC09284A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152650"/>
            <a:ext cx="2381250" cy="1362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4577"/>
          </a:bodyPr>
          <a:lstStyle xmlns:a="http://schemas.openxmlformats.org/drawingml/2006/main">
            <a:defPPr algn="ctr">
              <a:defRPr sz="94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defPPr>
            <a:lvl1pPr algn="ctr">
              <a:defRPr sz="94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1pPr>
            <a:lvl2pPr algn="ctr">
              <a:defRPr sz="94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2pPr>
            <a:lvl3pPr algn="ctr">
              <a:defRPr sz="94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3pPr>
            <a:lvl4pPr algn="ctr">
              <a:defRPr sz="94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4pPr>
            <a:lvl5pPr algn="ctr">
              <a:defRPr sz="94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5pPr>
            <a:lvl6pPr algn="ctr">
              <a:defRPr sz="94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6pPr>
            <a:lvl7pPr algn="ctr">
              <a:defRPr sz="94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7pPr>
            <a:lvl8pPr algn="ctr">
              <a:defRPr sz="94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8pPr>
            <a:lvl9pPr algn="ctr">
              <a:defRPr sz="94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ctr">
              <a:defRPr sz="94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pPr>
            <a:r>
              <a:rPr sz="9450" b="1">
                <a:solidFill>
                  <a:srgbClr val="F5F2E8"/>
                </a:solidFill>
                <a:latin typeface="Avenir Next"/>
                <a:ea typeface="Avenir Next"/>
                <a:cs typeface="Avenir Next"/>
              </a:rPr>
              <a:t>11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2FD2DC-B46B-41B1-B3AB-6C89B1241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514725"/>
            <a:ext cx="23241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57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defPPr>
            <a:lvl1pPr algn="ctr">
              <a:defRPr sz="157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1pPr>
            <a:lvl2pPr algn="ctr">
              <a:defRPr sz="157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2pPr>
            <a:lvl3pPr algn="ctr">
              <a:defRPr sz="157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3pPr>
            <a:lvl4pPr algn="ctr">
              <a:defRPr sz="157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4pPr>
            <a:lvl5pPr algn="ctr">
              <a:defRPr sz="157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5pPr>
            <a:lvl6pPr algn="ctr">
              <a:defRPr sz="157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6pPr>
            <a:lvl7pPr algn="ctr">
              <a:defRPr sz="157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7pPr>
            <a:lvl8pPr algn="ctr">
              <a:defRPr sz="157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8pPr>
            <a:lvl9pPr algn="ctr">
              <a:defRPr sz="157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ctr">
              <a:defRPr sz="157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>
                <a:solidFill>
                  <a:srgbClr val="A9D9B9"/>
                </a:solidFill>
                <a:latin typeface="Avenir Next"/>
                <a:ea typeface="Avenir Next"/>
                <a:cs typeface="Avenir Next"/>
              </a:rPr>
              <a:t>selected players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FC5714-6B22-4E6B-8D90-FA0B73F8D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143125"/>
            <a:ext cx="1905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756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7B8B3D-FD0B-415F-B76F-B5B2D634E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266950"/>
            <a:ext cx="257175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8577"/>
          </a:bodyPr>
          <a:lstStyle xmlns:a="http://schemas.openxmlformats.org/drawingml/2006/main">
            <a:defPPr algn="l">
              <a:defRPr sz="61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61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61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61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61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61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61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61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61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61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61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pPr>
            <a:r>
              <a:rPr sz="6150" b="1">
                <a:solidFill>
                  <a:srgbClr val="E7B942"/>
                </a:solidFill>
                <a:latin typeface="Avenir Next"/>
                <a:ea typeface="Avenir Next"/>
                <a:cs typeface="Avenir Next"/>
              </a:rPr>
              <a:t>120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E889BD-2B36-4408-BAC0-18330C680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5275" y="3181350"/>
            <a:ext cx="2381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200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200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200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200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200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200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200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200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200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A9D9B9"/>
                </a:solidFill>
                <a:latin typeface="Avenir Next"/>
                <a:ea typeface="Avenir Next"/>
                <a:cs typeface="Avenir Next"/>
              </a:rPr>
              <a:t>CREDIT LIMIT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261538A-818A-4277-8917-BF00FC1E1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5275" y="3790950"/>
            <a:ext cx="2619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80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80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80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80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80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80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80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80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80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>
                <a:solidFill>
                  <a:srgbClr val="F5F2E8"/>
                </a:solidFill>
                <a:latin typeface="Avenir Next"/>
                <a:ea typeface="Avenir Next"/>
                <a:cs typeface="Avenir Next"/>
              </a:rPr>
              <a:t>Role rules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57585FD-629C-4118-AFCF-C43987DEC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5275" y="4162425"/>
            <a:ext cx="3333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425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425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425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425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425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425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425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425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425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>
                <a:solidFill>
                  <a:srgbClr val="A9D9B9"/>
                </a:solidFill>
                <a:latin typeface="Avenir Next"/>
                <a:ea typeface="Avenir Next"/>
                <a:cs typeface="Avenir Next"/>
              </a:rPr>
              <a:t>At least 1 keeper · 3 batters · 3 bowlers · 1 all-rounder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CB3052-D221-4149-835F-E3F4FBF23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257800"/>
            <a:ext cx="10401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7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11A4F84-6A35-441D-91E6-1D1EAE0BB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4292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35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35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35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35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35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35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35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35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35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F5F2E8"/>
                </a:solidFill>
                <a:latin typeface="Avenir Next"/>
                <a:ea typeface="Avenir Next"/>
                <a:cs typeface="Avenir Next"/>
              </a:rPr>
              <a:t>If the feed does not expose both confirmed XIs, the builder reports an error instead of filling the pool with unrelated players.</a:t>
            </a:r>
          </a:p>
        </p:txBody>
      </p:sp>
    </p:spTree>
    <p:extLst>
      <p:ext uri="{BB962C8B-B14F-4D97-AF65-F5344CB8AC3E}">
        <p14:creationId xmlns:p14="http://schemas.microsoft.com/office/powerpoint/2010/main" val="185508954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93AAD9F-EBF7-4C47-A145-CA0056633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rPr>
              <a:t>05 · LIVE SCORING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1B2BBD-E67F-4BE8-B1CA-B894E8140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52475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4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34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34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34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34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34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34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34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34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34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pPr>
            <a:r>
              <a:rPr sz="3450" b="1">
                <a:solidFill>
                  <a:srgbClr val="082C24"/>
                </a:solidFill>
                <a:latin typeface="Avenir Next"/>
                <a:ea typeface="Avenir Next"/>
                <a:cs typeface="Avenir Next"/>
              </a:rPr>
              <a:t>Fantasy points refresh from match data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766D06-0A17-4C7F-BD7E-5BA67EAEB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38275"/>
            <a:ext cx="1009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rPr>
              <a:t>The app reads provider points by player and updates the squad view.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05E421-79D7-4DCE-9D0B-20C3ACCC4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6436ED-5CC1-4C95-8EF5-67A9D7347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975" b="1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975" b="1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975" b="1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975" b="1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975" b="1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975" b="1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975" b="1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975" b="1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975" b="1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718078"/>
                </a:solidFill>
                <a:latin typeface="Avenir Next"/>
                <a:ea typeface="Avenir Next"/>
                <a:cs typeface="Avenir Next"/>
              </a:rPr>
              <a:t>CRICKETVERSE  ·  CAPSTONE PROTOTYPE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E5442C-2543-498E-9159-B05641AEE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579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defPPr>
            <a:lvl1pPr algn="r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1pPr>
            <a:lvl2pPr algn="r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2pPr>
            <a:lvl3pPr algn="r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3pPr>
            <a:lvl4pPr algn="r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4pPr>
            <a:lvl5pPr algn="r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5pPr>
            <a:lvl6pPr algn="r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6pPr>
            <a:lvl7pPr algn="r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7pPr>
            <a:lvl8pPr algn="r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8pPr>
            <a:lvl9pPr algn="r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r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rPr>
              <a:t>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6C55FB-966F-41BD-93CF-4C60E1628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90750"/>
            <a:ext cx="495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7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7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7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7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7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7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7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7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7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>
                <a:solidFill>
                  <a:srgbClr val="E7B942"/>
                </a:solidFill>
                <a:latin typeface="Avenir Next"/>
                <a:ea typeface="Avenir Next"/>
                <a:cs typeface="Avenir Next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1DCB15-BFDC-486A-9E01-B02B2C5B4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190750"/>
            <a:ext cx="1952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20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20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20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20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20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20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20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20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20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pPr>
            <a:r>
              <a:rPr sz="2025" b="1">
                <a:solidFill>
                  <a:srgbClr val="082C24"/>
                </a:solidFill>
                <a:latin typeface="Avenir Next"/>
                <a:ea typeface="Avenir Next"/>
                <a:cs typeface="Avenir Next"/>
              </a:rPr>
              <a:t>Fetch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74A7C0-45B0-4C83-BFF1-7F28643FE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209800"/>
            <a:ext cx="581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rPr>
              <a:t>Match points endpoint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BEC975-4DC0-400F-9DF6-66C9AD4E2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771775"/>
            <a:ext cx="809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8F4A25-8FB1-4D11-99EA-011BDCEFD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95625"/>
            <a:ext cx="495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7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7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7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7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7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7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7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7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7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>
                <a:solidFill>
                  <a:srgbClr val="E7B942"/>
                </a:solidFill>
                <a:latin typeface="Avenir Next"/>
                <a:ea typeface="Avenir Next"/>
                <a:cs typeface="Avenir Next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D2C8E3-46F5-4280-B0BC-D17DCB363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095625"/>
            <a:ext cx="1952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20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20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20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20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20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20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20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20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20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pPr>
            <a:r>
              <a:rPr sz="2025" b="1">
                <a:solidFill>
                  <a:srgbClr val="082C24"/>
                </a:solidFill>
                <a:latin typeface="Avenir Next"/>
                <a:ea typeface="Avenir Next"/>
                <a:cs typeface="Avenir Next"/>
              </a:rPr>
              <a:t>Group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2811FC-00ED-4999-BE5E-597D189C8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114675"/>
            <a:ext cx="581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rPr>
              <a:t>Batting · bowling · catching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022E33-0E1C-4D40-A558-C68DFDDA8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676650"/>
            <a:ext cx="809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AAB030-D032-4393-864C-DC32B60C4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00500"/>
            <a:ext cx="495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7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7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7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7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7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7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7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7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7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>
                <a:solidFill>
                  <a:srgbClr val="E7B942"/>
                </a:solidFill>
                <a:latin typeface="Avenir Next"/>
                <a:ea typeface="Avenir Next"/>
                <a:cs typeface="Avenir Next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D758F1-647D-49B7-91E2-DFBE5DFF4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000500"/>
            <a:ext cx="1952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20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20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20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20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20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20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20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20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20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pPr>
            <a:r>
              <a:rPr sz="2025" b="1">
                <a:solidFill>
                  <a:srgbClr val="082C24"/>
                </a:solidFill>
                <a:latin typeface="Avenir Next"/>
                <a:ea typeface="Avenir Next"/>
                <a:cs typeface="Avenir Next"/>
              </a:rPr>
              <a:t>Match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96AB0AA-1727-419C-93AB-07E74D0F3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019550"/>
            <a:ext cx="581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rPr>
              <a:t>Player names to selected XI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7F68C4B-A391-4B78-B30E-EAD59D6D2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581525"/>
            <a:ext cx="809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5CD534F-F60D-4905-8AB0-E524F27D7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05375"/>
            <a:ext cx="495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7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7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7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7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7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7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7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7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7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>
                <a:solidFill>
                  <a:srgbClr val="E7B942"/>
                </a:solidFill>
                <a:latin typeface="Avenir Next"/>
                <a:ea typeface="Avenir Next"/>
                <a:cs typeface="Avenir Next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2EE3E38-4B43-4475-8582-3DCC7DBE8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905375"/>
            <a:ext cx="1952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20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20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20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20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20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20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20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20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20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pPr>
            <a:r>
              <a:rPr sz="2025" b="1">
                <a:solidFill>
                  <a:srgbClr val="082C24"/>
                </a:solidFill>
                <a:latin typeface="Avenir Next"/>
                <a:ea typeface="Avenir Next"/>
                <a:cs typeface="Avenir Next"/>
              </a:rPr>
              <a:t>Refresh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B8A2F42-43B9-42F8-84AA-A0F7FB754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924425"/>
            <a:ext cx="581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rPr>
              <a:t>Every 30 seconds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1C0AF8D-B5DF-4BFA-BDBF-341DD6563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381250"/>
            <a:ext cx="2000250" cy="2381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082C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7668F56-C52C-4465-9DB4-4526E064F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733675"/>
            <a:ext cx="16954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52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defPPr>
            <a:lvl1pPr algn="ctr">
              <a:defRPr sz="52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1pPr>
            <a:lvl2pPr algn="ctr">
              <a:defRPr sz="52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2pPr>
            <a:lvl3pPr algn="ctr">
              <a:defRPr sz="52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3pPr>
            <a:lvl4pPr algn="ctr">
              <a:defRPr sz="52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4pPr>
            <a:lvl5pPr algn="ctr">
              <a:defRPr sz="52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5pPr>
            <a:lvl6pPr algn="ctr">
              <a:defRPr sz="52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6pPr>
            <a:lvl7pPr algn="ctr">
              <a:defRPr sz="52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7pPr>
            <a:lvl8pPr algn="ctr">
              <a:defRPr sz="52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8pPr>
            <a:lvl9pPr algn="ctr">
              <a:defRPr sz="52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ctr">
              <a:defRPr sz="52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pPr>
            <a:r>
              <a:rPr sz="5250" b="1">
                <a:solidFill>
                  <a:srgbClr val="E7B942"/>
                </a:solidFill>
                <a:latin typeface="Avenir Next"/>
                <a:ea typeface="Avenir Next"/>
                <a:cs typeface="Avenir Next"/>
              </a:rPr>
              <a:t>30s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4D7289D-683A-4B82-88BD-32B827849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600450"/>
            <a:ext cx="1695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425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defPPr>
            <a:lvl1pPr algn="ctr">
              <a:defRPr sz="1425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1pPr>
            <a:lvl2pPr algn="ctr">
              <a:defRPr sz="1425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2pPr>
            <a:lvl3pPr algn="ctr">
              <a:defRPr sz="1425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3pPr>
            <a:lvl4pPr algn="ctr">
              <a:defRPr sz="1425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4pPr>
            <a:lvl5pPr algn="ctr">
              <a:defRPr sz="1425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5pPr>
            <a:lvl6pPr algn="ctr">
              <a:defRPr sz="1425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6pPr>
            <a:lvl7pPr algn="ctr">
              <a:defRPr sz="1425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7pPr>
            <a:lvl8pPr algn="ctr">
              <a:defRPr sz="1425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8pPr>
            <a:lvl9pPr algn="ctr">
              <a:defRPr sz="1425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ctr">
              <a:defRPr sz="1425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>
                <a:solidFill>
                  <a:srgbClr val="F5F2E8"/>
                </a:solidFill>
                <a:latin typeface="Avenir Next"/>
                <a:ea typeface="Avenir Next"/>
                <a:cs typeface="Avenir Next"/>
              </a:rPr>
              <a:t>refresh interval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AB068E3-B9AF-4921-9B2E-7D83FA1A2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4038600"/>
            <a:ext cx="1581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0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defPPr>
            <a:lvl1pPr algn="ctr">
              <a:defRPr sz="120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1pPr>
            <a:lvl2pPr algn="ctr">
              <a:defRPr sz="120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2pPr>
            <a:lvl3pPr algn="ctr">
              <a:defRPr sz="120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3pPr>
            <a:lvl4pPr algn="ctr">
              <a:defRPr sz="120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4pPr>
            <a:lvl5pPr algn="ctr">
              <a:defRPr sz="120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5pPr>
            <a:lvl6pPr algn="ctr">
              <a:defRPr sz="120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6pPr>
            <a:lvl7pPr algn="ctr">
              <a:defRPr sz="120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7pPr>
            <a:lvl8pPr algn="ctr">
              <a:defRPr sz="120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8pPr>
            <a:lvl9pPr algn="ctr">
              <a:defRPr sz="120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>
                <a:solidFill>
                  <a:srgbClr val="A9D9B9"/>
                </a:solidFill>
                <a:latin typeface="Avenir Next"/>
                <a:ea typeface="Avenir Next"/>
                <a:cs typeface="Avenir Next"/>
              </a:rPr>
              <a:t>While the match endpoint is reachable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132EF45-BF63-41AF-8AAD-7A29F062E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867400"/>
            <a:ext cx="1028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275" b="0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275" b="0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275" b="0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275" b="0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275" b="0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275" b="0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275" b="0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275" b="0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275" b="0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718078"/>
                </a:solidFill>
                <a:latin typeface="Avenir Next"/>
                <a:ea typeface="Avenir Next"/>
                <a:cs typeface="Avenir Next"/>
              </a:rPr>
              <a:t>A missing key, provider outage or incomplete feed stops live updates; cached/demo data is not presented as a live score.</a:t>
            </a:r>
          </a:p>
        </p:txBody>
      </p:sp>
    </p:spTree>
    <p:extLst>
      <p:ext uri="{BB962C8B-B14F-4D97-AF65-F5344CB8AC3E}">
        <p14:creationId xmlns:p14="http://schemas.microsoft.com/office/powerpoint/2010/main" val="196596976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82C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EDC0CFA-5AB8-4400-BCF5-2F86422DF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rPr>
              <a:t>06 · COLLECTIBLES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303B2E-604D-4F31-920D-E7EDE0BA4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52475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4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34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34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34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34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34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34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34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34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34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pPr>
            <a:r>
              <a:rPr sz="3450" b="1">
                <a:solidFill>
                  <a:srgbClr val="F5F2E8"/>
                </a:solidFill>
                <a:latin typeface="Avenir Next"/>
                <a:ea typeface="Avenir Next"/>
                <a:cs typeface="Avenir Next"/>
              </a:rPr>
              <a:t>Player cards make cricket careers collectible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22B4B9-219C-4919-818C-98CB01FE5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38275"/>
            <a:ext cx="1009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575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575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575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575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575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575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575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575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575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>
                <a:solidFill>
                  <a:srgbClr val="A9D9B9"/>
                </a:solidFill>
                <a:latin typeface="Avenir Next"/>
                <a:ea typeface="Avenir Next"/>
                <a:cs typeface="Avenir Next"/>
              </a:rPr>
              <a:t>An ERC-1155 card can combine ownership, rarity and player telemetry.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6E09FF-9D75-49FF-8D04-180CCC440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7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C0B4E1-24DF-4A0E-AB0C-AF77AEB92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AFC5B8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975" b="1">
                <a:solidFill>
                  <a:srgbClr val="AFC5B8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975" b="1">
                <a:solidFill>
                  <a:srgbClr val="AFC5B8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975" b="1">
                <a:solidFill>
                  <a:srgbClr val="AFC5B8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975" b="1">
                <a:solidFill>
                  <a:srgbClr val="AFC5B8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975" b="1">
                <a:solidFill>
                  <a:srgbClr val="AFC5B8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975" b="1">
                <a:solidFill>
                  <a:srgbClr val="AFC5B8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975" b="1">
                <a:solidFill>
                  <a:srgbClr val="AFC5B8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975" b="1">
                <a:solidFill>
                  <a:srgbClr val="AFC5B8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975" b="1">
                <a:solidFill>
                  <a:srgbClr val="AFC5B8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AFC5B8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AFC5B8"/>
                </a:solidFill>
                <a:latin typeface="Avenir Next"/>
                <a:ea typeface="Avenir Next"/>
                <a:cs typeface="Avenir Next"/>
              </a:rPr>
              <a:t>CRICKETVERSE  ·  CAPSTONE PROTOTYPE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46CEA9-8485-491F-9B1A-31302BCE9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579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0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defPPr>
            <a:lvl1pPr algn="r">
              <a:defRPr sz="10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1pPr>
            <a:lvl2pPr algn="r">
              <a:defRPr sz="10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2pPr>
            <a:lvl3pPr algn="r">
              <a:defRPr sz="10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3pPr>
            <a:lvl4pPr algn="r">
              <a:defRPr sz="10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4pPr>
            <a:lvl5pPr algn="r">
              <a:defRPr sz="10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5pPr>
            <a:lvl6pPr algn="r">
              <a:defRPr sz="10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6pPr>
            <a:lvl7pPr algn="r">
              <a:defRPr sz="10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7pPr>
            <a:lvl8pPr algn="r">
              <a:defRPr sz="10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8pPr>
            <a:lvl9pPr algn="r">
              <a:defRPr sz="10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r">
              <a:defRPr sz="10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E7B942"/>
                </a:solidFill>
                <a:latin typeface="Avenir Next"/>
                <a:ea typeface="Avenir Next"/>
                <a:cs typeface="Avenir Next"/>
              </a:rPr>
              <a:t>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FF7E9E-9117-4709-B661-80A73329C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95525"/>
            <a:ext cx="35814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70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70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70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70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70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70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70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70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70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70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70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pPr>
            <a:r>
              <a:rPr sz="7050" b="1">
                <a:solidFill>
                  <a:srgbClr val="E7B942"/>
                </a:solidFill>
                <a:latin typeface="Avenir Next"/>
                <a:ea typeface="Avenir Next"/>
                <a:cs typeface="Avenir Next"/>
              </a:rPr>
              <a:t>4,800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A97310-3242-416B-B6E1-3E5296FA4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48050"/>
            <a:ext cx="342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6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6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6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6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6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6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6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6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6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pPr>
            <a:r>
              <a:rPr sz="1650" b="0">
                <a:solidFill>
                  <a:srgbClr val="A9D9B9"/>
                </a:solidFill>
                <a:latin typeface="Avenir Next"/>
                <a:ea typeface="Avenir Next"/>
                <a:cs typeface="Avenir Next"/>
              </a:rPr>
              <a:t>player records in the catalogue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BA6966-A0AA-45D7-97DA-088CD6E81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190750"/>
            <a:ext cx="190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756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AF8273-2DDC-4D96-AB04-DD680FBA5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200275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rPr>
              <a:t>RARITY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A32079-CCA0-424C-B24E-84B23134E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2200275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defPPr>
            <a:lvl1pPr algn="r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1pPr>
            <a:lvl2pPr algn="r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2pPr>
            <a:lvl3pPr algn="r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3pPr>
            <a:lvl4pPr algn="r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4pPr>
            <a:lvl5pPr algn="r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5pPr>
            <a:lvl6pPr algn="r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6pPr>
            <a:lvl7pPr algn="r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7pPr>
            <a:lvl8pPr algn="r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8pPr>
            <a:lvl9pPr algn="r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r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rPr>
              <a:t>MULTIPLIER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B32DBE-5EC9-4880-8444-F0A79A66B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657475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65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65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65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65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65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65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65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65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65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pPr>
            <a:r>
              <a:rPr sz="1650" b="0">
                <a:solidFill>
                  <a:srgbClr val="F5F2E8"/>
                </a:solidFill>
                <a:latin typeface="Avenir Next"/>
                <a:ea typeface="Avenir Next"/>
                <a:cs typeface="Avenir Next"/>
              </a:rPr>
              <a:t>Common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05E976-EF32-4E5D-A579-2822603CF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038475"/>
            <a:ext cx="5667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7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34E21A-AED6-4FF7-A9A4-B2F792B72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657475"/>
            <a:ext cx="20097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72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defPPr>
            <a:lvl1pPr algn="r">
              <a:defRPr sz="172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1pPr>
            <a:lvl2pPr algn="r">
              <a:defRPr sz="172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2pPr>
            <a:lvl3pPr algn="r">
              <a:defRPr sz="172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3pPr>
            <a:lvl4pPr algn="r">
              <a:defRPr sz="172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4pPr>
            <a:lvl5pPr algn="r">
              <a:defRPr sz="172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5pPr>
            <a:lvl6pPr algn="r">
              <a:defRPr sz="172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6pPr>
            <a:lvl7pPr algn="r">
              <a:defRPr sz="172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7pPr>
            <a:lvl8pPr algn="r">
              <a:defRPr sz="172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8pPr>
            <a:lvl9pPr algn="r">
              <a:defRPr sz="172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r">
              <a:defRPr sz="172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>
                <a:solidFill>
                  <a:srgbClr val="A9D9B9"/>
                </a:solidFill>
                <a:latin typeface="Avenir Next"/>
                <a:ea typeface="Avenir Next"/>
                <a:cs typeface="Avenir Next"/>
              </a:rPr>
              <a:t>1.00×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6A2B7E-F1EC-4CAD-BB57-76F981E87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133725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65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65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65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65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65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65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65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65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65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pPr>
            <a:r>
              <a:rPr sz="1650" b="0">
                <a:solidFill>
                  <a:srgbClr val="F5F2E8"/>
                </a:solidFill>
                <a:latin typeface="Avenir Next"/>
                <a:ea typeface="Avenir Next"/>
                <a:cs typeface="Avenir Next"/>
              </a:rPr>
              <a:t>Uncommon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F1B998E-2FB5-4FC4-A0A3-E8277F31D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514725"/>
            <a:ext cx="5667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7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966342-C2B0-4A7B-87BE-6E42A3F21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133725"/>
            <a:ext cx="20097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72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defPPr>
            <a:lvl1pPr algn="r">
              <a:defRPr sz="172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1pPr>
            <a:lvl2pPr algn="r">
              <a:defRPr sz="172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2pPr>
            <a:lvl3pPr algn="r">
              <a:defRPr sz="172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3pPr>
            <a:lvl4pPr algn="r">
              <a:defRPr sz="172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4pPr>
            <a:lvl5pPr algn="r">
              <a:defRPr sz="172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5pPr>
            <a:lvl6pPr algn="r">
              <a:defRPr sz="172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6pPr>
            <a:lvl7pPr algn="r">
              <a:defRPr sz="172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7pPr>
            <a:lvl8pPr algn="r">
              <a:defRPr sz="172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8pPr>
            <a:lvl9pPr algn="r">
              <a:defRPr sz="172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r">
              <a:defRPr sz="172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>
                <a:solidFill>
                  <a:srgbClr val="A9D9B9"/>
                </a:solidFill>
                <a:latin typeface="Avenir Next"/>
                <a:ea typeface="Avenir Next"/>
                <a:cs typeface="Avenir Next"/>
              </a:rPr>
              <a:t>1.10×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B48A034-B7BF-47B9-B816-C255A6E0E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609975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65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65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65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65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65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65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65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65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65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pPr>
            <a:r>
              <a:rPr sz="1650" b="0">
                <a:solidFill>
                  <a:srgbClr val="F5F2E8"/>
                </a:solidFill>
                <a:latin typeface="Avenir Next"/>
                <a:ea typeface="Avenir Next"/>
                <a:cs typeface="Avenir Next"/>
              </a:rPr>
              <a:t>Rare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E454AA7-6F7D-4227-9827-8366D6F2C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990975"/>
            <a:ext cx="5667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7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869104C-F528-4825-9130-A00D9300D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609975"/>
            <a:ext cx="20097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72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defPPr>
            <a:lvl1pPr algn="r">
              <a:defRPr sz="172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1pPr>
            <a:lvl2pPr algn="r">
              <a:defRPr sz="172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2pPr>
            <a:lvl3pPr algn="r">
              <a:defRPr sz="172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3pPr>
            <a:lvl4pPr algn="r">
              <a:defRPr sz="172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4pPr>
            <a:lvl5pPr algn="r">
              <a:defRPr sz="172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5pPr>
            <a:lvl6pPr algn="r">
              <a:defRPr sz="172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6pPr>
            <a:lvl7pPr algn="r">
              <a:defRPr sz="172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7pPr>
            <a:lvl8pPr algn="r">
              <a:defRPr sz="172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8pPr>
            <a:lvl9pPr algn="r">
              <a:defRPr sz="172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r">
              <a:defRPr sz="172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>
                <a:solidFill>
                  <a:srgbClr val="A9D9B9"/>
                </a:solidFill>
                <a:latin typeface="Avenir Next"/>
                <a:ea typeface="Avenir Next"/>
                <a:cs typeface="Avenir Next"/>
              </a:rPr>
              <a:t>1.25×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08ECFCC-112D-4621-8B87-9C6940B11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086225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65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65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65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65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65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65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65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65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65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pPr>
            <a:r>
              <a:rPr sz="1650" b="0">
                <a:solidFill>
                  <a:srgbClr val="F5F2E8"/>
                </a:solidFill>
                <a:latin typeface="Avenir Next"/>
                <a:ea typeface="Avenir Next"/>
                <a:cs typeface="Avenir Next"/>
              </a:rPr>
              <a:t>Epic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2EBBB22-1769-4361-8BBE-898BF7147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467225"/>
            <a:ext cx="5667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7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F831A1A-60DD-4A16-8FE6-38D2A23D5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086225"/>
            <a:ext cx="20097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72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defPPr>
            <a:lvl1pPr algn="r">
              <a:defRPr sz="172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1pPr>
            <a:lvl2pPr algn="r">
              <a:defRPr sz="172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2pPr>
            <a:lvl3pPr algn="r">
              <a:defRPr sz="172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3pPr>
            <a:lvl4pPr algn="r">
              <a:defRPr sz="172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4pPr>
            <a:lvl5pPr algn="r">
              <a:defRPr sz="172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5pPr>
            <a:lvl6pPr algn="r">
              <a:defRPr sz="172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6pPr>
            <a:lvl7pPr algn="r">
              <a:defRPr sz="172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7pPr>
            <a:lvl8pPr algn="r">
              <a:defRPr sz="172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8pPr>
            <a:lvl9pPr algn="r">
              <a:defRPr sz="172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r">
              <a:defRPr sz="172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>
                <a:solidFill>
                  <a:srgbClr val="A9D9B9"/>
                </a:solidFill>
                <a:latin typeface="Avenir Next"/>
                <a:ea typeface="Avenir Next"/>
                <a:cs typeface="Avenir Next"/>
              </a:rPr>
              <a:t>1.50×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1977442-B71D-42D4-98AA-39131877D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562475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rPr>
              <a:t>Legendary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A58FEF6-2AAB-4B4F-B726-D4C4FC040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943475"/>
            <a:ext cx="5667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7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ACF62F2-5519-4CD6-884C-ECACA3223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562475"/>
            <a:ext cx="20097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7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defPPr>
            <a:lvl1pPr algn="r">
              <a:defRPr sz="17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1pPr>
            <a:lvl2pPr algn="r">
              <a:defRPr sz="17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2pPr>
            <a:lvl3pPr algn="r">
              <a:defRPr sz="17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3pPr>
            <a:lvl4pPr algn="r">
              <a:defRPr sz="17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4pPr>
            <a:lvl5pPr algn="r">
              <a:defRPr sz="17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5pPr>
            <a:lvl6pPr algn="r">
              <a:defRPr sz="17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6pPr>
            <a:lvl7pPr algn="r">
              <a:defRPr sz="17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7pPr>
            <a:lvl8pPr algn="r">
              <a:defRPr sz="17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8pPr>
            <a:lvl9pPr algn="r">
              <a:defRPr sz="17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r">
              <a:defRPr sz="17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>
                <a:solidFill>
                  <a:srgbClr val="E7B942"/>
                </a:solidFill>
                <a:latin typeface="Avenir Next"/>
                <a:ea typeface="Avenir Next"/>
                <a:cs typeface="Avenir Next"/>
              </a:rPr>
              <a:t>2.00×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D2B2844-03F7-4690-BF65-791E3897B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581650"/>
            <a:ext cx="10334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35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35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35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35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35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35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35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35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35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F5F2E8"/>
                </a:solidFill>
                <a:latin typeface="Avenir Next"/>
                <a:ea typeface="Avenir Next"/>
                <a:cs typeface="Avenir Next"/>
              </a:rPr>
              <a:t>Owner batch registration makes the full catalogue eligible for on-chain purchases.</a:t>
            </a:r>
          </a:p>
        </p:txBody>
      </p:sp>
    </p:spTree>
    <p:extLst>
      <p:ext uri="{BB962C8B-B14F-4D97-AF65-F5344CB8AC3E}">
        <p14:creationId xmlns:p14="http://schemas.microsoft.com/office/powerpoint/2010/main" val="111605112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06A73FF-86E0-491D-9AF9-4D6D06A34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rPr>
              <a:t>07 · TOKEN UTILITY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BC4C81-803D-4C1D-98DD-1664B1C13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52475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4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34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34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34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34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34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34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34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34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34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pPr>
            <a:r>
              <a:rPr sz="3450" b="1">
                <a:solidFill>
                  <a:srgbClr val="082C24"/>
                </a:solidFill>
                <a:latin typeface="Avenir Next"/>
                <a:ea typeface="Avenir Next"/>
                <a:cs typeface="Avenir Next"/>
              </a:rPr>
              <a:t>CRIC powers local demo transactions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0601A8-7579-4239-896D-E3D92017F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38275"/>
            <a:ext cx="1009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rPr>
              <a:t>A test token for collecting cards and exploring contract flows.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88354B-1115-4CDC-81EE-A783F202A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334C96-EB24-4E49-ABD2-F8C7FFE12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975" b="1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975" b="1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975" b="1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975" b="1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975" b="1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975" b="1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975" b="1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975" b="1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975" b="1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718078"/>
                </a:solidFill>
                <a:latin typeface="Avenir Next"/>
                <a:ea typeface="Avenir Next"/>
                <a:cs typeface="Avenir Next"/>
              </a:rPr>
              <a:t>CRICKETVERSE  ·  CAPSTONE PROTOTYPE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A653FA-F021-4971-80EA-3ECDEFBB9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579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defPPr>
            <a:lvl1pPr algn="r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1pPr>
            <a:lvl2pPr algn="r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2pPr>
            <a:lvl3pPr algn="r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3pPr>
            <a:lvl4pPr algn="r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4pPr>
            <a:lvl5pPr algn="r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5pPr>
            <a:lvl6pPr algn="r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6pPr>
            <a:lvl7pPr algn="r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7pPr>
            <a:lvl8pPr algn="r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8pPr>
            <a:lvl9pPr algn="r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r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rPr>
              <a:t>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90E3CA-D732-4DC6-A263-E6CC19BAD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57425"/>
            <a:ext cx="5381625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7650" b="1">
                <a:solidFill>
                  <a:srgbClr val="14523F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7650" b="1">
                <a:solidFill>
                  <a:srgbClr val="14523F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7650" b="1">
                <a:solidFill>
                  <a:srgbClr val="14523F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7650" b="1">
                <a:solidFill>
                  <a:srgbClr val="14523F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7650" b="1">
                <a:solidFill>
                  <a:srgbClr val="14523F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7650" b="1">
                <a:solidFill>
                  <a:srgbClr val="14523F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7650" b="1">
                <a:solidFill>
                  <a:srgbClr val="14523F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7650" b="1">
                <a:solidFill>
                  <a:srgbClr val="14523F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7650" b="1">
                <a:solidFill>
                  <a:srgbClr val="14523F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7650" b="1">
                <a:solidFill>
                  <a:srgbClr val="14523F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7650" b="1">
                <a:solidFill>
                  <a:srgbClr val="14523F"/>
                </a:solidFill>
                <a:latin typeface="Avenir Next"/>
                <a:ea typeface="Avenir Next"/>
                <a:cs typeface="Avenir Next"/>
              </a:defRPr>
            </a:pPr>
            <a:r>
              <a:rPr sz="7650" b="1">
                <a:solidFill>
                  <a:srgbClr val="14523F"/>
                </a:solidFill>
                <a:latin typeface="Avenir Next"/>
                <a:ea typeface="Avenir Next"/>
                <a:cs typeface="Avenir Next"/>
              </a:rPr>
              <a:t>50,000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67A0C0-8E92-4F3F-878B-0F10C70DD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43300"/>
            <a:ext cx="504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20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20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20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20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20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20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20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20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20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pPr>
            <a:r>
              <a:rPr sz="2025" b="1">
                <a:solidFill>
                  <a:srgbClr val="082C24"/>
                </a:solidFill>
                <a:latin typeface="Avenir Next"/>
                <a:ea typeface="Avenir Next"/>
                <a:cs typeface="Avenir Next"/>
              </a:rPr>
              <a:t>CRIC per faucet claim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1EB2A4-9E38-46B9-8E1D-80CA518A9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152650"/>
            <a:ext cx="1905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49A264-0BE7-44E5-81ED-E4D05541E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324100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850" b="1">
                <a:solidFill>
                  <a:srgbClr val="14523F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2850" b="1">
                <a:solidFill>
                  <a:srgbClr val="14523F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2850" b="1">
                <a:solidFill>
                  <a:srgbClr val="14523F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2850" b="1">
                <a:solidFill>
                  <a:srgbClr val="14523F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2850" b="1">
                <a:solidFill>
                  <a:srgbClr val="14523F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2850" b="1">
                <a:solidFill>
                  <a:srgbClr val="14523F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2850" b="1">
                <a:solidFill>
                  <a:srgbClr val="14523F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2850" b="1">
                <a:solidFill>
                  <a:srgbClr val="14523F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2850" b="1">
                <a:solidFill>
                  <a:srgbClr val="14523F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2850" b="1">
                <a:solidFill>
                  <a:srgbClr val="14523F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14523F"/>
                </a:solidFill>
                <a:latin typeface="Avenir Next"/>
                <a:ea typeface="Avenir Next"/>
                <a:cs typeface="Avenir Next"/>
              </a:defRPr>
            </a:pPr>
            <a:r>
              <a:rPr sz="2850" b="1">
                <a:solidFill>
                  <a:srgbClr val="14523F"/>
                </a:solidFill>
                <a:latin typeface="Avenir Next"/>
                <a:ea typeface="Avenir Next"/>
                <a:cs typeface="Avenir Next"/>
              </a:rPr>
              <a:t>10M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948E06-6B03-403C-8E1D-5A1664299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343150"/>
            <a:ext cx="2247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50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50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50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50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50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50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50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50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50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>
                <a:solidFill>
                  <a:srgbClr val="40564E"/>
                </a:solidFill>
                <a:latin typeface="Avenir Next"/>
                <a:ea typeface="Avenir Next"/>
                <a:cs typeface="Avenir Next"/>
              </a:rPr>
              <a:t>genesis supply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CA17F9-55B8-4269-AB12-B4F2F9FD0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971800"/>
            <a:ext cx="4514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0831AC-7B42-4766-B228-71630E95B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295650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8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28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28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28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28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28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28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28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28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28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pPr>
            <a:r>
              <a:rPr sz="2850" b="1">
                <a:solidFill>
                  <a:srgbClr val="082C24"/>
                </a:solidFill>
                <a:latin typeface="Avenir Next"/>
                <a:ea typeface="Avenir Next"/>
                <a:cs typeface="Avenir Next"/>
              </a:rPr>
              <a:t>1 hour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569968-7055-4140-89EB-06AB3CBD0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314700"/>
            <a:ext cx="2247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50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50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50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50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50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50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50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50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50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>
                <a:solidFill>
                  <a:srgbClr val="40564E"/>
                </a:solidFill>
                <a:latin typeface="Avenir Next"/>
                <a:ea typeface="Avenir Next"/>
                <a:cs typeface="Avenir Next"/>
              </a:rPr>
              <a:t>faucet cooldown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D7D08C-8E64-45DC-9AF5-78BE58752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943350"/>
            <a:ext cx="4514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0588F2-D079-4137-A24A-35648F02A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267200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8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28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28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28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28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28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28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28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28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28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pPr>
            <a:r>
              <a:rPr sz="2850" b="1">
                <a:solidFill>
                  <a:srgbClr val="082C24"/>
                </a:solidFill>
                <a:latin typeface="Avenir Next"/>
                <a:ea typeface="Avenir Next"/>
                <a:cs typeface="Avenir Next"/>
              </a:rPr>
              <a:t>100M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823E31A-CB84-4C94-AC29-B804DBC8D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286250"/>
            <a:ext cx="2247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50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50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50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50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50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50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50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50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50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>
                <a:solidFill>
                  <a:srgbClr val="40564E"/>
                </a:solidFill>
                <a:latin typeface="Avenir Next"/>
                <a:ea typeface="Avenir Next"/>
                <a:cs typeface="Avenir Next"/>
              </a:rPr>
              <a:t>maximum supply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49137D7-7446-409D-80A8-C09A53839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010150"/>
            <a:ext cx="106299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5E6B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725FD29-04CB-404B-918E-F5CA537C6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114925"/>
            <a:ext cx="10191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4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4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4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4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4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4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4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4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4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>
                <a:solidFill>
                  <a:srgbClr val="082C24"/>
                </a:solidFill>
                <a:latin typeface="Avenir Next"/>
                <a:ea typeface="Avenir Next"/>
                <a:cs typeface="Avenir Next"/>
              </a:rPr>
              <a:t>Local test token only · CRIC has no public-chain deployment or real-world cash value in this demo.</a:t>
            </a:r>
          </a:p>
        </p:txBody>
      </p:sp>
    </p:spTree>
    <p:extLst>
      <p:ext uri="{BB962C8B-B14F-4D97-AF65-F5344CB8AC3E}">
        <p14:creationId xmlns:p14="http://schemas.microsoft.com/office/powerpoint/2010/main" val="8313815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82C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98AE4F2-B2B4-4D31-A89C-94927D8E5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rPr>
              <a:t>08 · ON-CHAIN RULES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3464DE-8344-4508-98A7-1B840D237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52475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4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34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34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34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34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34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34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34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34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34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pPr>
            <a:r>
              <a:rPr sz="3450" b="1">
                <a:solidFill>
                  <a:srgbClr val="F5F2E8"/>
                </a:solidFill>
                <a:latin typeface="Avenir Next"/>
                <a:ea typeface="Avenir Next"/>
                <a:cs typeface="Avenir Next"/>
              </a:rPr>
              <a:t>Eight contracts define the ecosystem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5E9B31-CCB2-47E8-AA21-53E800ADE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38275"/>
            <a:ext cx="1009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575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575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575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575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575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575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575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575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575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>
                <a:solidFill>
                  <a:srgbClr val="A9D9B9"/>
                </a:solidFill>
                <a:latin typeface="Avenir Next"/>
                <a:ea typeface="Avenir Next"/>
                <a:cs typeface="Avenir Next"/>
              </a:rPr>
              <a:t>Ownership and settlement are written to the local EVM demo.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7BCFD9-CA79-45B1-9825-10FCE9629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7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297AB8-5B25-46D6-AF33-01FCC5B95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AFC5B8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975" b="1">
                <a:solidFill>
                  <a:srgbClr val="AFC5B8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975" b="1">
                <a:solidFill>
                  <a:srgbClr val="AFC5B8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975" b="1">
                <a:solidFill>
                  <a:srgbClr val="AFC5B8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975" b="1">
                <a:solidFill>
                  <a:srgbClr val="AFC5B8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975" b="1">
                <a:solidFill>
                  <a:srgbClr val="AFC5B8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975" b="1">
                <a:solidFill>
                  <a:srgbClr val="AFC5B8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975" b="1">
                <a:solidFill>
                  <a:srgbClr val="AFC5B8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975" b="1">
                <a:solidFill>
                  <a:srgbClr val="AFC5B8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975" b="1">
                <a:solidFill>
                  <a:srgbClr val="AFC5B8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AFC5B8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AFC5B8"/>
                </a:solidFill>
                <a:latin typeface="Avenir Next"/>
                <a:ea typeface="Avenir Next"/>
                <a:cs typeface="Avenir Next"/>
              </a:rPr>
              <a:t>CRICKETVERSE  ·  CAPSTONE PROTOTYPE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E2009C-BCAB-43C2-80FF-BFB1B8F40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579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0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defPPr>
            <a:lvl1pPr algn="r">
              <a:defRPr sz="10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1pPr>
            <a:lvl2pPr algn="r">
              <a:defRPr sz="10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2pPr>
            <a:lvl3pPr algn="r">
              <a:defRPr sz="10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3pPr>
            <a:lvl4pPr algn="r">
              <a:defRPr sz="10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4pPr>
            <a:lvl5pPr algn="r">
              <a:defRPr sz="10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5pPr>
            <a:lvl6pPr algn="r">
              <a:defRPr sz="10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6pPr>
            <a:lvl7pPr algn="r">
              <a:defRPr sz="10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7pPr>
            <a:lvl8pPr algn="r">
              <a:defRPr sz="10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8pPr>
            <a:lvl9pPr algn="r">
              <a:defRPr sz="10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r">
              <a:defRPr sz="10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E7B942"/>
                </a:solidFill>
                <a:latin typeface="Avenir Next"/>
                <a:ea typeface="Avenir Next"/>
                <a:cs typeface="Avenir Next"/>
              </a:rPr>
              <a:t>09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BA751B-0490-4A76-A560-1359F4E4D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33625"/>
            <a:ext cx="43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71016B-F9C0-4335-971D-08DF0B466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333625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rPr>
              <a:t>CRIC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A34DD9-42AA-4AF8-8978-DADA27B4B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333625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rPr>
              <a:t>Demo utility token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0B0F1A-F23A-4468-BA15-D38E09894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847975"/>
            <a:ext cx="457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7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1325D6-77B3-4B40-BDB5-23CE9DB9E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333625"/>
            <a:ext cx="43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574FE2-86CA-4FE2-A35B-76AE64DCA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2333625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rPr>
              <a:t>PlayerCardNFT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4CDF52-B018-4E71-A5A1-2ADFFC601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333625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rPr>
              <a:t>Collectible cards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B64528-FD0A-4D48-861D-DD99D5D44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2847975"/>
            <a:ext cx="457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7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F91F2C-1191-4C2C-9CF4-604BA35A0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24200"/>
            <a:ext cx="43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DF9E435-21BD-4F3E-B0AC-89752B15B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2420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rPr>
              <a:t>MatchTicketNFT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522CA82-2EAA-43B8-AAF6-B9A993040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124200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rPr>
              <a:t>Ticket ownership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538816E-A5F7-4A08-B622-4AF473728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38550"/>
            <a:ext cx="457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7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4427A96-4313-4C54-95BB-F4117AE18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124200"/>
            <a:ext cx="43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3B7CB39-57D7-4D67-A0D2-80788AC1A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312420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rPr>
              <a:t>Marketplace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4241910-CCAF-4EC3-A5E4-86B33BC68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3124200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rPr>
              <a:t>P2P trades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6F73E3A-3D2C-4F8B-87F7-5A02E1176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3638550"/>
            <a:ext cx="457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7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AD773E6-C230-4336-8644-E40D663CD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14775"/>
            <a:ext cx="43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rPr>
              <a:t>05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A27010E-BF8E-43C8-804A-843AFB327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914775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rPr>
              <a:t>TournamentPool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DAB0C5F-A624-4FA4-A9EA-92C1B6324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914775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rPr>
              <a:t>Entry and prizes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5CF6EC0-C68E-455C-A1A5-9CCDA857E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429125"/>
            <a:ext cx="457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7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10FF8A6-5A7A-452C-BD05-8DED6DD66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914775"/>
            <a:ext cx="43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rPr>
              <a:t>06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587DF99-68AF-4842-ACA1-96EC91470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3914775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rPr>
              <a:t>FanPolls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10E0A02-7FF3-4E72-A689-EF4A04946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3914775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rPr>
              <a:t>Wallet-based votes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9FB47A2-C371-4E54-BC60-6FEAC7074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4429125"/>
            <a:ext cx="457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7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19FC6CB-8FC8-44CB-AB5F-3F99C03E1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05350"/>
            <a:ext cx="43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rPr>
              <a:t>07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05729D5-4378-48F6-AD44-9E44D5C09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70535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rPr>
              <a:t>CardSVGGenerator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B57D0FC-C897-435D-982E-D6693ECD5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4705350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rPr>
              <a:t>On-chain card art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572AE2C-548E-4AA3-B1C5-8E963D2FB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219700"/>
            <a:ext cx="457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7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8AFE77E-F3FA-457C-9BEA-E2F491425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705350"/>
            <a:ext cx="43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rPr>
              <a:t>08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03B5A56-AF96-443A-B0EC-6C5E408D1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470535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rPr>
              <a:t>OracleConsumer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66DC724-E6F5-4E92-BE25-2B3E685F6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4705350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rPr>
              <a:t>Authorized stats relay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BC8B30B-8F20-4090-A582-5BBA99643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5219700"/>
            <a:ext cx="457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7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A3F5354-0379-4659-9869-6A45FF46F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657850"/>
            <a:ext cx="1019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275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275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275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275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275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275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275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275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275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F5F2E8"/>
                </a:solidFill>
                <a:latin typeface="Avenir Next"/>
                <a:ea typeface="Avenir Next"/>
                <a:cs typeface="Avenir Next"/>
              </a:rPr>
              <a:t>An authorized stats relay contract is present; it is not connected to a live Chainlink Functions subscription.</a:t>
            </a:r>
          </a:p>
        </p:txBody>
      </p:sp>
    </p:spTree>
    <p:extLst>
      <p:ext uri="{BB962C8B-B14F-4D97-AF65-F5344CB8AC3E}">
        <p14:creationId xmlns:p14="http://schemas.microsoft.com/office/powerpoint/2010/main" val="24363867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D628531-F8C1-4FF1-A456-375116DC3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rPr>
              <a:t>09 · TICKETING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DDF73C-AE67-45F4-851D-4CF946265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52475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4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34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34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34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34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34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34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34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34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34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pPr>
            <a:r>
              <a:rPr sz="3450" b="1">
                <a:solidFill>
                  <a:srgbClr val="082C24"/>
                </a:solidFill>
                <a:latin typeface="Avenir Next"/>
                <a:ea typeface="Avenir Next"/>
                <a:cs typeface="Avenir Next"/>
              </a:rPr>
              <a:t>The ticket contract caps resale at 115%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857CC8-B3F6-4AC4-9FD0-35287A494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38275"/>
            <a:ext cx="1009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rPr>
              <a:t>A price rule is enforced during transfer, not left to platform policy.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A9731D-3691-450F-849A-FB3E3853B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BBF65A-E9B5-493D-A31F-B895AF97E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975" b="1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975" b="1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975" b="1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975" b="1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975" b="1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975" b="1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975" b="1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975" b="1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975" b="1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718078"/>
                </a:solidFill>
                <a:latin typeface="Avenir Next"/>
                <a:ea typeface="Avenir Next"/>
                <a:cs typeface="Avenir Next"/>
              </a:rPr>
              <a:t>CRICKETVERSE  ·  CAPSTONE PROTOTYPE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A281E3-CAD3-46A1-ABC6-EB78DF8D3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579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defPPr>
            <a:lvl1pPr algn="r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1pPr>
            <a:lvl2pPr algn="r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2pPr>
            <a:lvl3pPr algn="r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3pPr>
            <a:lvl4pPr algn="r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4pPr>
            <a:lvl5pPr algn="r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5pPr>
            <a:lvl6pPr algn="r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6pPr>
            <a:lvl7pPr algn="r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7pPr>
            <a:lvl8pPr algn="r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8pPr>
            <a:lvl9pPr algn="r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r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rPr>
              <a:t>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88FAD5-26A9-4E3B-A420-6164D4332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66950"/>
            <a:ext cx="3619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20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20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20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20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20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20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20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20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20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1D6A50"/>
                </a:solidFill>
                <a:latin typeface="Avenir Next"/>
                <a:ea typeface="Avenir Next"/>
                <a:cs typeface="Avenir Next"/>
              </a:rPr>
              <a:t>MAXIMUM RESALE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06E794-D35F-4BDB-AF3D-67461146A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57475"/>
            <a:ext cx="45148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6450" b="1">
                <a:solidFill>
                  <a:srgbClr val="14523F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6450" b="1">
                <a:solidFill>
                  <a:srgbClr val="14523F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6450" b="1">
                <a:solidFill>
                  <a:srgbClr val="14523F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6450" b="1">
                <a:solidFill>
                  <a:srgbClr val="14523F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6450" b="1">
                <a:solidFill>
                  <a:srgbClr val="14523F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6450" b="1">
                <a:solidFill>
                  <a:srgbClr val="14523F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6450" b="1">
                <a:solidFill>
                  <a:srgbClr val="14523F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6450" b="1">
                <a:solidFill>
                  <a:srgbClr val="14523F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6450" b="1">
                <a:solidFill>
                  <a:srgbClr val="14523F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6450" b="1">
                <a:solidFill>
                  <a:srgbClr val="14523F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6450" b="1">
                <a:solidFill>
                  <a:srgbClr val="14523F"/>
                </a:solidFill>
                <a:latin typeface="Avenir Next"/>
                <a:ea typeface="Avenir Next"/>
                <a:cs typeface="Avenir Next"/>
              </a:defRPr>
            </a:pPr>
            <a:r>
              <a:rPr sz="6450" b="1">
                <a:solidFill>
                  <a:srgbClr val="14523F"/>
                </a:solidFill>
                <a:latin typeface="Avenir Next"/>
                <a:ea typeface="Avenir Next"/>
                <a:cs typeface="Avenir Next"/>
              </a:rPr>
              <a:t>1.15×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F9E3ED-FDB0-44CB-855C-4DAFB2B23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14750"/>
            <a:ext cx="333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87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87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87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87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87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87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87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87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87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pPr>
            <a:r>
              <a:rPr sz="1875" b="1">
                <a:solidFill>
                  <a:srgbClr val="082C24"/>
                </a:solidFill>
                <a:latin typeface="Avenir Next"/>
                <a:ea typeface="Avenir Next"/>
                <a:cs typeface="Avenir Next"/>
              </a:rPr>
              <a:t>face value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953DBF-8046-4099-ADA7-B0D5C1DB2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48150"/>
            <a:ext cx="4381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rPr>
              <a:t>A listing above this ceiling reverts.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2D4D9B-EFBF-4199-9098-D627C7717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247900"/>
            <a:ext cx="19050" cy="3028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EE1504-E58B-45F1-BF00-CFBF5233B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3241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52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18A934-077B-4B84-8909-41582223F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32410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defPPr>
            <a:lvl1pPr algn="ctr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1pPr>
            <a:lvl2pPr algn="ctr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2pPr>
            <a:lvl3pPr algn="ctr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3pPr>
            <a:lvl4pPr algn="ctr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4pPr>
            <a:lvl5pPr algn="ctr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5pPr>
            <a:lvl6pPr algn="ctr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6pPr>
            <a:lvl7pPr algn="ctr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7pPr>
            <a:lvl8pPr algn="ctr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8pPr>
            <a:lvl9pPr algn="ctr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01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CF5C27-B72E-4DF2-AC0F-518D3F419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305050"/>
            <a:ext cx="161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7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7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7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7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7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7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7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7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7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>
                <a:solidFill>
                  <a:srgbClr val="082C24"/>
                </a:solidFill>
                <a:latin typeface="Avenir Next"/>
                <a:ea typeface="Avenir Next"/>
                <a:cs typeface="Avenir Next"/>
              </a:rPr>
              <a:t>Issue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FE324A-7846-404C-B947-2F32F4FBA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305050"/>
            <a:ext cx="29146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35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35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35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35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35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35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35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35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35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40564E"/>
                </a:solidFill>
                <a:latin typeface="Avenir Next"/>
                <a:ea typeface="Avenir Next"/>
                <a:cs typeface="Avenir Next"/>
              </a:rPr>
              <a:t>Organiser sets the face value.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5F3726-9661-4862-95D2-8CFBC5F35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819400"/>
            <a:ext cx="4591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FD4C5C8-6498-40BA-AB59-D250E6467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0670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52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5843D96-A81F-4E84-9D07-DF76A3B52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06705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defPPr>
            <a:lvl1pPr algn="ctr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1pPr>
            <a:lvl2pPr algn="ctr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2pPr>
            <a:lvl3pPr algn="ctr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3pPr>
            <a:lvl4pPr algn="ctr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4pPr>
            <a:lvl5pPr algn="ctr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5pPr>
            <a:lvl6pPr algn="ctr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6pPr>
            <a:lvl7pPr algn="ctr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7pPr>
            <a:lvl8pPr algn="ctr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8pPr>
            <a:lvl9pPr algn="ctr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02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5ACD3A7-6A46-4312-9BC2-8DB5CC859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048000"/>
            <a:ext cx="161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7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7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7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7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7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7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7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7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7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>
                <a:solidFill>
                  <a:srgbClr val="082C24"/>
                </a:solidFill>
                <a:latin typeface="Avenir Next"/>
                <a:ea typeface="Avenir Next"/>
                <a:cs typeface="Avenir Next"/>
              </a:rPr>
              <a:t>Resell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2BE4D12-081C-46C2-9C68-A69C4B24B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048000"/>
            <a:ext cx="29146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35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35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35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35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35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35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35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35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35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40564E"/>
                </a:solidFill>
                <a:latin typeface="Avenir Next"/>
                <a:ea typeface="Avenir Next"/>
                <a:cs typeface="Avenir Next"/>
              </a:rPr>
              <a:t>Contract checks the proposed price.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BED3D79-506D-46DC-9C54-17C33DE91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562350"/>
            <a:ext cx="4591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746EDCA-4F85-4A4A-AD2D-757DB94FE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8100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52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D70861D-6856-42E6-93F5-9C37F243E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81000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defPPr>
            <a:lvl1pPr algn="ctr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1pPr>
            <a:lvl2pPr algn="ctr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2pPr>
            <a:lvl3pPr algn="ctr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3pPr>
            <a:lvl4pPr algn="ctr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4pPr>
            <a:lvl5pPr algn="ctr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5pPr>
            <a:lvl6pPr algn="ctr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6pPr>
            <a:lvl7pPr algn="ctr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7pPr>
            <a:lvl8pPr algn="ctr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8pPr>
            <a:lvl9pPr algn="ctr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03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67285F0-73E9-4F64-98C3-42F806FAB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790950"/>
            <a:ext cx="161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7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7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7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7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7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7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7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7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7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>
                <a:solidFill>
                  <a:srgbClr val="082C24"/>
                </a:solidFill>
                <a:latin typeface="Avenir Next"/>
                <a:ea typeface="Avenir Next"/>
                <a:cs typeface="Avenir Next"/>
              </a:rPr>
              <a:t>Scan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7851055-33D2-44C9-9588-66B05594A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790950"/>
            <a:ext cx="29146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35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35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35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35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35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35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35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35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35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40564E"/>
                </a:solidFill>
                <a:latin typeface="Avenir Next"/>
                <a:ea typeface="Avenir Next"/>
                <a:cs typeface="Avenir Next"/>
              </a:rPr>
              <a:t>An authorised gatekeeper verifies entry.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2834B21-0577-412D-BA3C-B779F903F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305300"/>
            <a:ext cx="4591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789768C-CFA6-4DC2-AF11-AB6A62F53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5529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7B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E61D953-0DA6-46FA-941F-4F1899452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55295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defPPr>
            <a:lvl1pPr algn="ctr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1pPr>
            <a:lvl2pPr algn="ctr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2pPr>
            <a:lvl3pPr algn="ctr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3pPr>
            <a:lvl4pPr algn="ctr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4pPr>
            <a:lvl5pPr algn="ctr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5pPr>
            <a:lvl6pPr algn="ctr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6pPr>
            <a:lvl7pPr algn="ctr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7pPr>
            <a:lvl8pPr algn="ctr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8pPr>
            <a:lvl9pPr algn="ctr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04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99F6089-1718-41D7-8C9D-0FBCAD998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533900"/>
            <a:ext cx="161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7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7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7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7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7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7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7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7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7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>
                <a:solidFill>
                  <a:srgbClr val="082C24"/>
                </a:solidFill>
                <a:latin typeface="Avenir Next"/>
                <a:ea typeface="Avenir Next"/>
                <a:cs typeface="Avenir Next"/>
              </a:rPr>
              <a:t>Redeem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EF70A55-AB0D-435F-B1E4-FF734D5B7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533900"/>
            <a:ext cx="29146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35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35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35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35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35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35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35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35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35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40564E"/>
                </a:solidFill>
                <a:latin typeface="Avenir Next"/>
                <a:ea typeface="Avenir Next"/>
                <a:cs typeface="Avenir Next"/>
              </a:rPr>
              <a:t>The ticket cannot be used twice.</a:t>
            </a:r>
          </a:p>
        </p:txBody>
      </p:sp>
    </p:spTree>
    <p:extLst>
      <p:ext uri="{BB962C8B-B14F-4D97-AF65-F5344CB8AC3E}">
        <p14:creationId xmlns:p14="http://schemas.microsoft.com/office/powerpoint/2010/main" val="209916670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82C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ACD217D-F8CA-43C4-87FA-B66568BFB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rPr>
              <a:t>10 · SETTLEMENT &amp; ACCESS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50348C-7F1D-43F4-A6E1-0BD9CDDAD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52475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4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34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34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34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34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34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34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34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34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34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pPr>
            <a:r>
              <a:rPr sz="3450" b="1">
                <a:solidFill>
                  <a:srgbClr val="F5F2E8"/>
                </a:solidFill>
                <a:latin typeface="Avenir Next"/>
                <a:ea typeface="Avenir Next"/>
                <a:cs typeface="Avenir Next"/>
              </a:rPr>
              <a:t>Rules stay visible when the match moves 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8B44D8-7C55-4BF8-B630-6528081DE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38275"/>
            <a:ext cx="1009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575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575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575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575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575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575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575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575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575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>
                <a:solidFill>
                  <a:srgbClr val="A9D9B9"/>
                </a:solidFill>
                <a:latin typeface="Avenir Next"/>
                <a:ea typeface="Avenir Next"/>
                <a:cs typeface="Avenir Next"/>
              </a:rPr>
              <a:t>Escrow handles contest funds; the gatekeeper handles low-connectivity entry.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1AEB86-251A-4C01-8F86-5B50ABA2C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7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8D95ED-26DA-47EA-8F90-5A4D396EE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AFC5B8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975" b="1">
                <a:solidFill>
                  <a:srgbClr val="AFC5B8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975" b="1">
                <a:solidFill>
                  <a:srgbClr val="AFC5B8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975" b="1">
                <a:solidFill>
                  <a:srgbClr val="AFC5B8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975" b="1">
                <a:solidFill>
                  <a:srgbClr val="AFC5B8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975" b="1">
                <a:solidFill>
                  <a:srgbClr val="AFC5B8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975" b="1">
                <a:solidFill>
                  <a:srgbClr val="AFC5B8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975" b="1">
                <a:solidFill>
                  <a:srgbClr val="AFC5B8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975" b="1">
                <a:solidFill>
                  <a:srgbClr val="AFC5B8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975" b="1">
                <a:solidFill>
                  <a:srgbClr val="AFC5B8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AFC5B8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AFC5B8"/>
                </a:solidFill>
                <a:latin typeface="Avenir Next"/>
                <a:ea typeface="Avenir Next"/>
                <a:cs typeface="Avenir Next"/>
              </a:rPr>
              <a:t>CRICKETVERSE  ·  CAPSTONE PROTOTYPE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A551C6-C08B-491F-A134-E33471974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579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0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defPPr>
            <a:lvl1pPr algn="r">
              <a:defRPr sz="10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1pPr>
            <a:lvl2pPr algn="r">
              <a:defRPr sz="10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2pPr>
            <a:lvl3pPr algn="r">
              <a:defRPr sz="10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3pPr>
            <a:lvl4pPr algn="r">
              <a:defRPr sz="10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4pPr>
            <a:lvl5pPr algn="r">
              <a:defRPr sz="10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5pPr>
            <a:lvl6pPr algn="r">
              <a:defRPr sz="10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6pPr>
            <a:lvl7pPr algn="r">
              <a:defRPr sz="10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7pPr>
            <a:lvl8pPr algn="r">
              <a:defRPr sz="10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8pPr>
            <a:lvl9pPr algn="r">
              <a:defRPr sz="10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r">
              <a:defRPr sz="10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E7B942"/>
                </a:solidFill>
                <a:latin typeface="Avenir Next"/>
                <a:ea typeface="Avenir Next"/>
                <a:cs typeface="Avenir Next"/>
              </a:rPr>
              <a:t>11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41F29F-A581-49B3-84A7-C9988FAB6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209800"/>
            <a:ext cx="19050" cy="3409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756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B4A7A6-E4C2-4573-B9F5-ADFF60E4C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47900"/>
            <a:ext cx="419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rPr>
              <a:t>TOURNAMENT ESCROW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1C04FA-8123-4478-AB0F-9A4A4318A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76525"/>
            <a:ext cx="44005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58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58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58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58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58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58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58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58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58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58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58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pPr>
            <a:r>
              <a:rPr sz="5850" b="1">
                <a:solidFill>
                  <a:srgbClr val="F5F2E8"/>
                </a:solidFill>
                <a:latin typeface="Avenir Next"/>
                <a:ea typeface="Avenir Next"/>
                <a:cs typeface="Avenir Next"/>
              </a:rPr>
              <a:t>95 / 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495D65-1BAB-4738-A49B-EF3D6BA94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3648075"/>
            <a:ext cx="4552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57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57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57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57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57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57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57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57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57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>
                <a:solidFill>
                  <a:srgbClr val="A9D9B9"/>
                </a:solidFill>
                <a:latin typeface="Avenir Next"/>
                <a:ea typeface="Avenir Next"/>
                <a:cs typeface="Avenir Next"/>
              </a:rPr>
              <a:t>95% to winners · 5% to treasury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47BBD4-9F6C-4BCD-8147-6480F2A7D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4267200"/>
            <a:ext cx="45148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425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425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425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425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425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425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425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425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425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>
                <a:solidFill>
                  <a:srgbClr val="F5F2E8"/>
                </a:solidFill>
                <a:latin typeface="Avenir Next"/>
                <a:ea typeface="Avenir Next"/>
                <a:cs typeface="Avenir Next"/>
              </a:rPr>
              <a:t>Full refunds if the contest is cancelled. An organiser locks entries and settles winners.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A0A938-65A3-45D7-879A-F42880B77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247900"/>
            <a:ext cx="419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rPr>
              <a:t>OFFLINE GATEKEEPER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5085F4-D725-49E9-93E3-158A03ADE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7622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6A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3A2A59-5970-4A84-A54C-4E05ADA80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7622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defPPr>
            <a:lvl1pPr algn="ctr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1pPr>
            <a:lvl2pPr algn="ctr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2pPr>
            <a:lvl3pPr algn="ctr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3pPr>
            <a:lvl4pPr algn="ctr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4pPr>
            <a:lvl5pPr algn="ctr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5pPr>
            <a:lvl6pPr algn="ctr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6pPr>
            <a:lvl7pPr algn="ctr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7pPr>
            <a:lvl8pPr algn="ctr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8pPr>
            <a:lvl9pPr algn="ctr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01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C41A0B-9883-4C8B-B958-067CC1206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2733675"/>
            <a:ext cx="3667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50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50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50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50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50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50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50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50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50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>
                <a:solidFill>
                  <a:srgbClr val="F5F2E8"/>
                </a:solidFill>
                <a:latin typeface="Avenir Next"/>
                <a:ea typeface="Avenir Next"/>
                <a:cs typeface="Avenir Next"/>
              </a:rPr>
              <a:t>Cache ticket data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334709-9352-4FFD-871A-4D6E35A5A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4099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B9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9C0B9DA-7D7B-418E-A27C-B836316EC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4099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defPPr>
            <a:lvl1pPr algn="ctr">
              <a:defRPr sz="97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1pPr>
            <a:lvl2pPr algn="ctr">
              <a:defRPr sz="97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2pPr>
            <a:lvl3pPr algn="ctr">
              <a:defRPr sz="97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3pPr>
            <a:lvl4pPr algn="ctr">
              <a:defRPr sz="97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4pPr>
            <a:lvl5pPr algn="ctr">
              <a:defRPr sz="97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5pPr>
            <a:lvl6pPr algn="ctr">
              <a:defRPr sz="97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6pPr>
            <a:lvl7pPr algn="ctr">
              <a:defRPr sz="97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7pPr>
            <a:lvl8pPr algn="ctr">
              <a:defRPr sz="97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8pPr>
            <a:lvl9pPr algn="ctr">
              <a:defRPr sz="97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ctr">
              <a:defRPr sz="97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082C24"/>
                </a:solidFill>
                <a:latin typeface="Avenir Next"/>
                <a:ea typeface="Avenir Next"/>
                <a:cs typeface="Avenir Next"/>
              </a:rPr>
              <a:t>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75DC535-A686-42BD-A67E-8ABE07E9E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381375"/>
            <a:ext cx="3667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50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50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50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50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50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50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50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50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50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>
                <a:solidFill>
                  <a:srgbClr val="F5F2E8"/>
                </a:solidFill>
                <a:latin typeface="Avenir Next"/>
                <a:ea typeface="Avenir Next"/>
                <a:cs typeface="Avenir Next"/>
              </a:rPr>
              <a:t>Verify the signed pass locally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88870F5-2A08-485B-AC9E-D41F8331A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0576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6A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D1BA771-F71E-4A75-8E5F-043F7228F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0576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defPPr>
            <a:lvl1pPr algn="ctr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1pPr>
            <a:lvl2pPr algn="ctr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2pPr>
            <a:lvl3pPr algn="ctr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3pPr>
            <a:lvl4pPr algn="ctr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4pPr>
            <a:lvl5pPr algn="ctr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5pPr>
            <a:lvl6pPr algn="ctr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6pPr>
            <a:lvl7pPr algn="ctr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7pPr>
            <a:lvl8pPr algn="ctr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8pPr>
            <a:lvl9pPr algn="ctr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7709E38-875D-4D9C-B9AC-E01FE24F5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4029075"/>
            <a:ext cx="3667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50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50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50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50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50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50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50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50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50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>
                <a:solidFill>
                  <a:srgbClr val="F5F2E8"/>
                </a:solidFill>
                <a:latin typeface="Avenir Next"/>
                <a:ea typeface="Avenir Next"/>
                <a:cs typeface="Avenir Next"/>
              </a:rPr>
              <a:t>Queue check-ins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9B46EF9-E719-4E09-9362-0D3450540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7053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6A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88EAF54-2865-4CA8-A5CE-5A4F173FD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7053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defPPr>
            <a:lvl1pPr algn="ctr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1pPr>
            <a:lvl2pPr algn="ctr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2pPr>
            <a:lvl3pPr algn="ctr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3pPr>
            <a:lvl4pPr algn="ctr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4pPr>
            <a:lvl5pPr algn="ctr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5pPr>
            <a:lvl6pPr algn="ctr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6pPr>
            <a:lvl7pPr algn="ctr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7pPr>
            <a:lvl8pPr algn="ctr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8pPr>
            <a:lvl9pPr algn="ctr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BAE6452-9FD7-4996-AE9B-6B5FFCDEC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4676775"/>
            <a:ext cx="3667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50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50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50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50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50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50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50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50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50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>
                <a:solidFill>
                  <a:srgbClr val="F5F2E8"/>
                </a:solidFill>
                <a:latin typeface="Avenir Next"/>
                <a:ea typeface="Avenir Next"/>
                <a:cs typeface="Avenir Next"/>
              </a:rPr>
              <a:t>Sync when connectivity returns</a:t>
            </a:r>
          </a:p>
        </p:txBody>
      </p:sp>
    </p:spTree>
    <p:extLst>
      <p:ext uri="{BB962C8B-B14F-4D97-AF65-F5344CB8AC3E}">
        <p14:creationId xmlns:p14="http://schemas.microsoft.com/office/powerpoint/2010/main" val="176103941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5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D67318-A08F-4C1A-A668-BCA8BCF76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rPr>
              <a:t>11 · CURRENT STATUS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580196-C5AC-4435-BB9A-C64EFEB31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52475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4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34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34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34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34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34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34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34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34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34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pPr>
            <a:r>
              <a:rPr sz="3450" b="1">
                <a:solidFill>
                  <a:srgbClr val="082C24"/>
                </a:solidFill>
                <a:latin typeface="Avenir Next"/>
                <a:ea typeface="Avenir Next"/>
                <a:cs typeface="Avenir Next"/>
              </a:rPr>
              <a:t>A local prototype with a clear path forward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4BD399-1DED-4C10-BDCF-598202D6E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38275"/>
            <a:ext cx="1009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rPr>
              <a:t>Separate the working demo flows from what needs external setup.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480359-68C6-4C9B-94E9-89D05F1E3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325422-AE8C-444D-90CF-BA34226FA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975" b="1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975" b="1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975" b="1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975" b="1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975" b="1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975" b="1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975" b="1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975" b="1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975" b="1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718078"/>
                </a:solidFill>
                <a:latin typeface="Avenir Next"/>
                <a:ea typeface="Avenir Next"/>
                <a:cs typeface="Avenir Next"/>
              </a:rPr>
              <a:t>CRICKETVERSE  ·  CAPSTONE PROTOTYPE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7EADE5-FF0A-448D-B953-768667624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579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defPPr>
            <a:lvl1pPr algn="r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1pPr>
            <a:lvl2pPr algn="r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2pPr>
            <a:lvl3pPr algn="r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3pPr>
            <a:lvl4pPr algn="r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4pPr>
            <a:lvl5pPr algn="r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5pPr>
            <a:lvl6pPr algn="r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6pPr>
            <a:lvl7pPr algn="r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7pPr>
            <a:lvl8pPr algn="r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8pPr>
            <a:lvl9pPr algn="r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r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rPr>
              <a:t>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19AC3F-7EF1-48B3-807C-305BC84BD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00275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20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20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20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20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20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20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20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20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20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1D6A50"/>
                </a:solidFill>
                <a:latin typeface="Avenir Next"/>
                <a:ea typeface="Avenir Next"/>
                <a:cs typeface="Avenir Next"/>
              </a:rPr>
              <a:t>IN THE CODE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DA3BD0-3148-4561-954C-52A324CDC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47950"/>
            <a:ext cx="4762500" cy="2076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725" b="0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725" b="0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725" b="0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725" b="0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725" b="0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725" b="0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725" b="0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725" b="0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725" b="0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pPr>
            <a:r>
              <a:rPr sz="1725" b="0">
                <a:solidFill>
                  <a:srgbClr val="082C24"/>
                </a:solidFill>
                <a:latin typeface="Avenir Next"/>
                <a:ea typeface="Avenir Next"/>
                <a:cs typeface="Avenir Next"/>
              </a:rPr>
              <a:t>Local Hardhat contracts</a:t>
            </a:r>
          </a:p>
          <a:p xmlns:a="http://schemas.openxmlformats.org/drawingml/2006/main">
            <a:pPr algn="l">
              <a:defRPr sz="1725" b="0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pPr>
            <a:r>
              <a:rPr sz="1725" b="0">
                <a:solidFill>
                  <a:srgbClr val="082C24"/>
                </a:solidFill>
                <a:latin typeface="Avenir Next"/>
                <a:ea typeface="Avenir Next"/>
                <a:cs typeface="Avenir Next"/>
              </a:rPr>
              <a:t>4,800-player catalogue</a:t>
            </a:r>
          </a:p>
          <a:p xmlns:a="http://schemas.openxmlformats.org/drawingml/2006/main">
            <a:pPr algn="l">
              <a:defRPr sz="1725" b="0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pPr>
            <a:r>
              <a:rPr sz="1725" b="0">
                <a:solidFill>
                  <a:srgbClr val="082C24"/>
                </a:solidFill>
                <a:latin typeface="Avenir Next"/>
                <a:ea typeface="Avenir Next"/>
                <a:cs typeface="Avenir Next"/>
              </a:rPr>
              <a:t>Cricket API routes for fixtures, XI and points</a:t>
            </a:r>
          </a:p>
          <a:p xmlns:a="http://schemas.openxmlformats.org/drawingml/2006/main">
            <a:pPr algn="l">
              <a:defRPr sz="1725" b="0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pPr>
            <a:r>
              <a:rPr sz="1725" b="0">
                <a:solidFill>
                  <a:srgbClr val="082C24"/>
                </a:solidFill>
                <a:latin typeface="Avenir Next"/>
                <a:ea typeface="Avenir Next"/>
                <a:cs typeface="Avenir Next"/>
              </a:rPr>
              <a:t>30-second points refresh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7CEBC0-DBED-4317-AEAA-9BF2DFB43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190750"/>
            <a:ext cx="19050" cy="3105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45CA20-CBDE-4A82-AA04-934B0B0A8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200275"/>
            <a:ext cx="457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E47B55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200" b="1">
                <a:solidFill>
                  <a:srgbClr val="E47B55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200" b="1">
                <a:solidFill>
                  <a:srgbClr val="E47B55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200" b="1">
                <a:solidFill>
                  <a:srgbClr val="E47B55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200" b="1">
                <a:solidFill>
                  <a:srgbClr val="E47B55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200" b="1">
                <a:solidFill>
                  <a:srgbClr val="E47B55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200" b="1">
                <a:solidFill>
                  <a:srgbClr val="E47B55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200" b="1">
                <a:solidFill>
                  <a:srgbClr val="E47B55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200" b="1">
                <a:solidFill>
                  <a:srgbClr val="E47B55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200" b="1">
                <a:solidFill>
                  <a:srgbClr val="E47B55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E47B55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E47B55"/>
                </a:solidFill>
                <a:latin typeface="Avenir Next"/>
                <a:ea typeface="Avenir Next"/>
                <a:cs typeface="Avenir Next"/>
              </a:rPr>
              <a:t>NEEDS CONFIGURATION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713385-4BD0-4777-9253-7E5745D03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647950"/>
            <a:ext cx="4762500" cy="2076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650" b="0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650" b="0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650" b="0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650" b="0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650" b="0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650" b="0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650" b="0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650" b="0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650" b="0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pPr>
            <a:r>
              <a:rPr sz="1650" b="0">
                <a:solidFill>
                  <a:srgbClr val="082C24"/>
                </a:solidFill>
                <a:latin typeface="Avenir Next"/>
                <a:ea typeface="Avenir Next"/>
                <a:cs typeface="Avenir Next"/>
              </a:rPr>
              <a:t>CRICKET_API_KEY and provider access</a:t>
            </a:r>
          </a:p>
          <a:p xmlns:a="http://schemas.openxmlformats.org/drawingml/2006/main">
            <a:pPr algn="l">
              <a:defRPr sz="1650" b="0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pPr>
            <a:r>
              <a:rPr sz="1650" b="0">
                <a:solidFill>
                  <a:srgbClr val="082C24"/>
                </a:solidFill>
                <a:latin typeface="Avenir Next"/>
                <a:ea typeface="Avenir Next"/>
                <a:cs typeface="Avenir Next"/>
              </a:rPr>
              <a:t>Confirmed lineups in the feed</a:t>
            </a:r>
          </a:p>
          <a:p xmlns:a="http://schemas.openxmlformats.org/drawingml/2006/main">
            <a:pPr algn="l">
              <a:defRPr sz="1650" b="0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pPr>
            <a:r>
              <a:rPr sz="1650" b="0">
                <a:solidFill>
                  <a:srgbClr val="082C24"/>
                </a:solidFill>
                <a:latin typeface="Avenir Next"/>
                <a:ea typeface="Avenir Next"/>
                <a:cs typeface="Avenir Next"/>
              </a:rPr>
              <a:t>Public Amoy deployment and HTTPS hosting</a:t>
            </a:r>
          </a:p>
          <a:p xmlns:a="http://schemas.openxmlformats.org/drawingml/2006/main">
            <a:pPr algn="l">
              <a:defRPr sz="1650" b="0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pPr>
            <a:r>
              <a:rPr sz="1650" b="0">
                <a:solidFill>
                  <a:srgbClr val="082C24"/>
                </a:solidFill>
                <a:latin typeface="Avenir Next"/>
                <a:ea typeface="Avenir Next"/>
                <a:cs typeface="Avenir Next"/>
              </a:rPr>
              <a:t>Live Chainlink subscription (not configured)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ACFE3E-FA1D-487F-94D3-87D91EA1A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91125"/>
            <a:ext cx="1062990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5E6B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A9E63E-44F7-467B-8DB8-856114748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286375"/>
            <a:ext cx="10191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4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4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4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4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4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4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4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4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4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>
                <a:solidFill>
                  <a:srgbClr val="082C24"/>
                </a:solidFill>
                <a:latin typeface="Avenir Next"/>
                <a:ea typeface="Avenir Next"/>
                <a:cs typeface="Avenir Next"/>
              </a:rPr>
              <a:t>When the app says “offline local cache mode,” the browser has not reached the local app server.</a:t>
            </a:r>
          </a:p>
        </p:txBody>
      </p:sp>
    </p:spTree>
    <p:extLst>
      <p:ext uri="{BB962C8B-B14F-4D97-AF65-F5344CB8AC3E}">
        <p14:creationId xmlns:p14="http://schemas.microsoft.com/office/powerpoint/2010/main" val="121335673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82C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02C99F-4A11-44DD-9974-FBFD5B352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B9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2CCCFD-68CA-4BCF-A8E6-94387A56E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95325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20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20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20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20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20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20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20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20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20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E7B942"/>
                </a:solidFill>
                <a:latin typeface="Avenir Next"/>
                <a:ea typeface="Avenir Next"/>
                <a:cs typeface="Avenir Next"/>
              </a:rPr>
              <a:t>CRICKETVERSE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6F4903-88A7-4F0A-8E48-71A4CC3E1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52575"/>
            <a:ext cx="9620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510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510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510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510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510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510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510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510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510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510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510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pPr>
            <a:r>
              <a:rPr sz="5100" b="1">
                <a:solidFill>
                  <a:srgbClr val="F5F2E8"/>
                </a:solidFill>
                <a:latin typeface="Avenir Next"/>
                <a:ea typeface="Avenir Next"/>
                <a:cs typeface="Avenir Next"/>
              </a:rPr>
              <a:t>Bring the matchday</a:t>
            </a:r>
          </a:p>
          <a:p xmlns:a="http://schemas.openxmlformats.org/drawingml/2006/main">
            <a:pPr algn="l">
              <a:defRPr sz="510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pPr>
            <a:r>
              <a:rPr sz="5100" b="1">
                <a:solidFill>
                  <a:srgbClr val="F5F2E8"/>
                </a:solidFill>
                <a:latin typeface="Avenir Next"/>
                <a:ea typeface="Avenir Next"/>
                <a:cs typeface="Avenir Next"/>
              </a:rPr>
              <a:t>closer to the fan.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F6AD65-B97E-4EC8-B6A6-0E3EB52E7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76675"/>
            <a:ext cx="9715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756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7592B4-0D2C-4D6F-BA62-0030CB747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24325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9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9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9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9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9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9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9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9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9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9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pPr>
            <a:r>
              <a:rPr sz="1950" b="0">
                <a:solidFill>
                  <a:srgbClr val="A9D9B9"/>
                </a:solidFill>
                <a:latin typeface="Avenir Next"/>
                <a:ea typeface="Avenir Next"/>
                <a:cs typeface="Avenir Next"/>
              </a:rPr>
              <a:t>Live match data · collectible players · fairer ticket rules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279968-54BC-4A2B-93D4-254F72B21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372100"/>
            <a:ext cx="571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22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22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22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22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22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22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22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22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22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pPr>
            <a:r>
              <a:rPr sz="2250" b="1">
                <a:solidFill>
                  <a:srgbClr val="E7B942"/>
                </a:solidFill>
                <a:latin typeface="Avenir Next"/>
                <a:ea typeface="Avenir Next"/>
                <a:cs typeface="Avenir Next"/>
              </a:rPr>
              <a:t>Thank you  ·  Questions?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FC4136-9023-4416-AD9C-61B04E139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915025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275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275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275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275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275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275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275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275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275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F5F2E8"/>
                </a:solidFill>
                <a:latin typeface="Avenir Next"/>
                <a:ea typeface="Avenir Next"/>
                <a:cs typeface="Avenir Next"/>
              </a:rPr>
              <a:t>Tejaswini Kunkulagunta  ·  CS23B032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236C0E-4022-42C6-AC9B-6EDA54399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579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0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defPPr>
            <a:lvl1pPr algn="r">
              <a:defRPr sz="10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1pPr>
            <a:lvl2pPr algn="r">
              <a:defRPr sz="10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2pPr>
            <a:lvl3pPr algn="r">
              <a:defRPr sz="10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3pPr>
            <a:lvl4pPr algn="r">
              <a:defRPr sz="10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4pPr>
            <a:lvl5pPr algn="r">
              <a:defRPr sz="10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5pPr>
            <a:lvl6pPr algn="r">
              <a:defRPr sz="10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6pPr>
            <a:lvl7pPr algn="r">
              <a:defRPr sz="10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7pPr>
            <a:lvl8pPr algn="r">
              <a:defRPr sz="10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8pPr>
            <a:lvl9pPr algn="r">
              <a:defRPr sz="10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r">
              <a:defRPr sz="10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E7B942"/>
                </a:solidFill>
                <a:latin typeface="Avenir Next"/>
                <a:ea typeface="Avenir Next"/>
                <a:cs typeface="Avenir Next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07845600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2026-10-25T08:04:19.3280000Z</dcterms:created>
  <dcterms:modified xsi:type="dcterms:W3CDTF">2026-10-25T08:04:19.3280000Z</dcterms:modified>
</coreProperties>
</file>