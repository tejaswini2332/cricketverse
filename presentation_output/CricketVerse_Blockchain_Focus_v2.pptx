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2b331855644201" /><Relationship Type="http://schemas.openxmlformats.org/officeDocument/2006/relationships/extended-properties" Target="/docProps/app.xml" Id="R780099a1dd474ea5" /><Relationship Type="http://schemas.openxmlformats.org/officeDocument/2006/relationships/officeDocument" Target="/ppt/presentation.xml" Id="R819440f1c07d48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2cfc5dce0b4828"/>
  </p:sldMasterIdLst>
  <p:notesMasterIdLst>
    <p:notesMasterId xmlns:r="http://schemas.openxmlformats.org/officeDocument/2006/relationships" r:id="R7048ef36a8844b7f"/>
  </p:notesMasterIdLst>
  <p:sldIdLst>
    <p:sldId xmlns:r="http://schemas.openxmlformats.org/officeDocument/2006/relationships" id="256" r:id="R14b43e96fba94274"/>
    <p:sldId xmlns:r="http://schemas.openxmlformats.org/officeDocument/2006/relationships" id="257" r:id="R1da59f8420844164"/>
    <p:sldId xmlns:r="http://schemas.openxmlformats.org/officeDocument/2006/relationships" id="258" r:id="Rc41f55bcd8e84993"/>
    <p:sldId xmlns:r="http://schemas.openxmlformats.org/officeDocument/2006/relationships" id="259" r:id="Re006c88b4d304427"/>
    <p:sldId xmlns:r="http://schemas.openxmlformats.org/officeDocument/2006/relationships" id="260" r:id="Rf2f85070c55040a7"/>
    <p:sldId xmlns:r="http://schemas.openxmlformats.org/officeDocument/2006/relationships" id="261" r:id="Rc482fe386a914570"/>
    <p:sldId xmlns:r="http://schemas.openxmlformats.org/officeDocument/2006/relationships" id="262" r:id="R12449d5b818547c9"/>
    <p:sldId xmlns:r="http://schemas.openxmlformats.org/officeDocument/2006/relationships" id="263" r:id="Rd8664131bfe9483e"/>
    <p:sldId xmlns:r="http://schemas.openxmlformats.org/officeDocument/2006/relationships" id="264" r:id="R74aea47054114d71"/>
    <p:sldId xmlns:r="http://schemas.openxmlformats.org/officeDocument/2006/relationships" id="265" r:id="R00ca075f92ec4671"/>
    <p:sldId xmlns:r="http://schemas.openxmlformats.org/officeDocument/2006/relationships" id="266" r:id="Rd64fa73fcaf74aa9"/>
    <p:sldId xmlns:r="http://schemas.openxmlformats.org/officeDocument/2006/relationships" id="267" r:id="R0433ec93311d4875"/>
    <p:sldId xmlns:r="http://schemas.openxmlformats.org/officeDocument/2006/relationships" id="268" r:id="R89a9391811434f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eeb3955f084435" /><Relationship Type="http://schemas.openxmlformats.org/officeDocument/2006/relationships/slideMaster" Target="/ppt/slideMasters/slideMaster1.xml" Id="R642cfc5dce0b4828" /><Relationship Type="http://schemas.openxmlformats.org/officeDocument/2006/relationships/notesMaster" Target="/ppt/notesMasters/notesMaster1.xml" Id="R7048ef36a8844b7f" /><Relationship Type="http://schemas.openxmlformats.org/officeDocument/2006/relationships/presProps" Target="/ppt/presProps.xml" Id="Rdf92cbebd708432f" /><Relationship Type="http://schemas.openxmlformats.org/officeDocument/2006/relationships/tableStyles" Target="/ppt/tableStyles.xml" Id="R62a662f8de224e55" /><Relationship Type="http://schemas.openxmlformats.org/officeDocument/2006/relationships/slide" Target="/ppt/slides/slide1.xml" Id="R14b43e96fba94274" /><Relationship Type="http://schemas.openxmlformats.org/officeDocument/2006/relationships/slide" Target="/ppt/slides/slide2.xml" Id="R1da59f8420844164" /><Relationship Type="http://schemas.openxmlformats.org/officeDocument/2006/relationships/slide" Target="/ppt/slides/slide3.xml" Id="Rc41f55bcd8e84993" /><Relationship Type="http://schemas.openxmlformats.org/officeDocument/2006/relationships/slide" Target="/ppt/slides/slide4.xml" Id="Re006c88b4d304427" /><Relationship Type="http://schemas.openxmlformats.org/officeDocument/2006/relationships/slide" Target="/ppt/slides/slide5.xml" Id="Rf2f85070c55040a7" /><Relationship Type="http://schemas.openxmlformats.org/officeDocument/2006/relationships/slide" Target="/ppt/slides/slide6.xml" Id="Rc482fe386a914570" /><Relationship Type="http://schemas.openxmlformats.org/officeDocument/2006/relationships/slide" Target="/ppt/slides/slide7.xml" Id="R12449d5b818547c9" /><Relationship Type="http://schemas.openxmlformats.org/officeDocument/2006/relationships/slide" Target="/ppt/slides/slide8.xml" Id="Rd8664131bfe9483e" /><Relationship Type="http://schemas.openxmlformats.org/officeDocument/2006/relationships/slide" Target="/ppt/slides/slide9.xml" Id="R74aea47054114d71" /><Relationship Type="http://schemas.openxmlformats.org/officeDocument/2006/relationships/slide" Target="/ppt/slides/slide10.xml" Id="R00ca075f92ec4671" /><Relationship Type="http://schemas.openxmlformats.org/officeDocument/2006/relationships/slide" Target="/ppt/slides/slide11.xml" Id="Rd64fa73fcaf74aa9" /><Relationship Type="http://schemas.openxmlformats.org/officeDocument/2006/relationships/slide" Target="/ppt/slides/slide12.xml" Id="R0433ec93311d4875" /><Relationship Type="http://schemas.openxmlformats.org/officeDocument/2006/relationships/slide" Target="/ppt/slides/slide13.xml" Id="R89a9391811434f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07b1fdb1da49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5f79d06ddc4ccc" /><Relationship Type="http://schemas.openxmlformats.org/officeDocument/2006/relationships/notesMaster" Target="/ppt/notesMasters/notesMaster1.xml" Id="R29140b0ef4ce45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712c9ebb874095" /><Relationship Type="http://schemas.openxmlformats.org/officeDocument/2006/relationships/notesMaster" Target="/ppt/notesMasters/notesMaster1.xml" Id="R394cd486a54e47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76a5d1086849e2" /><Relationship Type="http://schemas.openxmlformats.org/officeDocument/2006/relationships/notesMaster" Target="/ppt/notesMasters/notesMaster1.xml" Id="R6ec07e30381f4b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b1c9b02f3c4e7b" /><Relationship Type="http://schemas.openxmlformats.org/officeDocument/2006/relationships/notesMaster" Target="/ppt/notesMasters/notesMaster1.xml" Id="Re90ed08775bf4b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ca4d0b9ba64ae6" /><Relationship Type="http://schemas.openxmlformats.org/officeDocument/2006/relationships/notesMaster" Target="/ppt/notesMasters/notesMaster1.xml" Id="R349b5153dd514cc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8bd0e0d9d1432d" /><Relationship Type="http://schemas.openxmlformats.org/officeDocument/2006/relationships/notesMaster" Target="/ppt/notesMasters/notesMaster1.xml" Id="R6077634b9e2e48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242831eee9457c" /><Relationship Type="http://schemas.openxmlformats.org/officeDocument/2006/relationships/notesMaster" Target="/ppt/notesMasters/notesMaster1.xml" Id="R4dcf6553ab0f4b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ca2e27d39c4b3c" /><Relationship Type="http://schemas.openxmlformats.org/officeDocument/2006/relationships/notesMaster" Target="/ppt/notesMasters/notesMaster1.xml" Id="Rc2474e1e1817459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e31627ef4f4cc6" /><Relationship Type="http://schemas.openxmlformats.org/officeDocument/2006/relationships/notesMaster" Target="/ppt/notesMasters/notesMaster1.xml" Id="R83557a64236a4a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dd4ba8f19143fa" /><Relationship Type="http://schemas.openxmlformats.org/officeDocument/2006/relationships/notesMaster" Target="/ppt/notesMasters/notesMaster1.xml" Id="Ree68d558b8214cd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b8715db52584985" /><Relationship Type="http://schemas.openxmlformats.org/officeDocument/2006/relationships/notesMaster" Target="/ppt/notesMasters/notesMaster1.xml" Id="R98f992bc1f964e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78a45ccaccb42e0" /><Relationship Type="http://schemas.openxmlformats.org/officeDocument/2006/relationships/notesMaster" Target="/ppt/notesMasters/notesMaster1.xml" Id="Rd19b989218734c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356e23a75a4ba2" /><Relationship Type="http://schemas.openxmlformats.org/officeDocument/2006/relationships/notesMaster" Target="/ppt/notesMasters/notesMaster1.xml" Id="R7cf0808d7dad4f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CricketVerse as a course prototype that connects matchday fantasy, player collectibles and ticketing. Live provider access depends on an API key and the provider feed; the default blockchain demo uses a local Hardhat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these as design problems addressed by the prototype, not claims about every cricket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Motivation: use a public ledger for shared ownership and rules, not as a replacement for the match-data API. The current demo uses local Hardhat; no public deployment is configured.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server/server.js and public/app.js implement provider-backed fixtures, playing XI and match points. BLOCKCHAIN_SETUP.md says the default chain is local Hardhat; the contracts are separate from the live sports API.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/api/matches/today and /api/match/:id/playingXI in server/server.js; server/scoringEngine.js requires exactly 11 players, caps the squad at 120 credits, and enforces role minimums. BLOCKCHAIN_SETUP.md states contest entries commit a squad hash.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/api/match/:id/points aggregates provider batting, bowling and catching point fields. public/app.js polls the endpoint every 30 seconds. Provider API access requires CRICKET_API_KEY and a successful provider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server/data/players_2000_2026.json, BLOCKCHAIN_SETUP.md, and contracts/PlayerCardNFT.sol. The catalogue is server data; a card must be registered on the deployed chain before its primary sale can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contracts/CRIC.sol and BLOCKCHAIN_SETUP.md. Local Hardhat demo uses the 50,000 CRIC faucet and a one-hour cooldown. Do not describe CRIC as a public or cash-equivalent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eight Solidity files in contracts/. BLOCKCHAIN_SETUP.md identifies CricketOracleConsumer as an authorized relay and states a live Chainlink Functions subscription is not configured.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contracts/MatchTicketNFT.sol and BLOCKCHAIN_SETUP.md. The contract enforces a 15% maximum markup and one-time redemption in the local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basis: contracts/TournamentPool.sol and BLOCKCHAIN_SETUP.md. Entry funds are held in escrow; the organiser locks the contest and submits winners. Refunds are available when the contest is cancelled.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expected impacts and proposed evaluation measures. No adoption, cost savings, anti-fraud rate or venue throughput improvement has been measured.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scope is a course prototype on local Hardhat. The cricket provider adapter requires CRICKET_API_KEY and feed coverage. No public deployment, live Chainlink Functions subscription or trusted automatic tournament settlement is configured.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a801fce59949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bd2cc252248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a8cba3dc84457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3263caefe48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e576ff098c43f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f551feea848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29214E-BE81-4EA6-940D-2DEA4B9767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3B816F-58AA-42C5-BC7A-4831B8D1A0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F5D0B87-5AFE-4100-985D-10C1B4127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BFC806-3888-4493-9F1A-CFF8D48CDC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B600BC1-52C8-4744-8865-82CB54ED66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7ABCFE-F7DC-44E9-9174-5644B1A81D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9EAE6C-0044-46B2-B901-A1965A2615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E31CDD1-77AD-488A-9675-20577F34345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8130D7-199D-4AFD-B92E-245BB84B7A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45073EC-A82B-4945-8E03-DCED24387B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0e9d624c474307" /><Relationship Type="http://schemas.openxmlformats.org/officeDocument/2006/relationships/slideLayout" Target="/ppt/slideLayouts/slideLayout1.xml" Id="R88381a9ba5354a77" /><Relationship Type="http://schemas.openxmlformats.org/officeDocument/2006/relationships/slideLayout" Target="/ppt/slideLayouts/slideLayout2.xml" Id="Rb79ae765336944ce" /><Relationship Type="http://schemas.openxmlformats.org/officeDocument/2006/relationships/slideLayout" Target="/ppt/slideLayouts/slideLayout3.xml" Id="R7373880c24df4d0b" /><Relationship Type="http://schemas.openxmlformats.org/officeDocument/2006/relationships/slideLayout" Target="/ppt/slideLayouts/slideLayout4.xml" Id="R31ea8a1a092f4b6a" /><Relationship Type="http://schemas.openxmlformats.org/officeDocument/2006/relationships/slideLayout" Target="/ppt/slideLayouts/slideLayout5.xml" Id="Rcefc5702811b463d" /><Relationship Type="http://schemas.openxmlformats.org/officeDocument/2006/relationships/slideLayout" Target="/ppt/slideLayouts/slideLayout6.xml" Id="Re995b39bcae94f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381a9ba5354a77"/>
    <p:sldLayoutId xmlns:r="http://schemas.openxmlformats.org/officeDocument/2006/relationships" id="2147483650" r:id="Rb79ae765336944ce"/>
    <p:sldLayoutId xmlns:r="http://schemas.openxmlformats.org/officeDocument/2006/relationships" id="2147483651" r:id="R7373880c24df4d0b"/>
    <p:sldLayoutId xmlns:r="http://schemas.openxmlformats.org/officeDocument/2006/relationships" id="2147483652" r:id="R31ea8a1a092f4b6a"/>
    <p:sldLayoutId xmlns:r="http://schemas.openxmlformats.org/officeDocument/2006/relationships" id="2147483653" r:id="Rcefc5702811b463d"/>
    <p:sldLayoutId xmlns:r="http://schemas.openxmlformats.org/officeDocument/2006/relationships" id="2147483654" r:id="Re995b39bcae94f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5e8c4e96274392" /><Relationship Type="http://schemas.openxmlformats.org/officeDocument/2006/relationships/notesSlide" Target="/ppt/notesSlides/notesSlide1.xml" Id="R505b850e75514f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183bc44304bd2" /><Relationship Type="http://schemas.openxmlformats.org/officeDocument/2006/relationships/notesSlide" Target="/ppt/notesSlides/notesSlide2.xml" Id="Rb52a693f77904b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8eef51239143db" /><Relationship Type="http://schemas.openxmlformats.org/officeDocument/2006/relationships/notesSlide" Target="/ppt/notesSlides/notesSlide3.xml" Id="R395bbeb3a6784c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489d6a7d444eae" /><Relationship Type="http://schemas.openxmlformats.org/officeDocument/2006/relationships/notesSlide" Target="/ppt/notesSlides/notesSlide4.xml" Id="R58080816b7d346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998bbadec14dd2" /><Relationship Type="http://schemas.openxmlformats.org/officeDocument/2006/relationships/notesSlide" Target="/ppt/notesSlides/notesSlide5.xml" Id="R49fd7e3567e049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96ccd2593043eb" /><Relationship Type="http://schemas.openxmlformats.org/officeDocument/2006/relationships/notesSlide" Target="/ppt/notesSlides/notesSlide6.xml" Id="R4cbee5c66bf4434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9a3a7ab38a41d2" /><Relationship Type="http://schemas.openxmlformats.org/officeDocument/2006/relationships/notesSlide" Target="/ppt/notesSlides/notesSlide7.xml" Id="R0b23a8137e7745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a37931a8f04bc5" /><Relationship Type="http://schemas.openxmlformats.org/officeDocument/2006/relationships/notesSlide" Target="/ppt/notesSlides/notesSlide8.xml" Id="R149a3c5e786344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0d86d63c124578" /><Relationship Type="http://schemas.openxmlformats.org/officeDocument/2006/relationships/notesSlide" Target="/ppt/notesSlides/notesSlide9.xml" Id="R9f9fc5a1e26642a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1ac377b798470b" /><Relationship Type="http://schemas.openxmlformats.org/officeDocument/2006/relationships/notesSlide" Target="/ppt/notesSlides/notesSlide10.xml" Id="Re0d643e28f77411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52d22bb909430b" /><Relationship Type="http://schemas.openxmlformats.org/officeDocument/2006/relationships/notesSlide" Target="/ppt/notesSlides/notesSlide11.xml" Id="R3d13c357403d44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3b7f0546714b67" /><Relationship Type="http://schemas.openxmlformats.org/officeDocument/2006/relationships/notesSlide" Target="/ppt/notesSlides/notesSlide12.xml" Id="Re46009cd7a3b4b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4a952caadf4a89" /><Relationship Type="http://schemas.openxmlformats.org/officeDocument/2006/relationships/notesSlide" Target="/ppt/notesSlides/notesSlide13.xml" Id="R82936317b19d46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B6B87-C814-4D6C-B4DB-F713F461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6D6B4-B449-4C1A-B7AA-B66B1AEC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191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B.TECH CAPSTONE  ·  BLOCKCHAIN &amp; WEB3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C1B38-6BF5-4D75-B6EB-A7A3C0CB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19225"/>
            <a:ext cx="6286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Cricket</a:t>
            </a:r>
          </a:p>
          <a:p xmlns:a="http://schemas.openxmlformats.org/drawingml/2006/main">
            <a:pPr algn="l">
              <a:def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Verse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B77FF-3EA4-4BA4-8BCE-88D05B63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Blockchain for portable fan ownership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C8259-39F5-418A-8317-0D68CE7D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Matchday XI · player cards · fairer tickets · transparent escrow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82A390-1C8D-46F0-AFE8-3BDFF3B8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569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490F9A-E31C-4870-8A8A-AE96DFFA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81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Tejaswini Kunkulagunta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ADD46-35D4-43AD-AE58-209F6626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B7C9BF"/>
                </a:solidFill>
                <a:latin typeface="Avenir Next"/>
                <a:ea typeface="Avenir Next"/>
                <a:cs typeface="Avenir Next"/>
              </a:rPr>
              <a:t>CS23B032  · 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F612E6-F3FB-4152-B36F-C3EF02C0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38350"/>
            <a:ext cx="2324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592"/>
          </a:bodyPr>
          <a:lstStyle xmlns:a="http://schemas.openxmlformats.org/drawingml/2006/main">
            <a:def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6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F829A-9A56-498E-A2E2-EFEEEC01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0"/>
            <a:ext cx="1543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CE404-49AE-4B25-BB51-CB2C59EBD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43350"/>
            <a:ext cx="274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PLAYERS IN TODAY’S XI POOL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92F178-735E-43C1-833D-4CA99B6C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2000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73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8795A1-AFD7-4BCF-9AC8-8F07CC8B5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56578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PICK YOUR SQUAD</a:t>
            </a:r>
          </a:p>
        </p:txBody>
      </p:sp>
    </p:spTree>
    <p:extLst>
      <p:ext uri="{BB962C8B-B14F-4D97-AF65-F5344CB8AC3E}">
        <p14:creationId xmlns:p14="http://schemas.microsoft.com/office/powerpoint/2010/main" val="1815150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D9B46-3273-4B9E-B84A-34E16081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01 ·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291AD-E4C7-49AF-9F13-55817F58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The fan experience is split across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2613C-FB12-4719-B75B-15B4C12E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14184-C429-4A0B-BB60-08E775F0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C2B48-A00F-49FE-88C5-8D5BC02B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48FE8-6959-4986-A9BA-6CC54BE0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847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match is shared. Ownership and trust are not.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17BC8-2088-49A9-B561-8CE5E8B2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73A36-9098-46D6-8446-56B2DFC4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Collectibles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7FB70-D6E7-4586-8EE9-2200898F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098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Player cards and fan rewards stay locked inside platform databases.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CC68C-445D-4F1B-BE2C-E6CDBDA0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146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4AD70-66BD-4589-A2A0-BB2D1E80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D2424-B73B-4B16-B216-AEC7BCB7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813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Fantasy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80EEDB-DC3D-49E0-A56D-3C511934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2004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Scoring and settlement can be difficult for fans to verify.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C004A3-439D-4461-9A35-43BC0523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05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7DDA13-A943-4071-A691-D38AEEB5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F87536-9717-4F89-9FB1-E6D186D5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719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Tickets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EBD48-85E0-4D52-BD17-86D0AA82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910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Resale can add markups while leaving organisers out of the loop.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5892AA-B820-4939-8ED4-ED43ACAE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5D60D5-D6BA-451F-B1CB-7A1E2E5C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625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B739D-C28E-4D1B-A50C-956D3476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625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26D21B-1DBA-4EE3-81AC-6A94219B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81600"/>
            <a:ext cx="666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Wallet setup and unreliable venue connectivity create friction.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079B3-025B-4344-A8E9-39B60169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743575"/>
            <a:ext cx="9334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5E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BEFC47-6341-4475-9DB9-EEA0F65E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57912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Motivation: give fans assets they can own and rules they can verify.</a:t>
            </a:r>
          </a:p>
        </p:txBody>
      </p:sp>
    </p:spTree>
    <p:extLst>
      <p:ext uri="{BB962C8B-B14F-4D97-AF65-F5344CB8AC3E}">
        <p14:creationId xmlns:p14="http://schemas.microsoft.com/office/powerpoint/2010/main" val="8532759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04D64-C873-41FA-8E92-2E4C4D55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 · WHY BLOCKCHAIN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5828C-389C-4839-B7AF-3A653F02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Use the chain where fans need shared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D2D89C-B23D-4C11-820D-3F70DECB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Keep fast-changing match data off-chain; put ownership and enforceable rules on-chain.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9B49B-0354-46FF-894A-EF0EA439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7A504E-FB29-4051-BD4F-41F48EDD7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5009A-D055-46C0-8998-CB3F05A6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98361-7A21-4AE8-B6B4-270411BF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ON-CHAIN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5B6161-8C64-4966-A9A8-D8B12263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46101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Wallet-owned cards and tickets</a:t>
            </a:r>
          </a:p>
          <a:p xmlns:a="http://schemas.openxmlformats.org/drawingml/2006/main">
            <a: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CRIC payments and escrow balances</a:t>
            </a:r>
          </a:p>
          <a:p xmlns:a="http://schemas.openxmlformats.org/drawingml/2006/main">
            <a: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Resale caps and one-time redemption</a:t>
            </a:r>
          </a:p>
          <a:p xmlns:a="http://schemas.openxmlformats.org/drawingml/2006/main">
            <a: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Transaction history anyone can inspect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0ACBF-9C6C-414F-80C7-020C2B6D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57425"/>
            <a:ext cx="19050" cy="3057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2BB0B-E918-42AF-9F2F-AE504265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OFF-CHAIN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2403F-9918-47B1-8541-0475D97F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71775"/>
            <a:ext cx="45529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Today’s fixtures and playing XIs</a:t>
            </a:r>
          </a:p>
          <a:p xmlns:a="http://schemas.openxmlformats.org/drawingml/2006/main">
            <a: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Live score and points feed</a:t>
            </a:r>
          </a:p>
          <a:p xmlns:a="http://schemas.openxmlformats.org/drawingml/2006/main">
            <a: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API caching and browser display</a:t>
            </a:r>
          </a:p>
          <a:p xmlns:a="http://schemas.openxmlformats.org/drawingml/2006/main">
            <a:pPr algn="l">
              <a:def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Fantasy data refresh and match status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48917-9AC6-4E73-BDC0-3AE5E2AC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1052512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3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2F794-3EE5-4249-8513-6396871A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91150"/>
            <a:ext cx="10096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The blockchain adds value by making asset ownership portable and transaction rules independently checkable.</a:t>
            </a:r>
          </a:p>
        </p:txBody>
      </p:sp>
    </p:spTree>
    <p:extLst>
      <p:ext uri="{BB962C8B-B14F-4D97-AF65-F5344CB8AC3E}">
        <p14:creationId xmlns:p14="http://schemas.microsoft.com/office/powerpoint/2010/main" val="13827384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B63D2D-FA97-4025-AADF-D21EE4AF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03 · 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09BA9-6833-4B78-B78B-6405DD68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APIs serve match data; contracts secure assets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1332A-CF58-4E51-932C-39DC975F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 wallet separately signs each local-chain action.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26076B-A241-468D-A9B9-AF4FB7A6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AD2D6-5013-4D82-A597-BCA26E2F5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786D48-4056-40D5-88B7-3D266A47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38799C-FB17-45FB-8C8C-B329F48A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428875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7E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610D7-DDAE-469E-8E87-C5433A50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38400"/>
            <a:ext cx="2009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CRICKET PROVIDER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6073F-1AAD-4E2E-B1FB-C5AC7836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20097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181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Fixtures · XI ·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BBB5F-EE3B-4B3A-ADFE-9E67F074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CricAPI / CricketData feed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4CF42-94C7-4A8D-8139-F3A7947D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286000"/>
            <a:ext cx="28575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DDE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71303-76DF-4E2C-B86D-8C5DF826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38400"/>
            <a:ext cx="2438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EXPRESS SERVER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7D473-F74C-4F01-8C2C-5F528716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52725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API adapter + cache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28C4A-5C9F-48FB-8182-EE78C951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28975"/>
            <a:ext cx="2438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Normalises provider responses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E6220-752D-4E59-AC25-F07395F5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86000"/>
            <a:ext cx="314325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5E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10AFD-1284-4F8B-B3E8-FBE19FFC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WEB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A60F1D-2B59-481A-A431-26A0B29D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52725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Matchday XI + cards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74E096-C3B4-4A6B-A949-CEDFBEB8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289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Browser renders status and scores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8B32C3-6010-4992-91C4-86E29BBA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3367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68271-FE02-4114-B0FA-3E52D629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33675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63E84-FDFE-477D-8488-48E8C945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0420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EB1363-2C0E-40FE-8543-90010F25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00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WALLET-SIGNED BLOCKCHAIN PATH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FFB396-8869-433B-8CBA-F7AF6A88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Wallet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F616B1-531D-4F2C-95AA-C8209CD2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91075"/>
            <a:ext cx="1219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signs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1E5C0D-CB71-4DF4-AA08-006653A2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52975"/>
            <a:ext cx="457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9C1397-0504-4758-AEAF-7F4C4587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910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Local Hardhat contracts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8D92E4-ED32-4692-9D52-4BBE94FC5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91075"/>
            <a:ext cx="3371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CRIC · cards · tickets · escrow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6856A4-A961-4ECA-B802-E85674072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721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Provider access needs a configured key and network connection. Contract demos default to a local chain.</a:t>
            </a:r>
          </a:p>
        </p:txBody>
      </p:sp>
    </p:spTree>
    <p:extLst>
      <p:ext uri="{BB962C8B-B14F-4D97-AF65-F5344CB8AC3E}">
        <p14:creationId xmlns:p14="http://schemas.microsoft.com/office/powerpoint/2010/main" val="5343485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78A27B-58E1-4007-AFAD-703A98F1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 · MATCHDAY XI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063AE-B540-4FF4-8429-698989DB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Choose 11 from today’s confirmed 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7372DB-B6CE-46D0-BAEC-A5296228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The API supplies the player pool; a squad hash links your picks to the on-chain contest entry.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F62A1D-CBD3-4CFE-9732-18478EEB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CD70E-2146-46C7-A398-C6B1E2E2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C21ABA-BA4D-4C0B-B392-BC8BB968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F8B98-D11A-41F4-B94A-F3D98AE4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52650"/>
            <a:ext cx="2428875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577"/>
          </a:bodyPr>
          <a:lstStyle xmlns:a="http://schemas.openxmlformats.org/drawingml/2006/main">
            <a:def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94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F33FF-3F3A-4D2F-BFC7-183448D7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14725"/>
            <a:ext cx="209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API players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BADF2-9833-47D8-ACE0-84E08E6C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95575"/>
            <a:ext cx="87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43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D5FEE1-55E5-4CE4-8B4A-A1607BE5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152650"/>
            <a:ext cx="23812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577"/>
          </a:bodyPr>
          <a:lstStyle xmlns:a="http://schemas.openxmlformats.org/drawingml/2006/main">
            <a:def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9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91833F-FB77-497C-9DD4-391DFEB1B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14725"/>
            <a:ext cx="2324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selected players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0A6A9C-4AF9-4B57-8360-EF46EE8A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43125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78817-DC34-4315-9018-4742C8A5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66950"/>
            <a:ext cx="2571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577"/>
          </a:bodyPr>
          <a:lstStyle xmlns:a="http://schemas.openxmlformats.org/drawingml/2006/main">
            <a:def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61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0042B-6632-4E0A-A576-9463637E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18135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CREDIT LIMIT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C37B22-3756-43A2-BD90-C067B39B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37909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Role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4D631-4144-4F02-AAC5-48D2094A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1624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At least 1 keeper · 3 batters · 3 bowlers · 1 all-rounder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1E222-1635-40A9-A8E4-1B010072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57800"/>
            <a:ext cx="1040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C751F-FC20-4652-B58B-3CB8FFA3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 120-credit cap and role minimums shape the squad. The live points feed remains an API input.</a:t>
            </a:r>
          </a:p>
        </p:txBody>
      </p:sp>
    </p:spTree>
    <p:extLst>
      <p:ext uri="{BB962C8B-B14F-4D97-AF65-F5344CB8AC3E}">
        <p14:creationId xmlns:p14="http://schemas.microsoft.com/office/powerpoint/2010/main" val="390132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75C797-5CBD-4C7A-BDCC-F422C596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05 · LIVE SCORING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C396DB-13EB-48C2-8DAD-6F826693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Fantasy points refresh from match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A64001-8481-49B7-B35F-FBAEE434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app reads provider points by player and updates the squad view.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F393A-E09C-4773-9B7C-B8EC9AF4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034A8-EBA2-470E-92BB-3CD5CFBE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CA970-8414-42F1-B6AF-B8BF0FDF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EDE000-A076-4F74-A8A3-85CA6BE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9009A6-E357-4DD5-8542-93A6491A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19075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Fetch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2FA48A-C40A-45F0-8DDB-6A8D15C1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098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Match points endpoint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965B9-F324-4030-9B06-CF800D0E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7177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FE5B4-3153-4840-B791-5F1F6E5C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9562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565BA-A972-4C72-AA61-5AB3B25F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9562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Group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21D88-A7D3-4085-9B31-16BA61CE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146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Batting · bowling · catching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C0A02-4DE2-43F0-AF28-A14214113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76650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3044C-E728-485E-8DCA-8481AABB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DB3E6-FAB3-4D45-9825-34CC6835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Match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550170-8F26-447C-A195-F4F87D60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195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Player names to selected XI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8D00DE-0445-49BE-86F4-147565F2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8152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52F84-7EAF-40C0-B8A2-733D815F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05375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D58A4C-10CC-4142-A966-3D8EB005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05375"/>
            <a:ext cx="1952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Refresh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8410D4-4053-4D7A-B8E1-7B067286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2442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Every 30 seconds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2406F0-5E9D-4A94-B81B-535EB7CD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2000250" cy="2381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082C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9A31CE-A9DA-459A-9B7C-78B12AED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33675"/>
            <a:ext cx="1695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52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30s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9CD993-3165-46D5-AA37-938A1B338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04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refresh interval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788927-B316-4805-9B96-4A3531E30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0386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While the match endpoint is reachable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713324-36F3-4AF1-8294-2455BA2F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674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A missing key, provider outage or incomplete feed stops live updates; cached/demo data is not presented as a live score.</a:t>
            </a:r>
          </a:p>
        </p:txBody>
      </p:sp>
    </p:spTree>
    <p:extLst>
      <p:ext uri="{BB962C8B-B14F-4D97-AF65-F5344CB8AC3E}">
        <p14:creationId xmlns:p14="http://schemas.microsoft.com/office/powerpoint/2010/main" val="1918925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3B4A1C-7172-4E17-95AC-A69A9DF3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06 · ON-CHAIN COLLECTIBLES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0B1CD-25E5-488E-AE30-D6A3DBAB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ERC-1155 cards put player assets in fan wallets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30D11-785D-4DF4-84D3-03EFEFC79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Player data starts in the catalogue; ownership and rarity are tracked by the contract.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775964-A0D6-4E89-9195-D482A4798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61487E-ED18-46F0-A10E-97DF4343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DD7A2-8CDD-42DA-B040-C2EA5F07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B30B09-DE5F-443B-8E1C-58817348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95525"/>
            <a:ext cx="3581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7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4,800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3C7A9-B7E8-4469-B01B-25B25ADD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player records in the catalogue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3AACB6-A4A9-43EC-B825-10097275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90750"/>
            <a:ext cx="190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F4ABD-AF21-4671-9B31-3684A65F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0275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RARITY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1D69F-34EF-4ABF-830F-9D4A6903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002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MULTIPLIER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2B019A-698B-4D12-AB66-70320E15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574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Common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6B612F-0439-4E12-8A19-B038EF0E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3847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30C2A1-7C30-402A-8DAF-D1237958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574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1.00×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C2BE7-AF3E-4AED-BA09-62506703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337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Uncommon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CD90CB-94B7-454D-962C-4E464523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1472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5AB61-A52B-40D7-8BE9-5B5678C3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337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1.10×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210062-D0F3-45BE-AF62-C1136AAA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099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Rare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D8C3CE-9FC3-4993-8F56-7C0AD661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9097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87686-918C-46EF-A85E-C46F7865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099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1.25×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AB214-6456-4B43-86C9-8ECED37BD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8622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Epic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D3071E-D2B4-45F4-A550-D43C8F6A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6722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C82FFC-3F52-4838-9FBA-81C81646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8622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1.50×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4C270D-31F8-4B2E-BFB2-FFBB7722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624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Legendary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39CDF2-D9FD-431E-8467-6AB562BE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43475"/>
            <a:ext cx="5667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9775CE-0CFB-49C2-973D-C9651C41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62475"/>
            <a:ext cx="2009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2.00×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90CF05-8334-4ABF-9134-366E69D4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81650"/>
            <a:ext cx="10334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 card must be registered on the chain before it can be bought; stats require an authorised updater.</a:t>
            </a:r>
          </a:p>
        </p:txBody>
      </p:sp>
    </p:spTree>
    <p:extLst>
      <p:ext uri="{BB962C8B-B14F-4D97-AF65-F5344CB8AC3E}">
        <p14:creationId xmlns:p14="http://schemas.microsoft.com/office/powerpoint/2010/main" val="4677603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AE2411-8E63-4DCD-BC00-94603A58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07 · TOKEN UTILITY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A792A-77D3-40DF-B800-D99923F9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CRIC moves value through on-chain fan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8B3169-6A2A-44C3-B854-0DDE61D1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demo token is used for primary card purchases, marketplace trades and contest entries.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575896-6F01-4FD5-ABF7-8C3EA4AF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168823-0C63-43AC-9AA3-120396AF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B58D2-A449-4F8E-B07C-5EA80D11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55440-BF6B-4D9E-BDCA-B78AC71BC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5381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pPr>
            <a:r>
              <a:rPr sz="7650" b="1">
                <a:solidFill>
                  <a:srgbClr val="14523F"/>
                </a:solidFill>
                <a:latin typeface="Avenir Next"/>
                <a:ea typeface="Avenir Next"/>
                <a:cs typeface="Avenir Next"/>
              </a:rPr>
              <a:t>50,000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7FD12-A183-4100-BAAE-F8245E38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CRIC per faucet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B140E-8FBD-44FF-AEE8-129FE22C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Buy a card · trade an asset · join an escrow contest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56C4D-6E34-47D3-B325-53024C0A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526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101F2-D5E5-4C83-B7DB-4BEC2EC3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241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14523F"/>
                </a:solidFill>
                <a:latin typeface="Avenir Next"/>
                <a:ea typeface="Avenir Next"/>
                <a:cs typeface="Avenir Next"/>
              </a:rPr>
              <a:t>10M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D81B5-4991-4E54-8BCB-0A5E0558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431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genesis supply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FA96F7-27E0-4FC3-9A90-1DD86977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718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C7D993-9C1C-4D44-A486-A9553A23A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956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1 hour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3A887B-4E6F-4E92-9776-055E5C07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faucet cooldown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DD3E8A-A77F-4391-BF3B-97CE18C8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433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A0AAB5-7CC4-4786-B1C8-69B95238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672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100M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66AD9A-B682-4189-BB72-87752A67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862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maximum supply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B2E923-F6BD-4AA1-A41E-A0B55693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106299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5E6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553F6-65BF-4B76-8D7D-D2D1A9AD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149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Local test token only · CRIC has no public-chain deployment or real-world cash value in this demo.</a:t>
            </a:r>
          </a:p>
        </p:txBody>
      </p:sp>
    </p:spTree>
    <p:extLst>
      <p:ext uri="{BB962C8B-B14F-4D97-AF65-F5344CB8AC3E}">
        <p14:creationId xmlns:p14="http://schemas.microsoft.com/office/powerpoint/2010/main" val="16218127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70D993-BB2A-4F3B-B0E9-B8FC2EAA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08 · SMART CONTRACTS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1D933-9EC5-4552-8209-845DF2E3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Eight contracts put product rules on-chain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96767-9379-45E0-8BB5-4B12DA35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The code governs tokens, cards, tickets, trades, polls and contest funds.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2F558-390F-422D-A1CA-A8FB9E53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3FF0F-ED60-45CA-8521-7611D519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16861-8258-468E-9AC7-F744DB09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A4F47A-1340-4AC0-8E5A-FD453461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904DB-8B37-4E57-AC0F-52411521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33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A6C154-D7D1-4692-9C64-910C8BE0C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333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Demo payments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5D04C-34A2-41A0-AEF7-90A6BF01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479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5BD9E-DE68-4222-8579-9FA27FE1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336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36C49-241D-47BB-8530-48BFE356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3336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PlayerCardNFT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DD5B65-889F-404F-AF72-D8ADBD06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336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Wallet-owned cards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51EA7-A89D-4E15-AFE3-B0488008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84797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574F8-C4B3-49E4-8EC2-0F6ABCEB0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188254-D27A-44C5-B324-4D4B983B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24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MatchTicketNFT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0915A2-894A-48F2-88E4-8701E5BA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24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Ticket + entry 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FC6FEB-C43F-4D03-8602-1F06A39D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385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426A12-EE0E-4A08-9E4C-F29A1DB4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2420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1C60D-79E0-4984-A8C9-14442BAA0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124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Marketplace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AB0670-DBD3-4561-AB63-BB67E965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242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Asset escrow · 5% royalty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61A893-603D-4914-85E4-08F390D4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63855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482745-FA3F-43E2-B255-78883479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147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7578F-3B50-49E7-A193-43365F55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147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TournamentPool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FD6021-F213-40C6-8FE8-7FDDB064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914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Entry escrow · prize/refund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789EFB-F322-4159-B2BA-EEAB9368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092359-500F-444A-89D5-A97B8319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1477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CA4054-F5F0-4C13-A73C-7608A25E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39147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FanPolls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395E6A-CF32-4B8C-BD42-7428DD42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9147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Wallet vote records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3EE9F1-3EB5-4334-A38A-1C5A68E0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429125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56123D-D3A9-4245-AF8A-3540AFF3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1AE20C-7C7C-4321-BE05-6653C646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05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CardSVGGenerator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E475D7-DFA7-43C4-89C8-63C19710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05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On-chain card art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046E46-EB7A-41C8-BC14-E0C06CEF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DF2CA0-306F-4A78-8FDA-A198F6400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053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F43DE4-7845-464C-B895-E3A14C3A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705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OracleConsumer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ECDF42-72C0-4F8B-9C68-15E33FB0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705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Authorized stats relay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E89E2A-1421-4464-AF81-50C74BA1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52197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4A122E1-9BA8-446F-8788-75DD3007E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57850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The stats relay is not connected to a live Chainlink Functions subscription.</a:t>
            </a:r>
          </a:p>
        </p:txBody>
      </p:sp>
    </p:spTree>
    <p:extLst>
      <p:ext uri="{BB962C8B-B14F-4D97-AF65-F5344CB8AC3E}">
        <p14:creationId xmlns:p14="http://schemas.microsoft.com/office/powerpoint/2010/main" val="139402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63DE4A-9C42-42B0-AAB0-25627AE0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09 · TICKETING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857BC-AF28-42B0-83DE-9AFC4439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The ticket contract blocks resale above 115%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9050D-DB2F-45AE-8774-E5EEC51A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 check in the ERC-721 contract makes the resale ceiling enforceable by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51CAE-9111-463E-92BE-5C396FC5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407D11-107B-4D94-8402-4F245B5F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1E5219-0F8A-4438-94CE-E925F047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DD957-3DE1-4688-960E-6B32BF2B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3619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MAXIMUM RESALE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68143F-B3F0-4419-BF62-5F6AFCAC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57475"/>
            <a:ext cx="4514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defRPr>
            </a:pPr>
            <a:r>
              <a:rPr sz="6450" b="1">
                <a:solidFill>
                  <a:srgbClr val="14523F"/>
                </a:solidFill>
                <a:latin typeface="Avenir Next"/>
                <a:ea typeface="Avenir Next"/>
                <a:cs typeface="Avenir Next"/>
              </a:rPr>
              <a:t>1.15×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433BE-544E-4FB9-A138-BB80128E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face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5D4231-6D07-40C1-B4A2-3A42B0D2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 listing above this ceiling reverts, even if the app accepts the request.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2EF0F-9A23-4857-860A-9845A701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47900"/>
            <a:ext cx="190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DDFD3-4BDF-41CA-9F79-B4DF2E89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8C8D9-8023-4AC3-A173-0DB72F89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324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AFA1EE-FB15-493C-9DEE-2D06F02F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50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Issue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E82121-E36E-463F-91DE-541E9331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050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Organiser sets the face value.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01289B-76AA-4D95-BF1B-14C8D0F91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1940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18667-6B28-4258-93C3-69960C58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67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CEA39F-E395-4956-818B-935E9E32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670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19A6BF-D9E4-410D-B4A8-137D3040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480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Resell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BA8A8-6020-4D87-BF7F-C0894ADC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480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Contract checks the proposed price.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2AE505-95A4-41DD-8460-282C07C7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6235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4CA2DB-8CB5-476A-AC41-5DE6B24A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10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2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CD2EF-ADB8-462E-A4F9-30C95FA4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100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838518-8D33-42B3-B6AD-9562CFFA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909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Scan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A42A61-B8C9-4BD7-9169-2E05C49A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9095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An authorised gatekeeper verifies entry.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74040E-3864-4254-85FD-57086B61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05300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ACA934-2459-40C7-A26E-79576CF8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52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7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702D9E-8CFE-4B5F-B48D-385973FE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5529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37EB9C-8625-422D-9A59-D0B0F70E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3390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Redeem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127CD3-38A4-4AE3-ADBB-913023E5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339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 ticket cannot be used twice.</a:t>
            </a:r>
          </a:p>
        </p:txBody>
      </p:sp>
    </p:spTree>
    <p:extLst>
      <p:ext uri="{BB962C8B-B14F-4D97-AF65-F5344CB8AC3E}">
        <p14:creationId xmlns:p14="http://schemas.microsoft.com/office/powerpoint/2010/main" val="5909146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C18E38-B641-4601-BB0D-B52C4937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10 · ESCROW &amp;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A76AE-1B42-45DF-9DB1-9C77A6C2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Escrow makes contest funds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0443E-9DD4-4400-A6BD-59489FD5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The contract controls deposits and refunds; an organiser still settles winners.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75E31-074E-4D91-9972-C6560149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C426E-C20E-4D08-9A38-670A863F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3B54E-687E-4DC0-B20D-929A394E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6CDE7-EA20-42C2-96AD-23F4EA81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09800"/>
            <a:ext cx="190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280C54-1938-4BEE-BED5-E25A224E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TOURNAMENT ESCROW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D363E-6413-4B9E-9CE3-B09FABFC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76525"/>
            <a:ext cx="4400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58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95 /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534F2-288F-4256-888E-079CB87A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64807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95% to winners · 5% to treasury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A7410-A224-404A-954E-0616648E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267200"/>
            <a:ext cx="4514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Funds stay in contract escrow until settlement. Cancelled contests allow full refunds.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9C3451-40C7-40BC-A5DA-526FCE95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ORGANISER SETTLEMENT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DEF1F-324C-405D-8DD8-ACF13253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B02AD-5CB4-4211-886E-E5F92EBB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A71AE2-8E47-468B-9489-362249AF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7336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Locks entries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DD2BB1-568D-4762-A494-6E5FA4B4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5C6EF-7263-494D-ADDD-880FE545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50EBA9-BA63-46E6-9729-2CD208C1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3813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Reviews the 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A7AF9-C7CC-4455-9C2B-48C49E0C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D592CE-4EA6-4A3B-BBC6-B0250FE7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576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CFF9F0-C1E9-4B92-8308-C664DFDF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0290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Selects winners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58D205-F224-4471-B6F1-B74ED0B3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6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9D9A1-1C32-475D-B434-6EBD2069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053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  <a:lvl1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1pPr>
            <a:lvl2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2pPr>
            <a:lvl3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3pPr>
            <a:lvl4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4pPr>
            <a:lvl5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5pPr>
            <a:lvl6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6pPr>
            <a:lvl7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7pPr>
            <a:lvl8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8pPr>
            <a:lvl9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0B5ADB-D5C2-4EB0-8E7A-395CBB85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676775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Submits settlement</a:t>
            </a:r>
          </a:p>
        </p:txBody>
      </p:sp>
    </p:spTree>
    <p:extLst>
      <p:ext uri="{BB962C8B-B14F-4D97-AF65-F5344CB8AC3E}">
        <p14:creationId xmlns:p14="http://schemas.microsoft.com/office/powerpoint/2010/main" val="10650527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2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30E249-A626-481D-B939-1305D790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11 · EXPECTED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D2915-17F0-49E4-A716-0C29BE05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Make fan trust easier to verify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EC295D-7E1A-48C7-AD52-7E5C7294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These are outcomes to measure as the prototype is exercised, not results claimed today.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F5A4B-7925-4236-B733-3CEECB57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16A036-58C3-4C64-AEAB-10A9C6E7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71807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6506D-0554-4A46-8FCF-EA67EF09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1D6A50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D0869-FCE4-4AAC-8F53-2D332E34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C27C67-3C9B-45F1-87F9-55D61359A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717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Portable ownership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DE9A7-1DD3-4A8E-874D-2722AD01D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717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Measure card transfers and wallet-held assets.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AB8982-F321-4F3F-A0A5-20911DED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146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15E56-13C3-4BED-AE7E-D718D6C5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21960-E8E7-4CE6-8D6B-655155692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908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Fairer ticket resale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932AD-02D3-4773-BA31-9B1020B5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908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Confirm over-cap listings revert in the contract.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0FDA8-11E2-406B-A1AF-A1CC0CB5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3377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4FC63-DD60-4F3E-954C-84D4C407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35DC67-73C3-44A9-B4AF-56CB7104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Traceable contest funds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FB60D-7FE4-433E-928F-772310B1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1000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Inspect deposits, payouts and refund events.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517898-1B21-4ADB-B3D8-595E6CD9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52925"/>
            <a:ext cx="9696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8FB6FF-962F-4B7D-B45E-1C33014D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495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B5403F-F67F-46C0-AFD4-C5185553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29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82C24"/>
                </a:solidFill>
                <a:latin typeface="Avenir Next"/>
                <a:ea typeface="Avenir Next"/>
                <a:cs typeface="Avenir Next"/>
              </a:rPr>
              <a:t>More resilient entry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C234D1-B272-46D0-8378-9DD8C88A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6291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40564E"/>
                </a:solidFill>
                <a:latin typeface="Avenir Next"/>
                <a:ea typeface="Avenir Next"/>
                <a:cs typeface="Avenir Next"/>
              </a:rPr>
              <a:t>Measure offline checks and successful later sync.</a:t>
            </a:r>
          </a:p>
        </p:txBody>
      </p:sp>
    </p:spTree>
    <p:extLst>
      <p:ext uri="{BB962C8B-B14F-4D97-AF65-F5344CB8AC3E}">
        <p14:creationId xmlns:p14="http://schemas.microsoft.com/office/powerpoint/2010/main" val="8387963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2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24632-BE85-4A53-9B55-70A56FBB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12 · PROTOTYPE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4526D-3F0C-4292-9E87-0233B388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345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 credible local demo, with clear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B7A76-C460-4E3D-982E-2DABF166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38275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The blockchain features work in a local environment; public and oracle setup remain future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14282-8886-4E29-9985-8A7F78E7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DFA8A-E08C-4DDE-A6CB-A91C2D7E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AFC5B8"/>
                </a:solidFill>
                <a:latin typeface="Avenir Next"/>
                <a:ea typeface="Avenir Next"/>
                <a:cs typeface="Avenir Next"/>
              </a:rPr>
              <a:t>CRICKETVERSE  ·  CAPSTONE PROTOTYPE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A5620-0E86-4DB8-8CE3-DD703BCF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45795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39631-79A1-444A-ACDD-A59037CA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90750"/>
            <a:ext cx="4619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IMPLEMENTED IN THE PROJECT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E3008-1811-4E2C-85EF-F8169B43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4619625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Eight local contracts</a:t>
            </a:r>
          </a:p>
          <a:p xmlns:a="http://schemas.openxmlformats.org/drawingml/2006/main">
            <a: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CRIC faucet: 50,000 per claim</a:t>
            </a:r>
          </a:p>
          <a:p xmlns:a="http://schemas.openxmlformats.org/drawingml/2006/main">
            <a: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API routes for matchday data</a:t>
            </a:r>
          </a:p>
          <a:p xmlns:a="http://schemas.openxmlformats.org/drawingml/2006/main">
            <a:pPr algn="l">
              <a:def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Cards, ticketing and contest 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8D9AE-B502-4D13-9817-2A6EE5AC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52650"/>
            <a:ext cx="190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75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4034A-A945-49EC-A41B-A896E72F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A9D9B9"/>
                </a:solidFill>
                <a:latin typeface="Avenir Next"/>
                <a:ea typeface="Avenir Next"/>
                <a:cs typeface="Avenir Next"/>
              </a:rPr>
              <a:t>NEXT TO CONFIGURE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247FA-C6B0-475D-BF96-B25F1B1D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09850"/>
            <a:ext cx="46863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Provider key and confirmed-XI access</a:t>
            </a:r>
          </a:p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Public Amoy deployment + HTTPS host</a:t>
            </a:r>
          </a:p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Live Chainlink Functions subscription</a:t>
            </a:r>
          </a:p>
          <a:p xmlns:a="http://schemas.openxmlformats.org/drawingml/2006/main">
            <a:pPr algn="l">
              <a:def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Automated match-result settlement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2A3B8-406C-4F15-8004-80B48D79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10525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B38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25CEA-4BB0-4CC4-AD92-19AE9FA8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933950"/>
            <a:ext cx="10134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Blockchain tracks assets and enforces rules; the match feed supplies live cricket data.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348A4D-DD5C-484E-95E5-314BE75D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defPPr>
            <a:lvl1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1pPr>
            <a:lvl2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2pPr>
            <a:lvl3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3pPr>
            <a:lvl4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4pPr>
            <a:lvl5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5pPr>
            <a:lvl6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6pPr>
            <a:lvl7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7pPr>
            <a:lvl8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8pPr>
            <a:lvl9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E7B942"/>
                </a:solidFill>
                <a:latin typeface="Avenir Next"/>
                <a:ea typeface="Avenir Next"/>
                <a:cs typeface="Avenir Next"/>
              </a:rPr>
              <a:t>Thank you  ·  Questions?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4B10A-99A5-43AA-93BD-0A7E050B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810250"/>
            <a:ext cx="421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defPPr>
            <a:lvl1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1pPr>
            <a:lvl2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2pPr>
            <a:lvl3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3pPr>
            <a:lvl4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4pPr>
            <a:lvl5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5pPr>
            <a:lvl6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6pPr>
            <a:lvl7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7pPr>
            <a:lvl8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8pPr>
            <a:lvl9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F5F2E8"/>
                </a:solidFill>
                <a:latin typeface="Avenir Next"/>
                <a:ea typeface="Avenir Next"/>
                <a:cs typeface="Avenir Next"/>
              </a:rPr>
              <a:t>Tejaswini Kunkulagunta  ·  CS23B032</a:t>
            </a:r>
          </a:p>
        </p:txBody>
      </p:sp>
    </p:spTree>
    <p:extLst>
      <p:ext uri="{BB962C8B-B14F-4D97-AF65-F5344CB8AC3E}">
        <p14:creationId xmlns:p14="http://schemas.microsoft.com/office/powerpoint/2010/main" val="16257630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2026-10-25T08:18:05.5660000Z</dcterms:created>
  <dcterms:modified xsi:type="dcterms:W3CDTF">2026-10-25T08:18:05.5660000Z</dcterms:modified>
</coreProperties>
</file>